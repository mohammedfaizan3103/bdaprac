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8" r:id="rId6"/>
    <p:sldId id="269" r:id="rId7"/>
    <p:sldId id="270" r:id="rId8"/>
    <p:sldId id="260" r:id="rId9"/>
    <p:sldId id="281" r:id="rId10"/>
    <p:sldId id="261" r:id="rId11"/>
    <p:sldId id="262" r:id="rId12"/>
    <p:sldId id="263" r:id="rId13"/>
    <p:sldId id="264" r:id="rId14"/>
    <p:sldId id="265" r:id="rId15"/>
    <p:sldId id="272" r:id="rId16"/>
    <p:sldId id="273" r:id="rId17"/>
    <p:sldId id="274" r:id="rId18"/>
    <p:sldId id="275" r:id="rId19"/>
    <p:sldId id="276" r:id="rId20"/>
    <p:sldId id="277" r:id="rId21"/>
    <p:sldId id="279" r:id="rId22"/>
    <p:sldId id="278" r:id="rId23"/>
    <p:sldId id="280" r:id="rId24"/>
    <p:sldId id="266" r:id="rId25"/>
    <p:sldId id="267" r:id="rId26"/>
    <p:sldId id="282" r:id="rId27"/>
    <p:sldId id="283" r:id="rId28"/>
    <p:sldId id="286" r:id="rId29"/>
    <p:sldId id="284" r:id="rId30"/>
    <p:sldId id="285" r:id="rId31"/>
    <p:sldId id="293" r:id="rId32"/>
    <p:sldId id="294" r:id="rId33"/>
    <p:sldId id="295" r:id="rId34"/>
    <p:sldId id="296" r:id="rId35"/>
    <p:sldId id="297" r:id="rId36"/>
    <p:sldId id="298" r:id="rId37"/>
    <p:sldId id="299" r:id="rId38"/>
    <p:sldId id="300" r:id="rId39"/>
    <p:sldId id="301" r:id="rId40"/>
    <p:sldId id="302" r:id="rId41"/>
    <p:sldId id="303" r:id="rId42"/>
    <p:sldId id="304" r:id="rId43"/>
    <p:sldId id="305" r:id="rId44"/>
    <p:sldId id="307" r:id="rId45"/>
    <p:sldId id="306" r:id="rId46"/>
    <p:sldId id="287" r:id="rId47"/>
    <p:sldId id="288" r:id="rId48"/>
    <p:sldId id="289" r:id="rId49"/>
    <p:sldId id="290" r:id="rId50"/>
    <p:sldId id="291" r:id="rId51"/>
    <p:sldId id="292"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2" d="100"/>
          <a:sy n="92" d="100"/>
        </p:scale>
        <p:origin x="498"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037245C-E10E-4858-BF10-E337D04291C9}" type="datetimeFigureOut">
              <a:rPr lang="en-US" smtClean="0"/>
              <a:t>4/19/2024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C77BDE-88DF-43D3-82E2-B724A1F51550}" type="slidenum">
              <a:rPr lang="en-US" smtClean="0"/>
              <a:t>‹#›</a:t>
            </a:fld>
            <a:endParaRPr lang="en-US"/>
          </a:p>
        </p:txBody>
      </p:sp>
    </p:spTree>
    <p:extLst>
      <p:ext uri="{BB962C8B-B14F-4D97-AF65-F5344CB8AC3E}">
        <p14:creationId xmlns:p14="http://schemas.microsoft.com/office/powerpoint/2010/main" val="33372384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037245C-E10E-4858-BF10-E337D04291C9}" type="datetimeFigureOut">
              <a:rPr lang="en-US" smtClean="0"/>
              <a:t>4/19/2024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C77BDE-88DF-43D3-82E2-B724A1F51550}" type="slidenum">
              <a:rPr lang="en-US" smtClean="0"/>
              <a:t>‹#›</a:t>
            </a:fld>
            <a:endParaRPr lang="en-US"/>
          </a:p>
        </p:txBody>
      </p:sp>
    </p:spTree>
    <p:extLst>
      <p:ext uri="{BB962C8B-B14F-4D97-AF65-F5344CB8AC3E}">
        <p14:creationId xmlns:p14="http://schemas.microsoft.com/office/powerpoint/2010/main" val="3718592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037245C-E10E-4858-BF10-E337D04291C9}" type="datetimeFigureOut">
              <a:rPr lang="en-US" smtClean="0"/>
              <a:t>4/19/2024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C77BDE-88DF-43D3-82E2-B724A1F51550}" type="slidenum">
              <a:rPr lang="en-US" smtClean="0"/>
              <a:t>‹#›</a:t>
            </a:fld>
            <a:endParaRPr lang="en-US"/>
          </a:p>
        </p:txBody>
      </p:sp>
    </p:spTree>
    <p:extLst>
      <p:ext uri="{BB962C8B-B14F-4D97-AF65-F5344CB8AC3E}">
        <p14:creationId xmlns:p14="http://schemas.microsoft.com/office/powerpoint/2010/main" val="32510402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037245C-E10E-4858-BF10-E337D04291C9}" type="datetimeFigureOut">
              <a:rPr lang="en-US" smtClean="0"/>
              <a:t>4/19/2024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C77BDE-88DF-43D3-82E2-B724A1F51550}" type="slidenum">
              <a:rPr lang="en-US" smtClean="0"/>
              <a:t>‹#›</a:t>
            </a:fld>
            <a:endParaRPr lang="en-US"/>
          </a:p>
        </p:txBody>
      </p:sp>
    </p:spTree>
    <p:extLst>
      <p:ext uri="{BB962C8B-B14F-4D97-AF65-F5344CB8AC3E}">
        <p14:creationId xmlns:p14="http://schemas.microsoft.com/office/powerpoint/2010/main" val="27835819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037245C-E10E-4858-BF10-E337D04291C9}" type="datetimeFigureOut">
              <a:rPr lang="en-US" smtClean="0"/>
              <a:t>4/19/2024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1C77BDE-88DF-43D3-82E2-B724A1F51550}" type="slidenum">
              <a:rPr lang="en-US" smtClean="0"/>
              <a:t>‹#›</a:t>
            </a:fld>
            <a:endParaRPr lang="en-US"/>
          </a:p>
        </p:txBody>
      </p:sp>
    </p:spTree>
    <p:extLst>
      <p:ext uri="{BB962C8B-B14F-4D97-AF65-F5344CB8AC3E}">
        <p14:creationId xmlns:p14="http://schemas.microsoft.com/office/powerpoint/2010/main" val="15349182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037245C-E10E-4858-BF10-E337D04291C9}" type="datetimeFigureOut">
              <a:rPr lang="en-US" smtClean="0"/>
              <a:t>4/19/2024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1C77BDE-88DF-43D3-82E2-B724A1F51550}" type="slidenum">
              <a:rPr lang="en-US" smtClean="0"/>
              <a:t>‹#›</a:t>
            </a:fld>
            <a:endParaRPr lang="en-US"/>
          </a:p>
        </p:txBody>
      </p:sp>
    </p:spTree>
    <p:extLst>
      <p:ext uri="{BB962C8B-B14F-4D97-AF65-F5344CB8AC3E}">
        <p14:creationId xmlns:p14="http://schemas.microsoft.com/office/powerpoint/2010/main" val="38568933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37245C-E10E-4858-BF10-E337D04291C9}" type="datetimeFigureOut">
              <a:rPr lang="en-US" smtClean="0"/>
              <a:t>4/19/2024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1C77BDE-88DF-43D3-82E2-B724A1F51550}" type="slidenum">
              <a:rPr lang="en-US" smtClean="0"/>
              <a:t>‹#›</a:t>
            </a:fld>
            <a:endParaRPr lang="en-US"/>
          </a:p>
        </p:txBody>
      </p:sp>
    </p:spTree>
    <p:extLst>
      <p:ext uri="{BB962C8B-B14F-4D97-AF65-F5344CB8AC3E}">
        <p14:creationId xmlns:p14="http://schemas.microsoft.com/office/powerpoint/2010/main" val="421288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037245C-E10E-4858-BF10-E337D04291C9}" type="datetimeFigureOut">
              <a:rPr lang="en-US" smtClean="0"/>
              <a:t>4/19/2024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C77BDE-88DF-43D3-82E2-B724A1F51550}" type="slidenum">
              <a:rPr lang="en-US" smtClean="0"/>
              <a:t>‹#›</a:t>
            </a:fld>
            <a:endParaRPr lang="en-US"/>
          </a:p>
        </p:txBody>
      </p:sp>
    </p:spTree>
    <p:extLst>
      <p:ext uri="{BB962C8B-B14F-4D97-AF65-F5344CB8AC3E}">
        <p14:creationId xmlns:p14="http://schemas.microsoft.com/office/powerpoint/2010/main" val="38839312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037245C-E10E-4858-BF10-E337D04291C9}" type="datetimeFigureOut">
              <a:rPr lang="en-US" smtClean="0"/>
              <a:t>4/19/2024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C77BDE-88DF-43D3-82E2-B724A1F51550}" type="slidenum">
              <a:rPr lang="en-US" smtClean="0"/>
              <a:t>‹#›</a:t>
            </a:fld>
            <a:endParaRPr lang="en-US"/>
          </a:p>
        </p:txBody>
      </p:sp>
    </p:spTree>
    <p:extLst>
      <p:ext uri="{BB962C8B-B14F-4D97-AF65-F5344CB8AC3E}">
        <p14:creationId xmlns:p14="http://schemas.microsoft.com/office/powerpoint/2010/main" val="3503988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037245C-E10E-4858-BF10-E337D04291C9}" type="datetimeFigureOut">
              <a:rPr lang="en-US" smtClean="0"/>
              <a:t>4/19/2024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C77BDE-88DF-43D3-82E2-B724A1F51550}" type="slidenum">
              <a:rPr lang="en-US" smtClean="0"/>
              <a:t>‹#›</a:t>
            </a:fld>
            <a:endParaRPr lang="en-US"/>
          </a:p>
        </p:txBody>
      </p:sp>
    </p:spTree>
    <p:extLst>
      <p:ext uri="{BB962C8B-B14F-4D97-AF65-F5344CB8AC3E}">
        <p14:creationId xmlns:p14="http://schemas.microsoft.com/office/powerpoint/2010/main" val="8160066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037245C-E10E-4858-BF10-E337D04291C9}" type="datetimeFigureOut">
              <a:rPr lang="en-US" smtClean="0"/>
              <a:t>4/19/2024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C77BDE-88DF-43D3-82E2-B724A1F51550}" type="slidenum">
              <a:rPr lang="en-US" smtClean="0"/>
              <a:t>‹#›</a:t>
            </a:fld>
            <a:endParaRPr lang="en-US"/>
          </a:p>
        </p:txBody>
      </p:sp>
    </p:spTree>
    <p:extLst>
      <p:ext uri="{BB962C8B-B14F-4D97-AF65-F5344CB8AC3E}">
        <p14:creationId xmlns:p14="http://schemas.microsoft.com/office/powerpoint/2010/main" val="11993803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37245C-E10E-4858-BF10-E337D04291C9}" type="datetimeFigureOut">
              <a:rPr lang="en-US" smtClean="0"/>
              <a:t>4/19/2024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C77BDE-88DF-43D3-82E2-B724A1F51550}" type="slidenum">
              <a:rPr lang="en-US" smtClean="0"/>
              <a:t>‹#›</a:t>
            </a:fld>
            <a:endParaRPr lang="en-US"/>
          </a:p>
        </p:txBody>
      </p:sp>
    </p:spTree>
    <p:extLst>
      <p:ext uri="{BB962C8B-B14F-4D97-AF65-F5344CB8AC3E}">
        <p14:creationId xmlns:p14="http://schemas.microsoft.com/office/powerpoint/2010/main" val="16518525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Spark’s Toolset</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32284890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65909" y="126135"/>
            <a:ext cx="10515600" cy="611620"/>
          </a:xfrm>
        </p:spPr>
        <p:txBody>
          <a:bodyPr>
            <a:normAutofit/>
          </a:bodyPr>
          <a:lstStyle/>
          <a:p>
            <a:r>
              <a:rPr lang="en-US" sz="3600" b="1" dirty="0">
                <a:solidFill>
                  <a:srgbClr val="FF0000"/>
                </a:solidFill>
              </a:rPr>
              <a:t>Spark’s </a:t>
            </a:r>
            <a:r>
              <a:rPr lang="en-US" sz="3600" b="1" dirty="0" smtClean="0">
                <a:solidFill>
                  <a:srgbClr val="FF0000"/>
                </a:solidFill>
              </a:rPr>
              <a:t>Toolset Introduction</a:t>
            </a:r>
            <a:endParaRPr lang="en-US" sz="3600" b="1" dirty="0">
              <a:solidFill>
                <a:srgbClr val="FF0000"/>
              </a:solidFill>
            </a:endParaRPr>
          </a:p>
        </p:txBody>
      </p:sp>
      <p:sp>
        <p:nvSpPr>
          <p:cNvPr id="5" name="Content Placeholder 4"/>
          <p:cNvSpPr>
            <a:spLocks noGrp="1"/>
          </p:cNvSpPr>
          <p:nvPr>
            <p:ph idx="1"/>
          </p:nvPr>
        </p:nvSpPr>
        <p:spPr>
          <a:xfrm>
            <a:off x="865909" y="644237"/>
            <a:ext cx="10515600" cy="5117090"/>
          </a:xfrm>
        </p:spPr>
        <p:txBody>
          <a:bodyPr>
            <a:normAutofit/>
          </a:bodyPr>
          <a:lstStyle/>
          <a:p>
            <a:pPr algn="just"/>
            <a:r>
              <a:rPr lang="en-US" sz="2000" dirty="0" smtClean="0"/>
              <a:t>we introduced Spark’s core concepts, like transformations and actions, in the context of Spark’s Structured APIs. These simple conceptual building blocks are the foundation of Apache Spark’s vast ecosystem of tools and libraries (Figure 3-1). Spark is composed of these primitives—the lower-level APIs and the Structured APIs—and then a series of standard libraries for additional functionality.</a:t>
            </a:r>
          </a:p>
          <a:p>
            <a:pPr algn="just"/>
            <a:endParaRPr lang="en-US" sz="1600" dirty="0"/>
          </a:p>
        </p:txBody>
      </p:sp>
      <p:pic>
        <p:nvPicPr>
          <p:cNvPr id="6" name="Picture 5"/>
          <p:cNvPicPr>
            <a:picLocks noChangeAspect="1"/>
          </p:cNvPicPr>
          <p:nvPr/>
        </p:nvPicPr>
        <p:blipFill>
          <a:blip r:embed="rId2"/>
          <a:stretch>
            <a:fillRect/>
          </a:stretch>
        </p:blipFill>
        <p:spPr>
          <a:xfrm>
            <a:off x="1943100" y="2202872"/>
            <a:ext cx="6795655" cy="4564929"/>
          </a:xfrm>
          <a:prstGeom prst="rect">
            <a:avLst/>
          </a:prstGeom>
        </p:spPr>
      </p:pic>
    </p:spTree>
    <p:extLst>
      <p:ext uri="{BB962C8B-B14F-4D97-AF65-F5344CB8AC3E}">
        <p14:creationId xmlns:p14="http://schemas.microsoft.com/office/powerpoint/2010/main" val="6331406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7036"/>
            <a:ext cx="10515600" cy="5989927"/>
          </a:xfrm>
        </p:spPr>
        <p:txBody>
          <a:bodyPr>
            <a:normAutofit fontScale="92500" lnSpcReduction="10000"/>
          </a:bodyPr>
          <a:lstStyle/>
          <a:p>
            <a:r>
              <a:rPr lang="en-US" dirty="0" smtClean="0"/>
              <a:t>Spark’s libraries support a variety of different tasks, from graph analysis and machine learning to streaming and integrations with a host of computing and storage systems. </a:t>
            </a:r>
          </a:p>
          <a:p>
            <a:r>
              <a:rPr lang="en-US" dirty="0" smtClean="0"/>
              <a:t>This chapter presents a whirlwind tour of much of what Spark has to offer, including some of the APIs we have not yet covered and a few of the main libraries. </a:t>
            </a:r>
          </a:p>
          <a:p>
            <a:r>
              <a:rPr lang="en-US" dirty="0" smtClean="0"/>
              <a:t>For each section, you will find more detailed information in other parts of this book(Spark Definitive Guide); </a:t>
            </a:r>
            <a:r>
              <a:rPr lang="en-US" dirty="0" smtClean="0">
                <a:solidFill>
                  <a:srgbClr val="FF0000"/>
                </a:solidFill>
              </a:rPr>
              <a:t>our purpose here is provide you with an overview of what’s possible.</a:t>
            </a:r>
          </a:p>
          <a:p>
            <a:pPr marL="0" indent="0">
              <a:buNone/>
            </a:pPr>
            <a:r>
              <a:rPr lang="en-US" dirty="0" smtClean="0">
                <a:solidFill>
                  <a:srgbClr val="FF0000"/>
                </a:solidFill>
              </a:rPr>
              <a:t>This chapter covers the following:</a:t>
            </a:r>
          </a:p>
          <a:p>
            <a:pPr lvl="1"/>
            <a:r>
              <a:rPr lang="en-US" dirty="0" smtClean="0"/>
              <a:t>Running production applications with spark-submit</a:t>
            </a:r>
          </a:p>
          <a:p>
            <a:pPr lvl="1"/>
            <a:r>
              <a:rPr lang="en-US" dirty="0" smtClean="0"/>
              <a:t>Datasets: type-safe APIs for structured data</a:t>
            </a:r>
          </a:p>
          <a:p>
            <a:pPr lvl="1"/>
            <a:r>
              <a:rPr lang="en-US" dirty="0" smtClean="0"/>
              <a:t>Structured Streaming</a:t>
            </a:r>
          </a:p>
          <a:p>
            <a:pPr lvl="1"/>
            <a:r>
              <a:rPr lang="en-US" dirty="0" smtClean="0"/>
              <a:t>Machine learning and advanced analytics</a:t>
            </a:r>
          </a:p>
          <a:p>
            <a:pPr lvl="1"/>
            <a:r>
              <a:rPr lang="en-US" dirty="0" smtClean="0"/>
              <a:t>Resilient Distributed Datasets (RDD): Spark’s low level APIs</a:t>
            </a:r>
          </a:p>
          <a:p>
            <a:pPr lvl="1"/>
            <a:r>
              <a:rPr lang="en-US" dirty="0" err="1" smtClean="0"/>
              <a:t>SparkR</a:t>
            </a:r>
            <a:endParaRPr lang="en-US" dirty="0" smtClean="0"/>
          </a:p>
          <a:p>
            <a:pPr lvl="1"/>
            <a:r>
              <a:rPr lang="en-US" dirty="0" smtClean="0"/>
              <a:t>The third-party package ecosystem</a:t>
            </a:r>
            <a:endParaRPr lang="en-US" dirty="0"/>
          </a:p>
        </p:txBody>
      </p:sp>
    </p:spTree>
    <p:extLst>
      <p:ext uri="{BB962C8B-B14F-4D97-AF65-F5344CB8AC3E}">
        <p14:creationId xmlns:p14="http://schemas.microsoft.com/office/powerpoint/2010/main" val="33418076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97320"/>
          </a:xfrm>
        </p:spPr>
        <p:txBody>
          <a:bodyPr>
            <a:normAutofit fontScale="90000"/>
          </a:bodyPr>
          <a:lstStyle/>
          <a:p>
            <a:r>
              <a:rPr lang="en-US" b="1" dirty="0" smtClean="0">
                <a:solidFill>
                  <a:srgbClr val="C00000"/>
                </a:solidFill>
              </a:rPr>
              <a:t>Running Production Applications</a:t>
            </a:r>
            <a:endParaRPr lang="en-US" b="1" dirty="0">
              <a:solidFill>
                <a:srgbClr val="C00000"/>
              </a:solidFill>
            </a:endParaRPr>
          </a:p>
        </p:txBody>
      </p:sp>
      <p:sp>
        <p:nvSpPr>
          <p:cNvPr id="3" name="Content Placeholder 2"/>
          <p:cNvSpPr>
            <a:spLocks noGrp="1"/>
          </p:cNvSpPr>
          <p:nvPr>
            <p:ph idx="1"/>
          </p:nvPr>
        </p:nvSpPr>
        <p:spPr>
          <a:xfrm>
            <a:off x="838200" y="1080655"/>
            <a:ext cx="10515600" cy="5096308"/>
          </a:xfrm>
        </p:spPr>
        <p:txBody>
          <a:bodyPr>
            <a:normAutofit fontScale="92500" lnSpcReduction="10000"/>
          </a:bodyPr>
          <a:lstStyle/>
          <a:p>
            <a:r>
              <a:rPr lang="en-US" dirty="0" smtClean="0"/>
              <a:t>Spark makes it easy to develop and create big data programs. Spark also makes it easy to turn your interactive exploration into production applications with </a:t>
            </a:r>
            <a:r>
              <a:rPr lang="en-US" b="1" dirty="0" smtClean="0">
                <a:solidFill>
                  <a:srgbClr val="C00000"/>
                </a:solidFill>
              </a:rPr>
              <a:t>spark-submit,</a:t>
            </a:r>
            <a:r>
              <a:rPr lang="en-US" dirty="0" smtClean="0"/>
              <a:t> </a:t>
            </a:r>
            <a:r>
              <a:rPr lang="en-US" b="1" dirty="0" smtClean="0">
                <a:solidFill>
                  <a:srgbClr val="0070C0"/>
                </a:solidFill>
              </a:rPr>
              <a:t>a built-in command-line tool</a:t>
            </a:r>
            <a:r>
              <a:rPr lang="en-US" dirty="0" smtClean="0"/>
              <a:t>. </a:t>
            </a:r>
          </a:p>
          <a:p>
            <a:r>
              <a:rPr lang="en-US" dirty="0" smtClean="0">
                <a:solidFill>
                  <a:srgbClr val="C00000"/>
                </a:solidFill>
              </a:rPr>
              <a:t>The spark-submit </a:t>
            </a:r>
            <a:r>
              <a:rPr lang="en-US" dirty="0" smtClean="0"/>
              <a:t>command is a powerful utility tool to run or submit a Spark or </a:t>
            </a:r>
            <a:r>
              <a:rPr lang="en-US" dirty="0" err="1" smtClean="0"/>
              <a:t>PySpark</a:t>
            </a:r>
            <a:r>
              <a:rPr lang="en-US" dirty="0" smtClean="0"/>
              <a:t> application program (or job) locally or in a cluster by specifying options and configurations; </a:t>
            </a:r>
          </a:p>
          <a:p>
            <a:r>
              <a:rPr lang="en-US" dirty="0"/>
              <a:t>T</a:t>
            </a:r>
            <a:r>
              <a:rPr lang="en-US" dirty="0" smtClean="0"/>
              <a:t>he application you are submitting can be written in Scala, Java, or Python (</a:t>
            </a:r>
            <a:r>
              <a:rPr lang="en-US" dirty="0" err="1" smtClean="0"/>
              <a:t>PySpark</a:t>
            </a:r>
            <a:r>
              <a:rPr lang="en-US" dirty="0" smtClean="0"/>
              <a:t>)</a:t>
            </a:r>
          </a:p>
          <a:p>
            <a:r>
              <a:rPr lang="en-US" b="1" dirty="0" smtClean="0">
                <a:solidFill>
                  <a:srgbClr val="C00000"/>
                </a:solidFill>
              </a:rPr>
              <a:t>spark-submit</a:t>
            </a:r>
            <a:r>
              <a:rPr lang="en-US" dirty="0" smtClean="0"/>
              <a:t> does one thing: it lets you send your application code to a cluster and launch it to execute there. Upon submission, the application will run until it exits (completes the task) or encounters an error.</a:t>
            </a:r>
          </a:p>
          <a:p>
            <a:r>
              <a:rPr lang="en-US" dirty="0" smtClean="0"/>
              <a:t> You can do this with all of Spark’s support cluster managers including Standalone, </a:t>
            </a:r>
            <a:r>
              <a:rPr lang="en-US" dirty="0" err="1" smtClean="0"/>
              <a:t>Mesos</a:t>
            </a:r>
            <a:r>
              <a:rPr lang="en-US" dirty="0" smtClean="0"/>
              <a:t>, and YARN. </a:t>
            </a:r>
          </a:p>
        </p:txBody>
      </p:sp>
    </p:spTree>
    <p:extLst>
      <p:ext uri="{BB962C8B-B14F-4D97-AF65-F5344CB8AC3E}">
        <p14:creationId xmlns:p14="http://schemas.microsoft.com/office/powerpoint/2010/main" val="2715651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88373"/>
            <a:ext cx="10515600" cy="5688590"/>
          </a:xfrm>
        </p:spPr>
        <p:txBody>
          <a:bodyPr>
            <a:normAutofit/>
          </a:bodyPr>
          <a:lstStyle/>
          <a:p>
            <a:r>
              <a:rPr lang="en-US" dirty="0" smtClean="0"/>
              <a:t>In this class, I will explain the spark-submit syntax, different command options, advanced configurations, and how to use </a:t>
            </a:r>
            <a:r>
              <a:rPr lang="en-US" smtClean="0"/>
              <a:t>an user </a:t>
            </a:r>
            <a:r>
              <a:rPr lang="en-US" dirty="0" smtClean="0"/>
              <a:t>jar or zip file for Scala and Java, use Python .</a:t>
            </a:r>
            <a:r>
              <a:rPr lang="en-US" dirty="0" err="1" smtClean="0"/>
              <a:t>py</a:t>
            </a:r>
            <a:r>
              <a:rPr lang="en-US" dirty="0" smtClean="0"/>
              <a:t> file, and finally, submit the application on Yarn, </a:t>
            </a:r>
            <a:r>
              <a:rPr lang="en-US" dirty="0" err="1" smtClean="0"/>
              <a:t>Mesos</a:t>
            </a:r>
            <a:r>
              <a:rPr lang="en-US" dirty="0" smtClean="0"/>
              <a:t>, Kubernetes, and standalone cluster managers. I will cover everything you need to know to run your applications successfully using the spark-submit command.</a:t>
            </a:r>
          </a:p>
          <a:p>
            <a:endParaRPr lang="en-US" dirty="0" smtClean="0"/>
          </a:p>
          <a:p>
            <a:pPr marL="0" indent="0">
              <a:buNone/>
            </a:pPr>
            <a:r>
              <a:rPr lang="en-US" dirty="0" smtClean="0"/>
              <a:t>At a high level, you need to know that the spark-submit command supports the following.</a:t>
            </a:r>
          </a:p>
          <a:p>
            <a:pPr lvl="1"/>
            <a:r>
              <a:rPr lang="en-US" sz="2800" dirty="0" smtClean="0"/>
              <a:t>1. Submitting Spark applications on different cluster managers like Yarn, Kubernetes, </a:t>
            </a:r>
            <a:r>
              <a:rPr lang="en-US" sz="2800" dirty="0" err="1" smtClean="0"/>
              <a:t>Mesos</a:t>
            </a:r>
            <a:r>
              <a:rPr lang="en-US" sz="2800" dirty="0" smtClean="0"/>
              <a:t>, and Stand-alone.</a:t>
            </a:r>
          </a:p>
          <a:p>
            <a:pPr lvl="1"/>
            <a:r>
              <a:rPr lang="en-US" sz="2800" dirty="0" smtClean="0"/>
              <a:t>2. Submitting Spark application on client or cluster deployment modes.</a:t>
            </a:r>
            <a:endParaRPr lang="en-US" sz="2800" dirty="0"/>
          </a:p>
        </p:txBody>
      </p:sp>
    </p:spTree>
    <p:extLst>
      <p:ext uri="{BB962C8B-B14F-4D97-AF65-F5344CB8AC3E}">
        <p14:creationId xmlns:p14="http://schemas.microsoft.com/office/powerpoint/2010/main" val="2772378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9263"/>
            <a:ext cx="10515600" cy="466148"/>
          </a:xfrm>
        </p:spPr>
        <p:txBody>
          <a:bodyPr>
            <a:normAutofit fontScale="90000"/>
          </a:bodyPr>
          <a:lstStyle/>
          <a:p>
            <a:r>
              <a:rPr lang="en-US" b="1" dirty="0" smtClean="0">
                <a:solidFill>
                  <a:srgbClr val="C00000"/>
                </a:solidFill>
              </a:rPr>
              <a:t/>
            </a:r>
            <a:br>
              <a:rPr lang="en-US" b="1" dirty="0" smtClean="0">
                <a:solidFill>
                  <a:srgbClr val="C00000"/>
                </a:solidFill>
              </a:rPr>
            </a:br>
            <a:r>
              <a:rPr lang="en-US" b="1" dirty="0" smtClean="0">
                <a:solidFill>
                  <a:srgbClr val="C00000"/>
                </a:solidFill>
              </a:rPr>
              <a:t>1. Spark Submit Command</a:t>
            </a:r>
            <a:r>
              <a:rPr lang="en-US" dirty="0" smtClean="0"/>
              <a:t/>
            </a:r>
            <a:br>
              <a:rPr lang="en-US" dirty="0" smtClean="0"/>
            </a:br>
            <a:endParaRPr lang="en-US" dirty="0"/>
          </a:p>
        </p:txBody>
      </p:sp>
      <p:sp>
        <p:nvSpPr>
          <p:cNvPr id="3" name="Content Placeholder 2"/>
          <p:cNvSpPr>
            <a:spLocks noGrp="1"/>
          </p:cNvSpPr>
          <p:nvPr>
            <p:ph idx="1"/>
          </p:nvPr>
        </p:nvSpPr>
        <p:spPr>
          <a:xfrm>
            <a:off x="838200" y="862445"/>
            <a:ext cx="10515600" cy="5314518"/>
          </a:xfrm>
        </p:spPr>
        <p:txBody>
          <a:bodyPr>
            <a:normAutofit/>
          </a:bodyPr>
          <a:lstStyle/>
          <a:p>
            <a:r>
              <a:rPr lang="en-US" dirty="0" smtClean="0"/>
              <a:t>Spark binary comes with </a:t>
            </a:r>
            <a:r>
              <a:rPr lang="en-US" dirty="0" smtClean="0">
                <a:solidFill>
                  <a:srgbClr val="0070C0"/>
                </a:solidFill>
              </a:rPr>
              <a:t>spark-submit.sh</a:t>
            </a:r>
            <a:r>
              <a:rPr lang="en-US" dirty="0" smtClean="0"/>
              <a:t> script file </a:t>
            </a:r>
            <a:r>
              <a:rPr lang="en-US" dirty="0" smtClean="0">
                <a:solidFill>
                  <a:srgbClr val="0070C0"/>
                </a:solidFill>
              </a:rPr>
              <a:t>for Linux, Mac, </a:t>
            </a:r>
            <a:r>
              <a:rPr lang="en-US" dirty="0" smtClean="0"/>
              <a:t>and </a:t>
            </a:r>
            <a:r>
              <a:rPr lang="en-US" dirty="0" smtClean="0">
                <a:solidFill>
                  <a:srgbClr val="FF0000"/>
                </a:solidFill>
              </a:rPr>
              <a:t>spark-submit.cmd</a:t>
            </a:r>
            <a:r>
              <a:rPr lang="en-US" dirty="0" smtClean="0"/>
              <a:t> command file </a:t>
            </a:r>
            <a:r>
              <a:rPr lang="en-US" dirty="0" smtClean="0">
                <a:solidFill>
                  <a:srgbClr val="FF0000"/>
                </a:solidFill>
              </a:rPr>
              <a:t>for windows</a:t>
            </a:r>
            <a:r>
              <a:rPr lang="en-US" dirty="0" smtClean="0"/>
              <a:t>, these scripts are available at </a:t>
            </a:r>
            <a:r>
              <a:rPr lang="en-US" b="1" dirty="0" smtClean="0">
                <a:solidFill>
                  <a:srgbClr val="002060"/>
                </a:solidFill>
              </a:rPr>
              <a:t>$SPARK_HOME/bin </a:t>
            </a:r>
            <a:r>
              <a:rPr lang="en-US" dirty="0" smtClean="0"/>
              <a:t>directory.</a:t>
            </a:r>
          </a:p>
          <a:p>
            <a:r>
              <a:rPr lang="en-US" dirty="0" smtClean="0"/>
              <a:t>If you are using </a:t>
            </a:r>
            <a:r>
              <a:rPr lang="en-US" dirty="0" smtClean="0">
                <a:solidFill>
                  <a:srgbClr val="002060"/>
                </a:solidFill>
              </a:rPr>
              <a:t>Cloudera distribution</a:t>
            </a:r>
            <a:r>
              <a:rPr lang="en-US" dirty="0" smtClean="0"/>
              <a:t>, you may also find </a:t>
            </a:r>
            <a:r>
              <a:rPr lang="en-US" dirty="0" smtClean="0">
                <a:solidFill>
                  <a:srgbClr val="002060"/>
                </a:solidFill>
              </a:rPr>
              <a:t>spark2-submit.sh</a:t>
            </a:r>
            <a:r>
              <a:rPr lang="en-US" dirty="0" smtClean="0"/>
              <a:t> which is used to run Spark 2.x applications. By adding this Cloudera supports both Spark 1.x and Spark 2.x applications to run in parallel.</a:t>
            </a:r>
          </a:p>
          <a:p>
            <a:r>
              <a:rPr lang="en-US" dirty="0" smtClean="0"/>
              <a:t>spark-submit command internally uses </a:t>
            </a:r>
            <a:r>
              <a:rPr lang="en-US" b="1" dirty="0" err="1" smtClean="0">
                <a:solidFill>
                  <a:srgbClr val="C00000"/>
                </a:solidFill>
              </a:rPr>
              <a:t>org.apache.spark.deploy.SparkSubmit</a:t>
            </a:r>
            <a:r>
              <a:rPr lang="en-US" b="1" dirty="0" smtClean="0">
                <a:solidFill>
                  <a:srgbClr val="C00000"/>
                </a:solidFill>
              </a:rPr>
              <a:t> </a:t>
            </a:r>
            <a:r>
              <a:rPr lang="en-US" dirty="0" smtClean="0"/>
              <a:t>class with the options and command line arguments you specify.</a:t>
            </a:r>
            <a:endParaRPr lang="en-US" dirty="0"/>
          </a:p>
        </p:txBody>
      </p:sp>
    </p:spTree>
    <p:extLst>
      <p:ext uri="{BB962C8B-B14F-4D97-AF65-F5344CB8AC3E}">
        <p14:creationId xmlns:p14="http://schemas.microsoft.com/office/powerpoint/2010/main" val="22198180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01336"/>
            <a:ext cx="10515600" cy="5875627"/>
          </a:xfrm>
        </p:spPr>
        <p:txBody>
          <a:bodyPr/>
          <a:lstStyle/>
          <a:p>
            <a:r>
              <a:rPr lang="en-US" dirty="0" smtClean="0"/>
              <a:t>Below is a spark-submit command with the most-used command options.</a:t>
            </a:r>
          </a:p>
          <a:p>
            <a:endParaRPr lang="en-US" dirty="0" smtClean="0"/>
          </a:p>
          <a:p>
            <a:endParaRPr lang="en-US" dirty="0"/>
          </a:p>
        </p:txBody>
      </p:sp>
      <p:pic>
        <p:nvPicPr>
          <p:cNvPr id="4" name="Picture 3"/>
          <p:cNvPicPr>
            <a:picLocks noChangeAspect="1"/>
          </p:cNvPicPr>
          <p:nvPr/>
        </p:nvPicPr>
        <p:blipFill>
          <a:blip r:embed="rId2"/>
          <a:stretch>
            <a:fillRect/>
          </a:stretch>
        </p:blipFill>
        <p:spPr>
          <a:xfrm>
            <a:off x="2375621" y="920218"/>
            <a:ext cx="4503161" cy="3117273"/>
          </a:xfrm>
          <a:prstGeom prst="rect">
            <a:avLst/>
          </a:prstGeom>
        </p:spPr>
      </p:pic>
      <p:sp>
        <p:nvSpPr>
          <p:cNvPr id="5" name="Rectangle 4"/>
          <p:cNvSpPr/>
          <p:nvPr/>
        </p:nvSpPr>
        <p:spPr>
          <a:xfrm>
            <a:off x="976744" y="4540464"/>
            <a:ext cx="7450281" cy="369332"/>
          </a:xfrm>
          <a:prstGeom prst="rect">
            <a:avLst/>
          </a:prstGeom>
        </p:spPr>
        <p:txBody>
          <a:bodyPr wrap="square">
            <a:spAutoFit/>
          </a:bodyPr>
          <a:lstStyle/>
          <a:p>
            <a:r>
              <a:rPr lang="en-US" b="0" i="0" dirty="0" smtClean="0">
                <a:solidFill>
                  <a:srgbClr val="000000"/>
                </a:solidFill>
                <a:effectLst/>
                <a:latin typeface="Times New Roman" panose="02020603050405020304" pitchFamily="18" charset="0"/>
              </a:rPr>
              <a:t>You can also submit the application like below without using the script.</a:t>
            </a:r>
            <a:endParaRPr lang="en-US" dirty="0"/>
          </a:p>
        </p:txBody>
      </p:sp>
      <p:sp>
        <p:nvSpPr>
          <p:cNvPr id="6" name="Rectangle 5"/>
          <p:cNvSpPr/>
          <p:nvPr/>
        </p:nvSpPr>
        <p:spPr>
          <a:xfrm>
            <a:off x="1527465" y="5064953"/>
            <a:ext cx="8312726" cy="369332"/>
          </a:xfrm>
          <a:prstGeom prst="rect">
            <a:avLst/>
          </a:prstGeom>
        </p:spPr>
        <p:txBody>
          <a:bodyPr wrap="square">
            <a:spAutoFit/>
          </a:bodyPr>
          <a:lstStyle/>
          <a:p>
            <a:r>
              <a:rPr lang="en-US" b="1" dirty="0" smtClean="0">
                <a:solidFill>
                  <a:srgbClr val="FF0000"/>
                </a:solidFill>
              </a:rPr>
              <a:t>./bin/spark-class </a:t>
            </a:r>
            <a:r>
              <a:rPr lang="en-US" b="1" dirty="0" err="1" smtClean="0">
                <a:solidFill>
                  <a:srgbClr val="FF0000"/>
                </a:solidFill>
              </a:rPr>
              <a:t>org.apache.spark.deploy.SparkSubmit</a:t>
            </a:r>
            <a:r>
              <a:rPr lang="en-US" b="1" dirty="0" smtClean="0">
                <a:solidFill>
                  <a:srgbClr val="FF0000"/>
                </a:solidFill>
              </a:rPr>
              <a:t> &lt;options &amp; arguments&gt;</a:t>
            </a:r>
            <a:endParaRPr lang="en-US" b="1" dirty="0">
              <a:solidFill>
                <a:srgbClr val="FF0000"/>
              </a:solidFill>
            </a:endParaRPr>
          </a:p>
        </p:txBody>
      </p:sp>
    </p:spTree>
    <p:extLst>
      <p:ext uri="{BB962C8B-B14F-4D97-AF65-F5344CB8AC3E}">
        <p14:creationId xmlns:p14="http://schemas.microsoft.com/office/powerpoint/2010/main" val="22399659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0515600" cy="4351338"/>
          </a:xfrm>
        </p:spPr>
        <p:txBody>
          <a:bodyPr/>
          <a:lstStyle/>
          <a:p>
            <a:r>
              <a:rPr lang="en-US" dirty="0" smtClean="0"/>
              <a:t>The simplest example is running an application on your local machine. We’ll show this by running </a:t>
            </a:r>
            <a:r>
              <a:rPr lang="en-US" dirty="0" smtClean="0">
                <a:solidFill>
                  <a:srgbClr val="C00000"/>
                </a:solidFill>
              </a:rPr>
              <a:t>a sample Scala application </a:t>
            </a:r>
            <a:r>
              <a:rPr lang="en-US" dirty="0" smtClean="0"/>
              <a:t>that comes with Spark, using the following command in the directory where you downloaded Spark:</a:t>
            </a:r>
          </a:p>
          <a:p>
            <a:endParaRPr lang="en-US" dirty="0"/>
          </a:p>
        </p:txBody>
      </p:sp>
      <p:pic>
        <p:nvPicPr>
          <p:cNvPr id="4" name="Picture 3"/>
          <p:cNvPicPr>
            <a:picLocks noChangeAspect="1"/>
          </p:cNvPicPr>
          <p:nvPr/>
        </p:nvPicPr>
        <p:blipFill>
          <a:blip r:embed="rId2"/>
          <a:stretch>
            <a:fillRect/>
          </a:stretch>
        </p:blipFill>
        <p:spPr>
          <a:xfrm>
            <a:off x="3377046" y="1198924"/>
            <a:ext cx="4021282" cy="1953489"/>
          </a:xfrm>
          <a:prstGeom prst="rect">
            <a:avLst/>
          </a:prstGeom>
        </p:spPr>
      </p:pic>
      <p:sp>
        <p:nvSpPr>
          <p:cNvPr id="5" name="Rectangle 4"/>
          <p:cNvSpPr/>
          <p:nvPr/>
        </p:nvSpPr>
        <p:spPr>
          <a:xfrm>
            <a:off x="329046" y="3125208"/>
            <a:ext cx="10851572" cy="923330"/>
          </a:xfrm>
          <a:prstGeom prst="rect">
            <a:avLst/>
          </a:prstGeom>
        </p:spPr>
        <p:txBody>
          <a:bodyPr wrap="square">
            <a:spAutoFit/>
          </a:bodyPr>
          <a:lstStyle/>
          <a:p>
            <a:r>
              <a:rPr lang="en-US" dirty="0" smtClean="0"/>
              <a:t>This sample application </a:t>
            </a:r>
            <a:r>
              <a:rPr lang="en-US" dirty="0" smtClean="0">
                <a:solidFill>
                  <a:srgbClr val="FF0000"/>
                </a:solidFill>
              </a:rPr>
              <a:t>calculates the digits of pi to a certain level of estimation</a:t>
            </a:r>
            <a:r>
              <a:rPr lang="en-US" dirty="0" smtClean="0"/>
              <a:t>. Here, we’ve told spark-submit that we want to run on our local machine, which class and which JAR we would like to run, and some command-line arguments for that class. </a:t>
            </a:r>
            <a:endParaRPr lang="en-US" dirty="0"/>
          </a:p>
        </p:txBody>
      </p:sp>
    </p:spTree>
    <p:extLst>
      <p:ext uri="{BB962C8B-B14F-4D97-AF65-F5344CB8AC3E}">
        <p14:creationId xmlns:p14="http://schemas.microsoft.com/office/powerpoint/2010/main" val="18423805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127" y="0"/>
            <a:ext cx="11270673" cy="6176963"/>
          </a:xfrm>
        </p:spPr>
        <p:txBody>
          <a:bodyPr/>
          <a:lstStyle/>
          <a:p>
            <a:r>
              <a:rPr lang="en-US" dirty="0" smtClean="0"/>
              <a:t>We can also run a </a:t>
            </a:r>
            <a:r>
              <a:rPr lang="en-US" b="1" dirty="0" smtClean="0">
                <a:solidFill>
                  <a:srgbClr val="FF0000"/>
                </a:solidFill>
              </a:rPr>
              <a:t>Python version </a:t>
            </a:r>
            <a:r>
              <a:rPr lang="en-US" dirty="0" smtClean="0"/>
              <a:t>of the application using the following command:</a:t>
            </a:r>
          </a:p>
          <a:p>
            <a:pPr marL="1371600" lvl="3" indent="0">
              <a:buNone/>
            </a:pPr>
            <a:r>
              <a:rPr lang="en-US" sz="2400" b="1" dirty="0" smtClean="0"/>
              <a:t>./bin/spark-submit \</a:t>
            </a:r>
          </a:p>
          <a:p>
            <a:pPr marL="1371600" lvl="3" indent="0">
              <a:buNone/>
            </a:pPr>
            <a:r>
              <a:rPr lang="en-US" sz="2400" b="1" dirty="0" smtClean="0"/>
              <a:t>--master local \</a:t>
            </a:r>
          </a:p>
          <a:p>
            <a:pPr marL="1371600" lvl="3" indent="0">
              <a:buNone/>
            </a:pPr>
            <a:r>
              <a:rPr lang="en-US" sz="2400" b="1" dirty="0" smtClean="0"/>
              <a:t>./examples/src/main/python/pi.py 10</a:t>
            </a:r>
          </a:p>
          <a:p>
            <a:pPr marL="1371600" lvl="3" indent="0">
              <a:buNone/>
            </a:pPr>
            <a:endParaRPr lang="en-US" sz="2400" b="1" dirty="0"/>
          </a:p>
          <a:p>
            <a:pPr marL="1371600" lvl="3" indent="0">
              <a:buNone/>
            </a:pPr>
            <a:endParaRPr lang="en-US" sz="2400" b="1" dirty="0" smtClean="0"/>
          </a:p>
          <a:p>
            <a:pPr marL="1371600" lvl="3" indent="0">
              <a:buNone/>
            </a:pPr>
            <a:r>
              <a:rPr lang="en-US" sz="2400" dirty="0" smtClean="0"/>
              <a:t>By changing the master argument of spark-submit, we can also submit the same application to a cluster running Spark’s standalone cluster manager, </a:t>
            </a:r>
            <a:r>
              <a:rPr lang="en-US" sz="2400" dirty="0" err="1" smtClean="0"/>
              <a:t>Mesos</a:t>
            </a:r>
            <a:r>
              <a:rPr lang="en-US" sz="2400" dirty="0" smtClean="0"/>
              <a:t> or YARN.</a:t>
            </a:r>
          </a:p>
          <a:p>
            <a:pPr marL="1371600" lvl="3" indent="0">
              <a:buNone/>
            </a:pPr>
            <a:endParaRPr lang="en-US" sz="2400" b="1" dirty="0"/>
          </a:p>
        </p:txBody>
      </p:sp>
    </p:spTree>
    <p:extLst>
      <p:ext uri="{BB962C8B-B14F-4D97-AF65-F5344CB8AC3E}">
        <p14:creationId xmlns:p14="http://schemas.microsoft.com/office/powerpoint/2010/main" val="11906851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3575"/>
          </a:xfrm>
        </p:spPr>
        <p:txBody>
          <a:bodyPr>
            <a:normAutofit fontScale="90000"/>
          </a:bodyPr>
          <a:lstStyle/>
          <a:p>
            <a:r>
              <a:rPr lang="en-US" b="1" dirty="0" smtClean="0">
                <a:solidFill>
                  <a:srgbClr val="C00000"/>
                </a:solidFill>
              </a:rPr>
              <a:t>2. Spark Submit Options</a:t>
            </a:r>
            <a:endParaRPr lang="en-US" b="1" dirty="0">
              <a:solidFill>
                <a:srgbClr val="C00000"/>
              </a:solidFill>
            </a:endParaRPr>
          </a:p>
        </p:txBody>
      </p:sp>
      <p:sp>
        <p:nvSpPr>
          <p:cNvPr id="3" name="Content Placeholder 2"/>
          <p:cNvSpPr>
            <a:spLocks noGrp="1"/>
          </p:cNvSpPr>
          <p:nvPr>
            <p:ph idx="1"/>
          </p:nvPr>
        </p:nvSpPr>
        <p:spPr>
          <a:xfrm>
            <a:off x="838200" y="1132609"/>
            <a:ext cx="10515600" cy="5434446"/>
          </a:xfrm>
        </p:spPr>
        <p:txBody>
          <a:bodyPr>
            <a:normAutofit fontScale="77500" lnSpcReduction="20000"/>
          </a:bodyPr>
          <a:lstStyle/>
          <a:p>
            <a:r>
              <a:rPr lang="en-US" dirty="0" smtClean="0"/>
              <a:t>Below I have explained some of the common options, configurations, and specific options to use with Scala and Python. You can also get all options available by running the below command.</a:t>
            </a:r>
          </a:p>
          <a:p>
            <a:pPr marL="0" indent="0">
              <a:buNone/>
            </a:pPr>
            <a:r>
              <a:rPr lang="en-US" dirty="0" smtClean="0">
                <a:solidFill>
                  <a:srgbClr val="C00000"/>
                </a:solidFill>
              </a:rPr>
              <a:t>                ./bin/spark-submit –help</a:t>
            </a:r>
          </a:p>
          <a:p>
            <a:pPr marL="0" indent="0">
              <a:buNone/>
            </a:pPr>
            <a:endParaRPr lang="en-US" dirty="0" smtClean="0">
              <a:solidFill>
                <a:srgbClr val="C00000"/>
              </a:solidFill>
            </a:endParaRPr>
          </a:p>
          <a:p>
            <a:pPr marL="0" indent="0">
              <a:buNone/>
            </a:pPr>
            <a:r>
              <a:rPr lang="en-US" b="1" dirty="0" smtClean="0"/>
              <a:t>2. 1 </a:t>
            </a:r>
            <a:r>
              <a:rPr lang="en-US" b="1" dirty="0" smtClean="0">
                <a:solidFill>
                  <a:srgbClr val="FF0000"/>
                </a:solidFill>
              </a:rPr>
              <a:t>Deployment Modes </a:t>
            </a:r>
            <a:r>
              <a:rPr lang="en-US" b="1" dirty="0" smtClean="0"/>
              <a:t>(–deploy-mode)</a:t>
            </a:r>
          </a:p>
          <a:p>
            <a:r>
              <a:rPr lang="en-US" dirty="0" smtClean="0"/>
              <a:t>Using --deploy-mode, you specify where to run the Spark application driver program. </a:t>
            </a:r>
            <a:r>
              <a:rPr lang="en-US" dirty="0" smtClean="0">
                <a:solidFill>
                  <a:srgbClr val="FF0000"/>
                </a:solidFill>
              </a:rPr>
              <a:t>Spark support cluster and client deployment modes</a:t>
            </a:r>
            <a:r>
              <a:rPr lang="en-US" dirty="0" smtClean="0"/>
              <a:t>.</a:t>
            </a:r>
          </a:p>
          <a:p>
            <a:endParaRPr lang="en-US" dirty="0" smtClean="0"/>
          </a:p>
          <a:p>
            <a:r>
              <a:rPr lang="en-US" b="1" dirty="0" smtClean="0"/>
              <a:t>VALUE</a:t>
            </a:r>
            <a:r>
              <a:rPr lang="en-US" dirty="0" smtClean="0"/>
              <a:t>	</a:t>
            </a:r>
            <a:r>
              <a:rPr lang="en-US" b="1" dirty="0" smtClean="0"/>
              <a:t>DESCRIPTION</a:t>
            </a:r>
          </a:p>
          <a:p>
            <a:r>
              <a:rPr lang="en-US" dirty="0" smtClean="0">
                <a:solidFill>
                  <a:srgbClr val="FF0000"/>
                </a:solidFill>
              </a:rPr>
              <a:t>cluster</a:t>
            </a:r>
            <a:r>
              <a:rPr lang="en-US" dirty="0" smtClean="0"/>
              <a:t>	In cluster mode, the driver runs on one of the worker nodes, and this node 		shows as a driver on the Spark Web UI of your application. cluster mode is 		used to run production jobs.</a:t>
            </a:r>
          </a:p>
          <a:p>
            <a:r>
              <a:rPr lang="en-US" dirty="0" smtClean="0">
                <a:solidFill>
                  <a:srgbClr val="FF0000"/>
                </a:solidFill>
              </a:rPr>
              <a:t>client</a:t>
            </a:r>
            <a:r>
              <a:rPr lang="en-US" dirty="0" smtClean="0"/>
              <a:t>	    	 In client mode, the driver runs locally where you are submitting your 			application from. client mode is majorly used for interactive and debugging 		purposes. Note that in client mode only the driver runs locally and all other 		executors run on different nodes on the cluster.</a:t>
            </a:r>
            <a:endParaRPr lang="en-US" dirty="0"/>
          </a:p>
        </p:txBody>
      </p:sp>
    </p:spTree>
    <p:extLst>
      <p:ext uri="{BB962C8B-B14F-4D97-AF65-F5344CB8AC3E}">
        <p14:creationId xmlns:p14="http://schemas.microsoft.com/office/powerpoint/2010/main" val="2895595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8872"/>
            <a:ext cx="10515600" cy="653184"/>
          </a:xfrm>
        </p:spPr>
        <p:txBody>
          <a:bodyPr>
            <a:normAutofit fontScale="90000"/>
          </a:bodyPr>
          <a:lstStyle/>
          <a:p>
            <a:r>
              <a:rPr lang="en-US" dirty="0" smtClean="0">
                <a:solidFill>
                  <a:srgbClr val="FF0000"/>
                </a:solidFill>
              </a:rPr>
              <a:t>2.2 Cluster Managers (</a:t>
            </a:r>
            <a:r>
              <a:rPr lang="en-US" b="1" dirty="0" smtClean="0"/>
              <a:t>--master</a:t>
            </a:r>
            <a:r>
              <a:rPr lang="en-US" dirty="0" smtClean="0">
                <a:solidFill>
                  <a:srgbClr val="FF0000"/>
                </a:solidFill>
              </a:rPr>
              <a:t>)</a:t>
            </a:r>
            <a:endParaRPr lang="en-US" dirty="0">
              <a:solidFill>
                <a:srgbClr val="FF0000"/>
              </a:solidFill>
            </a:endParaRPr>
          </a:p>
        </p:txBody>
      </p:sp>
      <p:pic>
        <p:nvPicPr>
          <p:cNvPr id="4" name="Content Placeholder 3"/>
          <p:cNvPicPr>
            <a:picLocks noGrp="1" noChangeAspect="1"/>
          </p:cNvPicPr>
          <p:nvPr>
            <p:ph idx="1"/>
          </p:nvPr>
        </p:nvPicPr>
        <p:blipFill>
          <a:blip r:embed="rId2"/>
          <a:stretch>
            <a:fillRect/>
          </a:stretch>
        </p:blipFill>
        <p:spPr>
          <a:xfrm>
            <a:off x="675409" y="1236805"/>
            <a:ext cx="10089573" cy="5361421"/>
          </a:xfrm>
          <a:prstGeom prst="rect">
            <a:avLst/>
          </a:prstGeom>
        </p:spPr>
      </p:pic>
    </p:spTree>
    <p:extLst>
      <p:ext uri="{BB962C8B-B14F-4D97-AF65-F5344CB8AC3E}">
        <p14:creationId xmlns:p14="http://schemas.microsoft.com/office/powerpoint/2010/main" val="35252495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4748"/>
          </a:xfrm>
        </p:spPr>
        <p:txBody>
          <a:bodyPr>
            <a:normAutofit fontScale="90000"/>
          </a:bodyPr>
          <a:lstStyle/>
          <a:p>
            <a:r>
              <a:rPr lang="en-US" b="1" dirty="0" smtClean="0">
                <a:solidFill>
                  <a:srgbClr val="FF0000"/>
                </a:solidFill>
              </a:rPr>
              <a:t>Example</a:t>
            </a:r>
            <a:endParaRPr lang="en-US" b="1" dirty="0">
              <a:solidFill>
                <a:srgbClr val="FF0000"/>
              </a:solidFill>
            </a:endParaRPr>
          </a:p>
        </p:txBody>
      </p:sp>
      <p:pic>
        <p:nvPicPr>
          <p:cNvPr id="4" name="Content Placeholder 3"/>
          <p:cNvPicPr>
            <a:picLocks noGrp="1" noChangeAspect="1"/>
          </p:cNvPicPr>
          <p:nvPr>
            <p:ph idx="1"/>
          </p:nvPr>
        </p:nvPicPr>
        <p:blipFill>
          <a:blip r:embed="rId2"/>
          <a:stretch>
            <a:fillRect/>
          </a:stretch>
        </p:blipFill>
        <p:spPr>
          <a:xfrm>
            <a:off x="1339994" y="1690688"/>
            <a:ext cx="9778279" cy="4065876"/>
          </a:xfrm>
          <a:prstGeom prst="rect">
            <a:avLst/>
          </a:prstGeom>
        </p:spPr>
      </p:pic>
    </p:spTree>
    <p:extLst>
      <p:ext uri="{BB962C8B-B14F-4D97-AF65-F5344CB8AC3E}">
        <p14:creationId xmlns:p14="http://schemas.microsoft.com/office/powerpoint/2010/main" val="1959303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473" y="72737"/>
            <a:ext cx="11208327" cy="529936"/>
          </a:xfrm>
        </p:spPr>
        <p:txBody>
          <a:bodyPr>
            <a:normAutofit fontScale="90000"/>
          </a:bodyPr>
          <a:lstStyle/>
          <a:p>
            <a:r>
              <a:rPr lang="en-US" sz="3600" b="1" dirty="0" smtClean="0">
                <a:solidFill>
                  <a:srgbClr val="FF0000"/>
                </a:solidFill>
              </a:rPr>
              <a:t/>
            </a:r>
            <a:br>
              <a:rPr lang="en-US" sz="3600" b="1" dirty="0" smtClean="0">
                <a:solidFill>
                  <a:srgbClr val="FF0000"/>
                </a:solidFill>
              </a:rPr>
            </a:br>
            <a:r>
              <a:rPr lang="en-US" sz="3600" b="1" dirty="0" smtClean="0">
                <a:solidFill>
                  <a:srgbClr val="FF0000"/>
                </a:solidFill>
              </a:rPr>
              <a:t>2.3 </a:t>
            </a:r>
            <a:r>
              <a:rPr lang="en-US" sz="3600" b="1" dirty="0">
                <a:solidFill>
                  <a:srgbClr val="FF0000"/>
                </a:solidFill>
              </a:rPr>
              <a:t>Driver and Executor Resources (Cores &amp; Memory</a:t>
            </a:r>
            <a:r>
              <a:rPr lang="en-US" dirty="0"/>
              <a:t/>
            </a:r>
            <a:br>
              <a:rPr lang="en-US" dirty="0"/>
            </a:br>
            <a:endParaRPr lang="en-US" dirty="0"/>
          </a:p>
        </p:txBody>
      </p:sp>
      <p:pic>
        <p:nvPicPr>
          <p:cNvPr id="4" name="Picture 3"/>
          <p:cNvPicPr>
            <a:picLocks noChangeAspect="1"/>
          </p:cNvPicPr>
          <p:nvPr/>
        </p:nvPicPr>
        <p:blipFill>
          <a:blip r:embed="rId2"/>
          <a:stretch>
            <a:fillRect/>
          </a:stretch>
        </p:blipFill>
        <p:spPr>
          <a:xfrm>
            <a:off x="259339" y="602673"/>
            <a:ext cx="10567988" cy="6400800"/>
          </a:xfrm>
          <a:prstGeom prst="rect">
            <a:avLst/>
          </a:prstGeom>
        </p:spPr>
      </p:pic>
    </p:spTree>
    <p:extLst>
      <p:ext uri="{BB962C8B-B14F-4D97-AF65-F5344CB8AC3E}">
        <p14:creationId xmlns:p14="http://schemas.microsoft.com/office/powerpoint/2010/main" val="34282751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7706" y="94962"/>
            <a:ext cx="10515600" cy="632402"/>
          </a:xfrm>
        </p:spPr>
        <p:txBody>
          <a:bodyPr>
            <a:normAutofit fontScale="90000"/>
          </a:bodyPr>
          <a:lstStyle/>
          <a:p>
            <a:r>
              <a:rPr lang="en-US" b="1" dirty="0" smtClean="0">
                <a:solidFill>
                  <a:srgbClr val="FF0000"/>
                </a:solidFill>
              </a:rPr>
              <a:t>2.4 Other Options</a:t>
            </a:r>
            <a:endParaRPr lang="en-US" b="1" dirty="0">
              <a:solidFill>
                <a:srgbClr val="FF0000"/>
              </a:solidFill>
            </a:endParaRPr>
          </a:p>
        </p:txBody>
      </p:sp>
      <p:pic>
        <p:nvPicPr>
          <p:cNvPr id="4" name="Content Placeholder 3"/>
          <p:cNvPicPr>
            <a:picLocks noGrp="1" noChangeAspect="1"/>
          </p:cNvPicPr>
          <p:nvPr>
            <p:ph idx="1"/>
          </p:nvPr>
        </p:nvPicPr>
        <p:blipFill>
          <a:blip r:embed="rId2"/>
          <a:stretch>
            <a:fillRect/>
          </a:stretch>
        </p:blipFill>
        <p:spPr>
          <a:xfrm>
            <a:off x="693305" y="550720"/>
            <a:ext cx="7915275" cy="2587336"/>
          </a:xfrm>
          <a:prstGeom prst="rect">
            <a:avLst/>
          </a:prstGeom>
        </p:spPr>
      </p:pic>
      <p:pic>
        <p:nvPicPr>
          <p:cNvPr id="5" name="Picture 4"/>
          <p:cNvPicPr>
            <a:picLocks noChangeAspect="1"/>
          </p:cNvPicPr>
          <p:nvPr/>
        </p:nvPicPr>
        <p:blipFill>
          <a:blip r:embed="rId3"/>
          <a:stretch>
            <a:fillRect/>
          </a:stretch>
        </p:blipFill>
        <p:spPr>
          <a:xfrm>
            <a:off x="577706" y="3138055"/>
            <a:ext cx="9252094" cy="3387435"/>
          </a:xfrm>
          <a:prstGeom prst="rect">
            <a:avLst/>
          </a:prstGeom>
        </p:spPr>
      </p:pic>
    </p:spTree>
    <p:extLst>
      <p:ext uri="{BB962C8B-B14F-4D97-AF65-F5344CB8AC3E}">
        <p14:creationId xmlns:p14="http://schemas.microsoft.com/office/powerpoint/2010/main" val="25872324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446809"/>
          </a:xfrm>
        </p:spPr>
        <p:txBody>
          <a:bodyPr>
            <a:normAutofit fontScale="90000"/>
          </a:bodyPr>
          <a:lstStyle/>
          <a:p>
            <a:r>
              <a:rPr lang="en-US" b="1" dirty="0" smtClean="0"/>
              <a:t/>
            </a:r>
            <a:br>
              <a:rPr lang="en-US" b="1" dirty="0" smtClean="0"/>
            </a:br>
            <a:r>
              <a:rPr lang="en-US" b="1" dirty="0" smtClean="0">
                <a:solidFill>
                  <a:srgbClr val="FF0000"/>
                </a:solidFill>
              </a:rPr>
              <a:t>3</a:t>
            </a:r>
            <a:r>
              <a:rPr lang="en-US" b="1" dirty="0">
                <a:solidFill>
                  <a:srgbClr val="FF0000"/>
                </a:solidFill>
              </a:rPr>
              <a:t>. Spark Submit Configurations</a:t>
            </a:r>
            <a:r>
              <a:rPr lang="en-US" b="1" dirty="0"/>
              <a:t/>
            </a:r>
            <a:br>
              <a:rPr lang="en-US" b="1" dirty="0"/>
            </a:br>
            <a:endParaRPr lang="en-US" dirty="0"/>
          </a:p>
        </p:txBody>
      </p:sp>
      <p:pic>
        <p:nvPicPr>
          <p:cNvPr id="4" name="Content Placeholder 3"/>
          <p:cNvPicPr>
            <a:picLocks noGrp="1" noChangeAspect="1"/>
          </p:cNvPicPr>
          <p:nvPr>
            <p:ph idx="1"/>
          </p:nvPr>
        </p:nvPicPr>
        <p:blipFill>
          <a:blip r:embed="rId2"/>
          <a:stretch>
            <a:fillRect/>
          </a:stretch>
        </p:blipFill>
        <p:spPr>
          <a:xfrm>
            <a:off x="129453" y="600581"/>
            <a:ext cx="11581102" cy="6039210"/>
          </a:xfrm>
          <a:prstGeom prst="rect">
            <a:avLst/>
          </a:prstGeom>
        </p:spPr>
      </p:pic>
    </p:spTree>
    <p:extLst>
      <p:ext uri="{BB962C8B-B14F-4D97-AF65-F5344CB8AC3E}">
        <p14:creationId xmlns:p14="http://schemas.microsoft.com/office/powerpoint/2010/main" val="18649188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1353800" cy="320675"/>
          </a:xfrm>
        </p:spPr>
        <p:txBody>
          <a:bodyPr>
            <a:normAutofit fontScale="90000"/>
          </a:bodyPr>
          <a:lstStyle/>
          <a:p>
            <a:endParaRPr lang="en-US" dirty="0"/>
          </a:p>
        </p:txBody>
      </p:sp>
      <p:pic>
        <p:nvPicPr>
          <p:cNvPr id="4" name="Content Placeholder 3"/>
          <p:cNvPicPr>
            <a:picLocks noGrp="1" noChangeAspect="1"/>
          </p:cNvPicPr>
          <p:nvPr>
            <p:ph idx="1"/>
          </p:nvPr>
        </p:nvPicPr>
        <p:blipFill>
          <a:blip r:embed="rId2"/>
          <a:stretch>
            <a:fillRect/>
          </a:stretch>
        </p:blipFill>
        <p:spPr>
          <a:xfrm>
            <a:off x="159497" y="758536"/>
            <a:ext cx="9961248" cy="5870864"/>
          </a:xfrm>
          <a:prstGeom prst="rect">
            <a:avLst/>
          </a:prstGeom>
        </p:spPr>
      </p:pic>
    </p:spTree>
    <p:extLst>
      <p:ext uri="{BB962C8B-B14F-4D97-AF65-F5344CB8AC3E}">
        <p14:creationId xmlns:p14="http://schemas.microsoft.com/office/powerpoint/2010/main" val="30782039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4181"/>
            <a:ext cx="10515600" cy="538884"/>
          </a:xfrm>
        </p:spPr>
        <p:txBody>
          <a:bodyPr>
            <a:normAutofit fontScale="90000"/>
          </a:bodyPr>
          <a:lstStyle/>
          <a:p>
            <a:r>
              <a:rPr lang="en-US" b="1" dirty="0" smtClean="0"/>
              <a:t/>
            </a:r>
            <a:br>
              <a:rPr lang="en-US" b="1" dirty="0" smtClean="0"/>
            </a:br>
            <a:r>
              <a:rPr lang="en-US" b="1" dirty="0" smtClean="0">
                <a:solidFill>
                  <a:srgbClr val="FF0000"/>
                </a:solidFill>
              </a:rPr>
              <a:t>4. Submit Scala or Java Application</a:t>
            </a:r>
            <a:r>
              <a:rPr lang="en-US" b="1" dirty="0" smtClean="0"/>
              <a:t/>
            </a:r>
            <a:br>
              <a:rPr lang="en-US" b="1" dirty="0" smtClean="0"/>
            </a:br>
            <a:endParaRPr lang="en-US" dirty="0"/>
          </a:p>
        </p:txBody>
      </p:sp>
      <p:pic>
        <p:nvPicPr>
          <p:cNvPr id="4" name="Content Placeholder 3"/>
          <p:cNvPicPr>
            <a:picLocks noGrp="1" noChangeAspect="1"/>
          </p:cNvPicPr>
          <p:nvPr>
            <p:ph idx="1"/>
          </p:nvPr>
        </p:nvPicPr>
        <p:blipFill>
          <a:blip r:embed="rId2"/>
          <a:stretch>
            <a:fillRect/>
          </a:stretch>
        </p:blipFill>
        <p:spPr>
          <a:xfrm>
            <a:off x="1046883" y="868795"/>
            <a:ext cx="9156989" cy="5604741"/>
          </a:xfrm>
          <a:prstGeom prst="rect">
            <a:avLst/>
          </a:prstGeom>
        </p:spPr>
      </p:pic>
    </p:spTree>
    <p:extLst>
      <p:ext uri="{BB962C8B-B14F-4D97-AF65-F5344CB8AC3E}">
        <p14:creationId xmlns:p14="http://schemas.microsoft.com/office/powerpoint/2010/main" val="8217004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6311"/>
          </a:xfrm>
        </p:spPr>
        <p:txBody>
          <a:bodyPr/>
          <a:lstStyle/>
          <a:p>
            <a:r>
              <a:rPr lang="en-US" b="1" dirty="0" smtClean="0"/>
              <a:t>Submit Scala or Java Application Example</a:t>
            </a:r>
            <a:endParaRPr lang="en-US" dirty="0"/>
          </a:p>
        </p:txBody>
      </p:sp>
      <p:pic>
        <p:nvPicPr>
          <p:cNvPr id="4" name="Content Placeholder 3"/>
          <p:cNvPicPr>
            <a:picLocks noGrp="1" noChangeAspect="1"/>
          </p:cNvPicPr>
          <p:nvPr>
            <p:ph idx="1"/>
          </p:nvPr>
        </p:nvPicPr>
        <p:blipFill>
          <a:blip r:embed="rId2"/>
          <a:stretch>
            <a:fillRect/>
          </a:stretch>
        </p:blipFill>
        <p:spPr>
          <a:xfrm>
            <a:off x="1691119" y="2016197"/>
            <a:ext cx="5655253" cy="3345512"/>
          </a:xfrm>
          <a:prstGeom prst="rect">
            <a:avLst/>
          </a:prstGeom>
        </p:spPr>
      </p:pic>
    </p:spTree>
    <p:extLst>
      <p:ext uri="{BB962C8B-B14F-4D97-AF65-F5344CB8AC3E}">
        <p14:creationId xmlns:p14="http://schemas.microsoft.com/office/powerpoint/2010/main" val="37784698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2" y="0"/>
            <a:ext cx="11281064" cy="559666"/>
          </a:xfrm>
        </p:spPr>
        <p:txBody>
          <a:bodyPr>
            <a:normAutofit fontScale="90000"/>
          </a:bodyPr>
          <a:lstStyle/>
          <a:p>
            <a:r>
              <a:rPr lang="en-US" b="1" dirty="0" smtClean="0"/>
              <a:t/>
            </a:r>
            <a:br>
              <a:rPr lang="en-US" b="1" dirty="0" smtClean="0"/>
            </a:br>
            <a:r>
              <a:rPr lang="en-US" b="1" dirty="0" smtClean="0">
                <a:solidFill>
                  <a:srgbClr val="C00000"/>
                </a:solidFill>
              </a:rPr>
              <a:t>5</a:t>
            </a:r>
            <a:r>
              <a:rPr lang="en-US" b="1" dirty="0">
                <a:solidFill>
                  <a:srgbClr val="C00000"/>
                </a:solidFill>
              </a:rPr>
              <a:t>. Spark Submit </a:t>
            </a:r>
            <a:r>
              <a:rPr lang="en-US" b="1" dirty="0" err="1">
                <a:solidFill>
                  <a:srgbClr val="C00000"/>
                </a:solidFill>
              </a:rPr>
              <a:t>PySpark</a:t>
            </a:r>
            <a:r>
              <a:rPr lang="en-US" b="1" dirty="0">
                <a:solidFill>
                  <a:srgbClr val="C00000"/>
                </a:solidFill>
              </a:rPr>
              <a:t> (Python) Application</a:t>
            </a:r>
            <a:r>
              <a:rPr lang="en-US" b="1" dirty="0"/>
              <a:t/>
            </a:r>
            <a:br>
              <a:rPr lang="en-US" b="1" dirty="0"/>
            </a:br>
            <a:endParaRPr lang="en-US" dirty="0"/>
          </a:p>
        </p:txBody>
      </p:sp>
      <p:pic>
        <p:nvPicPr>
          <p:cNvPr id="4" name="Content Placeholder 3"/>
          <p:cNvPicPr>
            <a:picLocks noGrp="1" noChangeAspect="1"/>
          </p:cNvPicPr>
          <p:nvPr>
            <p:ph idx="1"/>
          </p:nvPr>
        </p:nvPicPr>
        <p:blipFill>
          <a:blip r:embed="rId2"/>
          <a:stretch>
            <a:fillRect/>
          </a:stretch>
        </p:blipFill>
        <p:spPr>
          <a:xfrm>
            <a:off x="342899" y="883010"/>
            <a:ext cx="10733809" cy="5629275"/>
          </a:xfrm>
          <a:prstGeom prst="rect">
            <a:avLst/>
          </a:prstGeom>
        </p:spPr>
      </p:pic>
    </p:spTree>
    <p:extLst>
      <p:ext uri="{BB962C8B-B14F-4D97-AF65-F5344CB8AC3E}">
        <p14:creationId xmlns:p14="http://schemas.microsoft.com/office/powerpoint/2010/main" val="29000790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2118" y="365125"/>
            <a:ext cx="11031682" cy="1325563"/>
          </a:xfrm>
        </p:spPr>
        <p:txBody>
          <a:bodyPr>
            <a:normAutofit/>
          </a:bodyPr>
          <a:lstStyle/>
          <a:p>
            <a:r>
              <a:rPr lang="en-US" sz="2800" b="1" dirty="0" smtClean="0">
                <a:solidFill>
                  <a:srgbClr val="C00000"/>
                </a:solidFill>
              </a:rPr>
              <a:t>5. Spark Submit </a:t>
            </a:r>
            <a:r>
              <a:rPr lang="en-US" sz="2800" b="1" dirty="0" err="1" smtClean="0">
                <a:solidFill>
                  <a:srgbClr val="C00000"/>
                </a:solidFill>
              </a:rPr>
              <a:t>PySpark</a:t>
            </a:r>
            <a:r>
              <a:rPr lang="en-US" sz="2800" b="1" dirty="0" smtClean="0">
                <a:solidFill>
                  <a:srgbClr val="C00000"/>
                </a:solidFill>
              </a:rPr>
              <a:t> (Python) Application example</a:t>
            </a:r>
            <a:endParaRPr lang="en-US" sz="2800" dirty="0"/>
          </a:p>
        </p:txBody>
      </p:sp>
      <p:pic>
        <p:nvPicPr>
          <p:cNvPr id="4" name="Content Placeholder 3"/>
          <p:cNvPicPr>
            <a:picLocks noGrp="1" noChangeAspect="1"/>
          </p:cNvPicPr>
          <p:nvPr>
            <p:ph idx="1"/>
          </p:nvPr>
        </p:nvPicPr>
        <p:blipFill>
          <a:blip r:embed="rId2"/>
          <a:stretch>
            <a:fillRect/>
          </a:stretch>
        </p:blipFill>
        <p:spPr>
          <a:xfrm>
            <a:off x="1007484" y="1527464"/>
            <a:ext cx="8074171" cy="4862945"/>
          </a:xfrm>
          <a:prstGeom prst="rect">
            <a:avLst/>
          </a:prstGeom>
        </p:spPr>
      </p:pic>
    </p:spTree>
    <p:extLst>
      <p:ext uri="{BB962C8B-B14F-4D97-AF65-F5344CB8AC3E}">
        <p14:creationId xmlns:p14="http://schemas.microsoft.com/office/powerpoint/2010/main" val="2910741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5743"/>
            <a:ext cx="11229109" cy="622011"/>
          </a:xfrm>
        </p:spPr>
        <p:txBody>
          <a:bodyPr>
            <a:noAutofit/>
          </a:bodyPr>
          <a:lstStyle/>
          <a:p>
            <a:r>
              <a:rPr lang="en-US" sz="3600" b="1" dirty="0" smtClean="0">
                <a:solidFill>
                  <a:srgbClr val="C00000"/>
                </a:solidFill>
              </a:rPr>
              <a:t>6 and 7. </a:t>
            </a:r>
            <a:r>
              <a:rPr lang="en-US" sz="3600" b="1" dirty="0">
                <a:solidFill>
                  <a:srgbClr val="C00000"/>
                </a:solidFill>
              </a:rPr>
              <a:t>Submitting Application to </a:t>
            </a:r>
            <a:r>
              <a:rPr lang="en-US" sz="3600" b="1" dirty="0" err="1" smtClean="0">
                <a:solidFill>
                  <a:srgbClr val="00B0F0"/>
                </a:solidFill>
              </a:rPr>
              <a:t>Mesos</a:t>
            </a:r>
            <a:r>
              <a:rPr lang="en-US" sz="3600" b="1" dirty="0" smtClean="0">
                <a:solidFill>
                  <a:srgbClr val="00B0F0"/>
                </a:solidFill>
              </a:rPr>
              <a:t> </a:t>
            </a:r>
            <a:r>
              <a:rPr lang="en-US" sz="3600" b="1" dirty="0" smtClean="0">
                <a:solidFill>
                  <a:srgbClr val="C00000"/>
                </a:solidFill>
              </a:rPr>
              <a:t>and </a:t>
            </a:r>
            <a:r>
              <a:rPr lang="en-US" sz="3600" b="1" dirty="0" smtClean="0">
                <a:solidFill>
                  <a:srgbClr val="0070C0"/>
                </a:solidFill>
              </a:rPr>
              <a:t>Kubernetes</a:t>
            </a:r>
            <a:r>
              <a:rPr lang="en-US" sz="3600" b="1" dirty="0">
                <a:solidFill>
                  <a:srgbClr val="C00000"/>
                </a:solidFill>
              </a:rPr>
              <a:t/>
            </a:r>
            <a:br>
              <a:rPr lang="en-US" sz="3600" b="1" dirty="0">
                <a:solidFill>
                  <a:srgbClr val="C00000"/>
                </a:solidFill>
              </a:rPr>
            </a:br>
            <a:endParaRPr lang="en-US" sz="3600" b="1" dirty="0">
              <a:solidFill>
                <a:srgbClr val="C00000"/>
              </a:solidFill>
            </a:endParaRPr>
          </a:p>
        </p:txBody>
      </p:sp>
      <p:sp>
        <p:nvSpPr>
          <p:cNvPr id="6" name="Content Placeholder 5"/>
          <p:cNvSpPr>
            <a:spLocks noGrp="1"/>
          </p:cNvSpPr>
          <p:nvPr>
            <p:ph idx="1"/>
          </p:nvPr>
        </p:nvSpPr>
        <p:spPr>
          <a:xfrm>
            <a:off x="0" y="426748"/>
            <a:ext cx="10515600" cy="4351338"/>
          </a:xfrm>
        </p:spPr>
        <p:txBody>
          <a:bodyPr/>
          <a:lstStyle/>
          <a:p>
            <a:pPr fontAlgn="base"/>
            <a:r>
              <a:rPr lang="en-US" sz="2400" dirty="0"/>
              <a:t>Here, we are submitting spark application on a </a:t>
            </a:r>
            <a:r>
              <a:rPr lang="en-US" sz="2400" dirty="0" err="1">
                <a:solidFill>
                  <a:srgbClr val="C00000"/>
                </a:solidFill>
              </a:rPr>
              <a:t>Mesos</a:t>
            </a:r>
            <a:r>
              <a:rPr lang="en-US" sz="2400" dirty="0">
                <a:solidFill>
                  <a:srgbClr val="C00000"/>
                </a:solidFill>
              </a:rPr>
              <a:t>-managed </a:t>
            </a:r>
            <a:r>
              <a:rPr lang="en-US" sz="2400" dirty="0" smtClean="0">
                <a:solidFill>
                  <a:srgbClr val="C00000"/>
                </a:solidFill>
              </a:rPr>
              <a:t>cluster</a:t>
            </a:r>
            <a:r>
              <a:rPr lang="en-US" sz="2400" dirty="0" smtClean="0"/>
              <a:t> and </a:t>
            </a:r>
            <a:r>
              <a:rPr lang="en-US" sz="2400" dirty="0" smtClean="0">
                <a:solidFill>
                  <a:srgbClr val="FF0000"/>
                </a:solidFill>
              </a:rPr>
              <a:t>Kubernetes managed cluster  </a:t>
            </a:r>
            <a:r>
              <a:rPr lang="en-US" sz="2400" dirty="0"/>
              <a:t>using deployment mode with 5G memory and 8 cores for each executor.</a:t>
            </a:r>
          </a:p>
          <a:p>
            <a:r>
              <a:rPr lang="en-US" b="1" dirty="0" err="1" smtClean="0">
                <a:solidFill>
                  <a:srgbClr val="FF0000"/>
                </a:solidFill>
              </a:rPr>
              <a:t>Mesos</a:t>
            </a:r>
            <a:r>
              <a:rPr lang="en-US" b="1" dirty="0" smtClean="0">
                <a:solidFill>
                  <a:srgbClr val="FF0000"/>
                </a:solidFill>
              </a:rPr>
              <a:t>:                                                                   Kubernetes:</a:t>
            </a:r>
            <a:r>
              <a:rPr lang="en-US" dirty="0" smtClean="0"/>
              <a:t/>
            </a:r>
            <a:br>
              <a:rPr lang="en-US" dirty="0" smtClean="0"/>
            </a:br>
            <a:endParaRPr lang="en-US" dirty="0"/>
          </a:p>
        </p:txBody>
      </p:sp>
      <p:pic>
        <p:nvPicPr>
          <p:cNvPr id="7" name="Picture 6"/>
          <p:cNvPicPr>
            <a:picLocks noChangeAspect="1"/>
          </p:cNvPicPr>
          <p:nvPr/>
        </p:nvPicPr>
        <p:blipFill>
          <a:blip r:embed="rId2"/>
          <a:stretch>
            <a:fillRect/>
          </a:stretch>
        </p:blipFill>
        <p:spPr>
          <a:xfrm>
            <a:off x="235526" y="2044410"/>
            <a:ext cx="4921827" cy="4335608"/>
          </a:xfrm>
          <a:prstGeom prst="rect">
            <a:avLst/>
          </a:prstGeom>
        </p:spPr>
      </p:pic>
      <p:pic>
        <p:nvPicPr>
          <p:cNvPr id="8" name="Picture 7"/>
          <p:cNvPicPr>
            <a:picLocks noChangeAspect="1"/>
          </p:cNvPicPr>
          <p:nvPr/>
        </p:nvPicPr>
        <p:blipFill>
          <a:blip r:embed="rId3"/>
          <a:stretch>
            <a:fillRect/>
          </a:stretch>
        </p:blipFill>
        <p:spPr>
          <a:xfrm>
            <a:off x="6421581" y="2044410"/>
            <a:ext cx="4977245" cy="4481081"/>
          </a:xfrm>
          <a:prstGeom prst="rect">
            <a:avLst/>
          </a:prstGeom>
        </p:spPr>
      </p:pic>
    </p:spTree>
    <p:extLst>
      <p:ext uri="{BB962C8B-B14F-4D97-AF65-F5344CB8AC3E}">
        <p14:creationId xmlns:p14="http://schemas.microsoft.com/office/powerpoint/2010/main" val="27061579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80448"/>
          </a:xfrm>
        </p:spPr>
        <p:txBody>
          <a:bodyPr>
            <a:normAutofit fontScale="90000"/>
          </a:bodyPr>
          <a:lstStyle/>
          <a:p>
            <a:r>
              <a:rPr lang="en-US" b="1" dirty="0" smtClean="0">
                <a:solidFill>
                  <a:srgbClr val="C00000"/>
                </a:solidFill>
              </a:rPr>
              <a:t>8. Submitting Application to Standalone</a:t>
            </a:r>
            <a:endParaRPr lang="en-US" b="1" dirty="0">
              <a:solidFill>
                <a:srgbClr val="C00000"/>
              </a:solidFill>
            </a:endParaRPr>
          </a:p>
        </p:txBody>
      </p:sp>
      <p:sp>
        <p:nvSpPr>
          <p:cNvPr id="3" name="Content Placeholder 2"/>
          <p:cNvSpPr>
            <a:spLocks noGrp="1"/>
          </p:cNvSpPr>
          <p:nvPr>
            <p:ph idx="1"/>
          </p:nvPr>
        </p:nvSpPr>
        <p:spPr>
          <a:xfrm>
            <a:off x="38100" y="1035916"/>
            <a:ext cx="11132127" cy="5551920"/>
          </a:xfrm>
        </p:spPr>
        <p:txBody>
          <a:bodyPr/>
          <a:lstStyle/>
          <a:p>
            <a:r>
              <a:rPr lang="en-US" dirty="0"/>
              <a:t>The below example runs Spark application on a Standalone cluster using cluster deployment mode with 5G memory and 8 cores for each executor.</a:t>
            </a:r>
          </a:p>
        </p:txBody>
      </p:sp>
      <p:pic>
        <p:nvPicPr>
          <p:cNvPr id="4" name="Picture 3"/>
          <p:cNvPicPr>
            <a:picLocks noChangeAspect="1"/>
          </p:cNvPicPr>
          <p:nvPr/>
        </p:nvPicPr>
        <p:blipFill>
          <a:blip r:embed="rId2"/>
          <a:stretch>
            <a:fillRect/>
          </a:stretch>
        </p:blipFill>
        <p:spPr>
          <a:xfrm>
            <a:off x="2189883" y="2732809"/>
            <a:ext cx="6299489" cy="3127664"/>
          </a:xfrm>
          <a:prstGeom prst="rect">
            <a:avLst/>
          </a:prstGeom>
        </p:spPr>
      </p:pic>
    </p:spTree>
    <p:extLst>
      <p:ext uri="{BB962C8B-B14F-4D97-AF65-F5344CB8AC3E}">
        <p14:creationId xmlns:p14="http://schemas.microsoft.com/office/powerpoint/2010/main" val="28832871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8373" y="290945"/>
            <a:ext cx="10865427" cy="5886018"/>
          </a:xfrm>
        </p:spPr>
        <p:txBody>
          <a:bodyPr>
            <a:normAutofit lnSpcReduction="10000"/>
          </a:bodyPr>
          <a:lstStyle/>
          <a:p>
            <a:pPr marL="0" indent="0" algn="just">
              <a:buNone/>
            </a:pPr>
            <a:r>
              <a:rPr lang="en-US" dirty="0" smtClean="0">
                <a:solidFill>
                  <a:srgbClr val="C00000"/>
                </a:solidFill>
              </a:rPr>
              <a:t>Administrative Tasks:</a:t>
            </a:r>
          </a:p>
          <a:p>
            <a:pPr algn="just"/>
            <a:r>
              <a:rPr lang="en-US" dirty="0" smtClean="0"/>
              <a:t>In addition to submitting Spark applications, Spark Submit also provides several other functionalities. It can be used to run Spark’s built-in examples, test Spark applications, and perform other administrative tasks such as deploying and managing Spark clusters. </a:t>
            </a:r>
          </a:p>
          <a:p>
            <a:pPr algn="just"/>
            <a:endParaRPr lang="en-US" dirty="0" smtClean="0"/>
          </a:p>
          <a:p>
            <a:pPr marL="0" indent="0" algn="just">
              <a:buNone/>
            </a:pPr>
            <a:r>
              <a:rPr lang="en-US" dirty="0" smtClean="0">
                <a:solidFill>
                  <a:srgbClr val="C00000"/>
                </a:solidFill>
              </a:rPr>
              <a:t>Conclusion:</a:t>
            </a:r>
          </a:p>
          <a:p>
            <a:pPr algn="just"/>
            <a:r>
              <a:rPr lang="en-US" dirty="0" smtClean="0"/>
              <a:t>In conclusion, Spark Submit is a command-line tool that is an integral part of the Spark ecosystem. It allows users to submit Spark applications to a cluster for execution and provides various functionalities such as running examples, testing applications, and performing administrative tasks. By being able to specify configuration parameters and handling the complexities of the distributed environment, Spark Submit makes it easier for users to develop, test, and deploy their Spark applications.</a:t>
            </a:r>
            <a:endParaRPr lang="en-US" dirty="0"/>
          </a:p>
        </p:txBody>
      </p:sp>
    </p:spTree>
    <p:extLst>
      <p:ext uri="{BB962C8B-B14F-4D97-AF65-F5344CB8AC3E}">
        <p14:creationId xmlns:p14="http://schemas.microsoft.com/office/powerpoint/2010/main" val="14679930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smtClean="0"/>
              <a:t>https://sparkbyexamples.com/spark/spark-submit-command/</a:t>
            </a:r>
            <a:endParaRPr lang="en-US" dirty="0"/>
          </a:p>
        </p:txBody>
      </p:sp>
    </p:spTree>
    <p:extLst>
      <p:ext uri="{BB962C8B-B14F-4D97-AF65-F5344CB8AC3E}">
        <p14:creationId xmlns:p14="http://schemas.microsoft.com/office/powerpoint/2010/main" val="24679721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Datasets: Type-Safe Structured APIs</a:t>
            </a:r>
            <a:r>
              <a:rPr lang="en-US" dirty="0" smtClean="0"/>
              <a:t/>
            </a:r>
            <a:br>
              <a:rPr lang="en-US" dirty="0" smtClean="0"/>
            </a:br>
            <a:endParaRPr lang="en-US" dirty="0"/>
          </a:p>
        </p:txBody>
      </p:sp>
      <p:sp>
        <p:nvSpPr>
          <p:cNvPr id="3" name="Content Placeholder 2"/>
          <p:cNvSpPr>
            <a:spLocks noGrp="1"/>
          </p:cNvSpPr>
          <p:nvPr>
            <p:ph idx="1"/>
          </p:nvPr>
        </p:nvSpPr>
        <p:spPr>
          <a:xfrm>
            <a:off x="838200" y="1039091"/>
            <a:ext cx="10515600" cy="5137872"/>
          </a:xfrm>
        </p:spPr>
        <p:txBody>
          <a:bodyPr>
            <a:normAutofit fontScale="92500" lnSpcReduction="10000"/>
          </a:bodyPr>
          <a:lstStyle/>
          <a:p>
            <a:r>
              <a:rPr lang="en-US" b="1" dirty="0" smtClean="0"/>
              <a:t>The first API </a:t>
            </a:r>
            <a:r>
              <a:rPr lang="en-US" dirty="0" smtClean="0"/>
              <a:t>we’ll describe is a </a:t>
            </a:r>
            <a:r>
              <a:rPr lang="en-US" b="1" dirty="0" smtClean="0"/>
              <a:t>type-safe version of Spark’s structured API called Datasets</a:t>
            </a:r>
            <a:r>
              <a:rPr lang="en-US" dirty="0" smtClean="0"/>
              <a:t>, for writing statically typed code </a:t>
            </a:r>
            <a:r>
              <a:rPr lang="en-US" b="1" dirty="0" smtClean="0"/>
              <a:t>in Java and Scala</a:t>
            </a:r>
            <a:r>
              <a:rPr lang="en-US" dirty="0" smtClean="0"/>
              <a:t>. The </a:t>
            </a:r>
            <a:r>
              <a:rPr lang="en-US" dirty="0" smtClean="0">
                <a:solidFill>
                  <a:srgbClr val="FF0000"/>
                </a:solidFill>
              </a:rPr>
              <a:t>Dataset API is </a:t>
            </a:r>
            <a:r>
              <a:rPr lang="en-US" dirty="0" smtClean="0">
                <a:solidFill>
                  <a:srgbClr val="FF0000"/>
                </a:solidFill>
              </a:rPr>
              <a:t>initially not </a:t>
            </a:r>
            <a:r>
              <a:rPr lang="en-US" dirty="0" smtClean="0">
                <a:solidFill>
                  <a:srgbClr val="FF0000"/>
                </a:solidFill>
              </a:rPr>
              <a:t>available in Python and </a:t>
            </a:r>
            <a:r>
              <a:rPr lang="en-US" dirty="0" smtClean="0">
                <a:solidFill>
                  <a:srgbClr val="FF0000"/>
                </a:solidFill>
              </a:rPr>
              <a:t>R but now available</a:t>
            </a:r>
            <a:r>
              <a:rPr lang="en-US" dirty="0" smtClean="0"/>
              <a:t>, </a:t>
            </a:r>
            <a:r>
              <a:rPr lang="en-US" dirty="0" smtClean="0"/>
              <a:t>because those languages are dynamically typed.</a:t>
            </a:r>
          </a:p>
          <a:p>
            <a:r>
              <a:rPr lang="en-US" dirty="0" smtClean="0"/>
              <a:t>Recall that </a:t>
            </a:r>
            <a:r>
              <a:rPr lang="en-US" dirty="0" err="1" smtClean="0"/>
              <a:t>DataFrames</a:t>
            </a:r>
            <a:r>
              <a:rPr lang="en-US" dirty="0" smtClean="0"/>
              <a:t>, which we saw in the previous chapter, are a distributed collection of objects of type Row that can hold various types of tabular data. </a:t>
            </a:r>
            <a:endParaRPr lang="en-US" dirty="0" smtClean="0"/>
          </a:p>
          <a:p>
            <a:r>
              <a:rPr lang="en-US" dirty="0" smtClean="0"/>
              <a:t>The </a:t>
            </a:r>
            <a:r>
              <a:rPr lang="en-US" dirty="0" smtClean="0"/>
              <a:t>Dataset API gives users the ability to assign a Java/Scala class to the records within a </a:t>
            </a:r>
            <a:r>
              <a:rPr lang="en-US" dirty="0" err="1" smtClean="0"/>
              <a:t>DataFrame</a:t>
            </a:r>
            <a:r>
              <a:rPr lang="en-US" dirty="0" smtClean="0"/>
              <a:t> and manipulate it as a collection of typed objects, similar to a Java </a:t>
            </a:r>
            <a:r>
              <a:rPr lang="en-US" dirty="0" err="1" smtClean="0"/>
              <a:t>ArrayList</a:t>
            </a:r>
            <a:r>
              <a:rPr lang="en-US" dirty="0" smtClean="0"/>
              <a:t> or Scala Seq. </a:t>
            </a:r>
            <a:endParaRPr lang="en-US" dirty="0" smtClean="0"/>
          </a:p>
          <a:p>
            <a:r>
              <a:rPr lang="en-US" dirty="0" smtClean="0"/>
              <a:t>The </a:t>
            </a:r>
            <a:r>
              <a:rPr lang="en-US" dirty="0" smtClean="0"/>
              <a:t>APIs available on Datasets are </a:t>
            </a:r>
            <a:r>
              <a:rPr lang="en-US" dirty="0" smtClean="0"/>
              <a:t>type-safe. </a:t>
            </a:r>
            <a:r>
              <a:rPr lang="en-US" dirty="0"/>
              <a:t>In simple terms, "type-safe" in Spark Datasets means that the data types of the columns are enforced and checked </a:t>
            </a:r>
            <a:r>
              <a:rPr lang="en-US" b="1" dirty="0"/>
              <a:t>at compile-time. </a:t>
            </a:r>
            <a:r>
              <a:rPr lang="en-US" dirty="0"/>
              <a:t>This ensures that you're working with the correct types of data, reducing the chance of runtime errors related to data types.</a:t>
            </a:r>
            <a:endParaRPr lang="en-US" dirty="0" smtClean="0"/>
          </a:p>
        </p:txBody>
      </p:sp>
    </p:spTree>
    <p:extLst>
      <p:ext uri="{BB962C8B-B14F-4D97-AF65-F5344CB8AC3E}">
        <p14:creationId xmlns:p14="http://schemas.microsoft.com/office/powerpoint/2010/main" val="19425131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t>The Dataset class is parameterized with the type of object contained inside: Dataset&lt;T&gt; in Java and Dataset[T] in Scala</a:t>
            </a:r>
            <a:r>
              <a:rPr lang="en-US" dirty="0" smtClean="0"/>
              <a:t>.</a:t>
            </a:r>
          </a:p>
          <a:p>
            <a:r>
              <a:rPr lang="en-US" dirty="0" smtClean="0"/>
              <a:t> </a:t>
            </a:r>
            <a:r>
              <a:rPr lang="en-US" dirty="0" smtClean="0"/>
              <a:t>For example, a Dataset[Person] will be guaranteed to contain objects of class Person. As of Spark 2.0, the supported types are classes following the JavaBean pattern in Java and case classes in Scala. </a:t>
            </a:r>
            <a:endParaRPr lang="en-US" dirty="0" smtClean="0"/>
          </a:p>
          <a:p>
            <a:r>
              <a:rPr lang="en-US" dirty="0" smtClean="0"/>
              <a:t>These </a:t>
            </a:r>
            <a:r>
              <a:rPr lang="en-US" dirty="0" smtClean="0"/>
              <a:t>types are restricted because Spark needs to be able to automatically analyze the type T and create an appropriate schema for the tabular data within your Dataset.</a:t>
            </a:r>
          </a:p>
          <a:p>
            <a:endParaRPr lang="en-US" dirty="0"/>
          </a:p>
        </p:txBody>
      </p:sp>
    </p:spTree>
    <p:extLst>
      <p:ext uri="{BB962C8B-B14F-4D97-AF65-F5344CB8AC3E}">
        <p14:creationId xmlns:p14="http://schemas.microsoft.com/office/powerpoint/2010/main" val="30809421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r>
              <a:rPr lang="en-US" dirty="0" smtClean="0"/>
              <a:t>One great thing about Datasets is that you can use them only when you need or want to</a:t>
            </a:r>
            <a:r>
              <a:rPr lang="en-US" dirty="0" smtClean="0"/>
              <a:t>.</a:t>
            </a:r>
          </a:p>
          <a:p>
            <a:r>
              <a:rPr lang="en-US" dirty="0" smtClean="0"/>
              <a:t> </a:t>
            </a:r>
            <a:r>
              <a:rPr lang="en-US" dirty="0" smtClean="0"/>
              <a:t>For instance, in the following example, we’ll define our own data type and manipulate it via arbitrary map and filter functions. After we’ve performed our manipulations, Spark can automatically turn it back into a </a:t>
            </a:r>
            <a:r>
              <a:rPr lang="en-US" dirty="0" err="1" smtClean="0"/>
              <a:t>DataFrame</a:t>
            </a:r>
            <a:r>
              <a:rPr lang="en-US" dirty="0" smtClean="0"/>
              <a:t>, and we can manipulate it further by using the hundreds of functions that Spark includes</a:t>
            </a:r>
            <a:r>
              <a:rPr lang="en-US" dirty="0" smtClean="0"/>
              <a:t>.</a:t>
            </a:r>
          </a:p>
          <a:p>
            <a:r>
              <a:rPr lang="en-US" dirty="0" smtClean="0"/>
              <a:t> </a:t>
            </a:r>
            <a:r>
              <a:rPr lang="en-US" dirty="0" smtClean="0"/>
              <a:t>This makes it easy to drop down to lower level, perform type-safe coding when necessary, and move higher up to SQL for more rapid analysis. Here is a small example showing how you can use both type-safe functions and </a:t>
            </a:r>
            <a:r>
              <a:rPr lang="en-US" dirty="0" err="1" smtClean="0"/>
              <a:t>DataFrame</a:t>
            </a:r>
            <a:r>
              <a:rPr lang="en-US" dirty="0" smtClean="0"/>
              <a:t>-like SQL expressions to quickly write business logic: </a:t>
            </a:r>
            <a:endParaRPr lang="en-US" dirty="0"/>
          </a:p>
        </p:txBody>
      </p:sp>
    </p:spTree>
    <p:extLst>
      <p:ext uri="{BB962C8B-B14F-4D97-AF65-F5344CB8AC3E}">
        <p14:creationId xmlns:p14="http://schemas.microsoft.com/office/powerpoint/2010/main" val="34848640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6"/>
            <a:ext cx="10515600" cy="351848"/>
          </a:xfrm>
        </p:spPr>
        <p:txBody>
          <a:bodyPr>
            <a:normAutofit fontScale="90000"/>
          </a:bodyPr>
          <a:lstStyle/>
          <a:p>
            <a:r>
              <a:rPr lang="en-US" dirty="0" smtClean="0"/>
              <a:t>Dataset example</a:t>
            </a:r>
            <a:endParaRPr lang="en-US" dirty="0"/>
          </a:p>
        </p:txBody>
      </p:sp>
      <p:sp>
        <p:nvSpPr>
          <p:cNvPr id="5" name="Content Placeholder 4"/>
          <p:cNvSpPr>
            <a:spLocks noGrp="1"/>
          </p:cNvSpPr>
          <p:nvPr>
            <p:ph sz="half" idx="1"/>
          </p:nvPr>
        </p:nvSpPr>
        <p:spPr>
          <a:xfrm>
            <a:off x="187036" y="1018308"/>
            <a:ext cx="5832764" cy="5839691"/>
          </a:xfrm>
        </p:spPr>
        <p:txBody>
          <a:bodyPr>
            <a:noAutofit/>
          </a:bodyPr>
          <a:lstStyle/>
          <a:p>
            <a:pPr marL="0" indent="0">
              <a:buNone/>
            </a:pPr>
            <a:r>
              <a:rPr lang="en-US" sz="1600" dirty="0"/>
              <a:t>from </a:t>
            </a:r>
            <a:r>
              <a:rPr lang="en-US" sz="1600" dirty="0" err="1"/>
              <a:t>pyspark.sql</a:t>
            </a:r>
            <a:r>
              <a:rPr lang="en-US" sz="1600" dirty="0"/>
              <a:t> import </a:t>
            </a:r>
            <a:r>
              <a:rPr lang="en-US" sz="1600" dirty="0" err="1"/>
              <a:t>SparkSession</a:t>
            </a:r>
            <a:endParaRPr lang="en-US" sz="1600" dirty="0"/>
          </a:p>
          <a:p>
            <a:pPr marL="0" indent="0">
              <a:buNone/>
            </a:pPr>
            <a:r>
              <a:rPr lang="en-US" sz="1600" dirty="0"/>
              <a:t>from </a:t>
            </a:r>
            <a:r>
              <a:rPr lang="en-US" sz="1600" dirty="0" err="1"/>
              <a:t>pyspark.sql</a:t>
            </a:r>
            <a:r>
              <a:rPr lang="en-US" sz="1600" dirty="0"/>
              <a:t> import Row</a:t>
            </a:r>
          </a:p>
          <a:p>
            <a:pPr marL="0" indent="0">
              <a:buNone/>
            </a:pPr>
            <a:r>
              <a:rPr lang="en-US" sz="1600" b="1" dirty="0" smtClean="0"/>
              <a:t># </a:t>
            </a:r>
            <a:r>
              <a:rPr lang="en-US" sz="1600" b="1" dirty="0"/>
              <a:t>Create a Spark session</a:t>
            </a:r>
          </a:p>
          <a:p>
            <a:pPr marL="0" indent="0">
              <a:buNone/>
            </a:pPr>
            <a:r>
              <a:rPr lang="en-US" sz="1600" dirty="0"/>
              <a:t>spark = </a:t>
            </a:r>
            <a:r>
              <a:rPr lang="en-US" sz="1600" dirty="0" err="1"/>
              <a:t>SparkSession.builder</a:t>
            </a:r>
            <a:r>
              <a:rPr lang="en-US" sz="1600" dirty="0"/>
              <a:t> \</a:t>
            </a:r>
          </a:p>
          <a:p>
            <a:pPr marL="0" indent="0">
              <a:buNone/>
            </a:pPr>
            <a:r>
              <a:rPr lang="en-US" sz="1600" dirty="0"/>
              <a:t>    .</a:t>
            </a:r>
            <a:r>
              <a:rPr lang="en-US" sz="1600" dirty="0" err="1"/>
              <a:t>appName</a:t>
            </a:r>
            <a:r>
              <a:rPr lang="en-US" sz="1600" dirty="0"/>
              <a:t>("</a:t>
            </a:r>
            <a:r>
              <a:rPr lang="en-US" sz="1600" dirty="0" err="1"/>
              <a:t>TypeSafeDatasetExample</a:t>
            </a:r>
            <a:r>
              <a:rPr lang="en-US" sz="1600" dirty="0"/>
              <a:t>") \</a:t>
            </a:r>
          </a:p>
          <a:p>
            <a:pPr marL="0" indent="0">
              <a:buNone/>
            </a:pPr>
            <a:r>
              <a:rPr lang="en-US" sz="1600" dirty="0"/>
              <a:t>    .</a:t>
            </a:r>
            <a:r>
              <a:rPr lang="en-US" sz="1600" dirty="0" err="1"/>
              <a:t>getOrCreate</a:t>
            </a:r>
            <a:r>
              <a:rPr lang="en-US" sz="1600" dirty="0"/>
              <a:t>()</a:t>
            </a:r>
          </a:p>
          <a:p>
            <a:pPr marL="0" indent="0">
              <a:buNone/>
            </a:pPr>
            <a:r>
              <a:rPr lang="en-US" sz="1600" b="1" dirty="0" smtClean="0"/>
              <a:t># </a:t>
            </a:r>
            <a:r>
              <a:rPr lang="en-US" sz="1600" b="1" dirty="0"/>
              <a:t>Define data as a list of Row objects</a:t>
            </a:r>
          </a:p>
          <a:p>
            <a:pPr marL="0" indent="0">
              <a:buNone/>
            </a:pPr>
            <a:r>
              <a:rPr lang="en-US" sz="1600" dirty="0"/>
              <a:t>data = </a:t>
            </a:r>
            <a:r>
              <a:rPr lang="en-US" sz="1600" dirty="0" smtClean="0"/>
              <a:t>[     Row(id=1</a:t>
            </a:r>
            <a:r>
              <a:rPr lang="en-US" sz="1600" dirty="0"/>
              <a:t>, name='Alice', age=30),</a:t>
            </a:r>
          </a:p>
          <a:p>
            <a:pPr marL="0" indent="0">
              <a:buNone/>
            </a:pPr>
            <a:r>
              <a:rPr lang="en-US" sz="1600" dirty="0"/>
              <a:t>    Row(id=2, name='Bob', age=25),</a:t>
            </a:r>
          </a:p>
          <a:p>
            <a:pPr marL="0" indent="0">
              <a:buNone/>
            </a:pPr>
            <a:r>
              <a:rPr lang="en-US" sz="1600" dirty="0"/>
              <a:t>    Row(id=3, name='Charlie', age=35</a:t>
            </a:r>
            <a:r>
              <a:rPr lang="en-US" sz="1600" dirty="0" smtClean="0"/>
              <a:t>)      ]</a:t>
            </a:r>
            <a:endParaRPr lang="en-US" sz="1600" dirty="0"/>
          </a:p>
          <a:p>
            <a:pPr marL="0" indent="0">
              <a:buNone/>
            </a:pPr>
            <a:r>
              <a:rPr lang="en-US" sz="1600" b="1" dirty="0" smtClean="0"/>
              <a:t># </a:t>
            </a:r>
            <a:r>
              <a:rPr lang="en-US" sz="1600" b="1" dirty="0"/>
              <a:t>Create a </a:t>
            </a:r>
            <a:r>
              <a:rPr lang="en-US" sz="1600" b="1" dirty="0" err="1"/>
              <a:t>DataFrame</a:t>
            </a:r>
            <a:r>
              <a:rPr lang="en-US" sz="1600" b="1" dirty="0"/>
              <a:t> from the list of Rows</a:t>
            </a:r>
          </a:p>
          <a:p>
            <a:pPr marL="0" indent="0">
              <a:buNone/>
            </a:pPr>
            <a:r>
              <a:rPr lang="en-US" sz="1600" dirty="0" err="1"/>
              <a:t>df</a:t>
            </a:r>
            <a:r>
              <a:rPr lang="en-US" sz="1600" dirty="0"/>
              <a:t> = </a:t>
            </a:r>
            <a:r>
              <a:rPr lang="en-US" sz="1600" dirty="0" err="1" smtClean="0"/>
              <a:t>spark.createDataFrame</a:t>
            </a:r>
            <a:r>
              <a:rPr lang="en-US" sz="1600" dirty="0" smtClean="0"/>
              <a:t>(data)</a:t>
            </a:r>
          </a:p>
          <a:p>
            <a:pPr marL="0" indent="0">
              <a:buNone/>
            </a:pPr>
            <a:r>
              <a:rPr lang="en-US" sz="1600" b="1" dirty="0"/>
              <a:t># Convert </a:t>
            </a:r>
            <a:r>
              <a:rPr lang="en-US" sz="1600" b="1" dirty="0" err="1"/>
              <a:t>DataFrame</a:t>
            </a:r>
            <a:r>
              <a:rPr lang="en-US" sz="1600" b="1" dirty="0"/>
              <a:t> to a Dataset of Person objects using </a:t>
            </a:r>
            <a:r>
              <a:rPr lang="en-US" sz="1600" b="1" dirty="0" err="1"/>
              <a:t>asDict</a:t>
            </a:r>
            <a:r>
              <a:rPr lang="en-US" sz="1600" b="1" dirty="0"/>
              <a:t>()</a:t>
            </a:r>
          </a:p>
          <a:p>
            <a:pPr marL="0" indent="0">
              <a:buNone/>
            </a:pPr>
            <a:r>
              <a:rPr lang="en-US" sz="1600" dirty="0"/>
              <a:t>from </a:t>
            </a:r>
            <a:r>
              <a:rPr lang="en-US" sz="1600" dirty="0" err="1"/>
              <a:t>pyspark.sql.functions</a:t>
            </a:r>
            <a:r>
              <a:rPr lang="en-US" sz="1600" dirty="0"/>
              <a:t> import </a:t>
            </a:r>
            <a:r>
              <a:rPr lang="en-US" sz="1600" dirty="0" err="1" smtClean="0"/>
              <a:t>asDict</a:t>
            </a:r>
            <a:endParaRPr lang="en-US" sz="1600" dirty="0" smtClean="0"/>
          </a:p>
          <a:p>
            <a:pPr marL="0" indent="0">
              <a:buNone/>
            </a:pPr>
            <a:r>
              <a:rPr lang="en-US" sz="1600" dirty="0" err="1"/>
              <a:t>people_ds</a:t>
            </a:r>
            <a:r>
              <a:rPr lang="en-US" sz="1600" dirty="0"/>
              <a:t> = </a:t>
            </a:r>
            <a:r>
              <a:rPr lang="en-US" sz="1600" dirty="0" err="1"/>
              <a:t>df.select</a:t>
            </a:r>
            <a:r>
              <a:rPr lang="en-US" sz="1600" dirty="0"/>
              <a:t>(</a:t>
            </a:r>
            <a:r>
              <a:rPr lang="en-US" sz="1600" dirty="0" err="1"/>
              <a:t>asDict</a:t>
            </a:r>
            <a:r>
              <a:rPr lang="en-US" sz="1600" dirty="0"/>
              <a:t>(</a:t>
            </a:r>
            <a:r>
              <a:rPr lang="en-US" sz="1600" dirty="0" err="1"/>
              <a:t>df.schema</a:t>
            </a:r>
            <a:r>
              <a:rPr lang="en-US" sz="1600" dirty="0"/>
              <a:t>)).</a:t>
            </a:r>
            <a:r>
              <a:rPr lang="en-US" sz="1600" dirty="0" err="1"/>
              <a:t>rdd.map</a:t>
            </a:r>
            <a:r>
              <a:rPr lang="en-US" sz="1600" dirty="0"/>
              <a:t>(lambda row: Row(**row)).</a:t>
            </a:r>
            <a:r>
              <a:rPr lang="en-US" sz="1600" dirty="0" err="1"/>
              <a:t>toDS</a:t>
            </a:r>
            <a:r>
              <a:rPr lang="en-US" sz="1600" dirty="0"/>
              <a:t>()</a:t>
            </a:r>
            <a:endParaRPr lang="en-US" sz="1600" dirty="0"/>
          </a:p>
          <a:p>
            <a:pPr marL="0" indent="0">
              <a:buNone/>
            </a:pPr>
            <a:endParaRPr lang="en-US" sz="1600" dirty="0"/>
          </a:p>
        </p:txBody>
      </p:sp>
      <p:sp>
        <p:nvSpPr>
          <p:cNvPr id="6" name="Content Placeholder 5"/>
          <p:cNvSpPr>
            <a:spLocks noGrp="1"/>
          </p:cNvSpPr>
          <p:nvPr>
            <p:ph sz="half" idx="2"/>
          </p:nvPr>
        </p:nvSpPr>
        <p:spPr>
          <a:xfrm>
            <a:off x="6172200" y="872836"/>
            <a:ext cx="5181600" cy="5870864"/>
          </a:xfrm>
        </p:spPr>
        <p:txBody>
          <a:bodyPr>
            <a:noAutofit/>
          </a:bodyPr>
          <a:lstStyle/>
          <a:p>
            <a:pPr marL="0" indent="0">
              <a:buNone/>
            </a:pPr>
            <a:r>
              <a:rPr lang="en-US" sz="1400" b="1" dirty="0"/>
              <a:t># Define a case class for the Person schema</a:t>
            </a:r>
          </a:p>
          <a:p>
            <a:pPr marL="0" indent="0">
              <a:buNone/>
            </a:pPr>
            <a:r>
              <a:rPr lang="en-US" sz="1400" dirty="0"/>
              <a:t>from </a:t>
            </a:r>
            <a:r>
              <a:rPr lang="en-US" sz="1400" dirty="0" err="1"/>
              <a:t>pyspark.sql.types</a:t>
            </a:r>
            <a:r>
              <a:rPr lang="en-US" sz="1400" dirty="0"/>
              <a:t> import </a:t>
            </a:r>
            <a:r>
              <a:rPr lang="en-US" sz="1400" dirty="0" err="1"/>
              <a:t>StructType</a:t>
            </a:r>
            <a:r>
              <a:rPr lang="en-US" sz="1400" dirty="0"/>
              <a:t>, </a:t>
            </a:r>
            <a:r>
              <a:rPr lang="en-US" sz="1400" dirty="0" err="1"/>
              <a:t>StructField</a:t>
            </a:r>
            <a:r>
              <a:rPr lang="en-US" sz="1400" dirty="0"/>
              <a:t>, </a:t>
            </a:r>
            <a:r>
              <a:rPr lang="en-US" sz="1400" dirty="0" err="1"/>
              <a:t>IntegerType</a:t>
            </a:r>
            <a:r>
              <a:rPr lang="en-US" sz="1400" dirty="0"/>
              <a:t>, </a:t>
            </a:r>
            <a:r>
              <a:rPr lang="en-US" sz="1400" dirty="0" err="1"/>
              <a:t>StringType</a:t>
            </a:r>
            <a:endParaRPr lang="en-US" sz="1400" dirty="0"/>
          </a:p>
          <a:p>
            <a:pPr marL="0" indent="0">
              <a:buNone/>
            </a:pPr>
            <a:r>
              <a:rPr lang="en-US" sz="1400" dirty="0" smtClean="0"/>
              <a:t>Person </a:t>
            </a:r>
            <a:r>
              <a:rPr lang="en-US" sz="1400" dirty="0"/>
              <a:t>= Row("id", "name", "age")</a:t>
            </a:r>
          </a:p>
          <a:p>
            <a:pPr marL="0" indent="0">
              <a:buNone/>
            </a:pPr>
            <a:r>
              <a:rPr lang="en-US" sz="1400" b="1" dirty="0" smtClean="0"/>
              <a:t># </a:t>
            </a:r>
            <a:r>
              <a:rPr lang="en-US" sz="1400" b="1" dirty="0"/>
              <a:t>Create a Dataset from the list of Person objects</a:t>
            </a:r>
          </a:p>
          <a:p>
            <a:pPr marL="0" indent="0">
              <a:buNone/>
            </a:pPr>
            <a:r>
              <a:rPr lang="en-US" sz="1400" dirty="0" err="1"/>
              <a:t>people_ds</a:t>
            </a:r>
            <a:r>
              <a:rPr lang="en-US" sz="1400" dirty="0"/>
              <a:t> = </a:t>
            </a:r>
            <a:r>
              <a:rPr lang="en-US" sz="1400" dirty="0" err="1"/>
              <a:t>spark.createDataFrame</a:t>
            </a:r>
            <a:r>
              <a:rPr lang="en-US" sz="1400" dirty="0"/>
              <a:t>(data, schema=</a:t>
            </a:r>
            <a:r>
              <a:rPr lang="en-US" sz="1400" dirty="0" err="1"/>
              <a:t>StructType</a:t>
            </a:r>
            <a:r>
              <a:rPr lang="en-US" sz="1400" dirty="0"/>
              <a:t>([</a:t>
            </a:r>
          </a:p>
          <a:p>
            <a:pPr marL="0" indent="0">
              <a:buNone/>
            </a:pPr>
            <a:r>
              <a:rPr lang="en-US" sz="1400" dirty="0"/>
              <a:t>    </a:t>
            </a:r>
            <a:r>
              <a:rPr lang="en-US" sz="1400" dirty="0" err="1"/>
              <a:t>StructField</a:t>
            </a:r>
            <a:r>
              <a:rPr lang="en-US" sz="1400" dirty="0"/>
              <a:t>("id", </a:t>
            </a:r>
            <a:r>
              <a:rPr lang="en-US" sz="1400" dirty="0" err="1"/>
              <a:t>IntegerType</a:t>
            </a:r>
            <a:r>
              <a:rPr lang="en-US" sz="1400" dirty="0"/>
              <a:t>(), True),</a:t>
            </a:r>
          </a:p>
          <a:p>
            <a:pPr marL="0" indent="0">
              <a:buNone/>
            </a:pPr>
            <a:r>
              <a:rPr lang="en-US" sz="1400" dirty="0"/>
              <a:t>    </a:t>
            </a:r>
            <a:r>
              <a:rPr lang="en-US" sz="1400" dirty="0" err="1"/>
              <a:t>StructField</a:t>
            </a:r>
            <a:r>
              <a:rPr lang="en-US" sz="1400" dirty="0"/>
              <a:t>("name", </a:t>
            </a:r>
            <a:r>
              <a:rPr lang="en-US" sz="1400" dirty="0" err="1"/>
              <a:t>StringType</a:t>
            </a:r>
            <a:r>
              <a:rPr lang="en-US" sz="1400" dirty="0"/>
              <a:t>(), True),</a:t>
            </a:r>
          </a:p>
          <a:p>
            <a:pPr marL="0" indent="0">
              <a:buNone/>
            </a:pPr>
            <a:r>
              <a:rPr lang="en-US" sz="1400" dirty="0"/>
              <a:t>    </a:t>
            </a:r>
            <a:r>
              <a:rPr lang="en-US" sz="1400" dirty="0" err="1"/>
              <a:t>StructField</a:t>
            </a:r>
            <a:r>
              <a:rPr lang="en-US" sz="1400" dirty="0"/>
              <a:t>("age", </a:t>
            </a:r>
            <a:r>
              <a:rPr lang="en-US" sz="1400" dirty="0" err="1"/>
              <a:t>IntegerType</a:t>
            </a:r>
            <a:r>
              <a:rPr lang="en-US" sz="1400" dirty="0"/>
              <a:t>(), True)</a:t>
            </a:r>
          </a:p>
          <a:p>
            <a:pPr marL="0" indent="0">
              <a:buNone/>
            </a:pPr>
            <a:r>
              <a:rPr lang="en-US" sz="1400" dirty="0"/>
              <a:t>])).as[Person]</a:t>
            </a:r>
          </a:p>
          <a:p>
            <a:pPr marL="0" indent="0">
              <a:buNone/>
            </a:pPr>
            <a:r>
              <a:rPr lang="en-US" sz="1400" b="1" dirty="0" smtClean="0">
                <a:solidFill>
                  <a:srgbClr val="FF0000"/>
                </a:solidFill>
              </a:rPr>
              <a:t># </a:t>
            </a:r>
            <a:r>
              <a:rPr lang="en-US" sz="1400" b="1" dirty="0">
                <a:solidFill>
                  <a:srgbClr val="FF0000"/>
                </a:solidFill>
              </a:rPr>
              <a:t>Print the Dataset</a:t>
            </a:r>
          </a:p>
          <a:p>
            <a:pPr marL="0" indent="0">
              <a:buNone/>
            </a:pPr>
            <a:r>
              <a:rPr lang="en-US" sz="1400" dirty="0" err="1"/>
              <a:t>people_ds.show</a:t>
            </a:r>
            <a:r>
              <a:rPr lang="en-US" sz="1400" dirty="0"/>
              <a:t>()</a:t>
            </a:r>
          </a:p>
          <a:p>
            <a:pPr marL="0" indent="0">
              <a:buNone/>
            </a:pPr>
            <a:r>
              <a:rPr lang="en-US" sz="1400" b="1" dirty="0" smtClean="0"/>
              <a:t># </a:t>
            </a:r>
            <a:r>
              <a:rPr lang="en-US" sz="1400" b="1" dirty="0"/>
              <a:t>Filter and display people older than 30</a:t>
            </a:r>
          </a:p>
          <a:p>
            <a:pPr marL="0" indent="0">
              <a:buNone/>
            </a:pPr>
            <a:r>
              <a:rPr lang="en-US" sz="1400" dirty="0" err="1"/>
              <a:t>filtered_ds</a:t>
            </a:r>
            <a:r>
              <a:rPr lang="en-US" sz="1400" dirty="0"/>
              <a:t> = </a:t>
            </a:r>
            <a:r>
              <a:rPr lang="en-US" sz="1400" dirty="0" err="1"/>
              <a:t>people_ds.filter</a:t>
            </a:r>
            <a:r>
              <a:rPr lang="en-US" sz="1400" dirty="0"/>
              <a:t>(</a:t>
            </a:r>
            <a:r>
              <a:rPr lang="en-US" sz="1400" dirty="0" err="1"/>
              <a:t>people_ds.age</a:t>
            </a:r>
            <a:r>
              <a:rPr lang="en-US" sz="1400" dirty="0"/>
              <a:t> &gt; 30)</a:t>
            </a:r>
          </a:p>
          <a:p>
            <a:pPr marL="0" indent="0">
              <a:buNone/>
            </a:pPr>
            <a:r>
              <a:rPr lang="en-US" sz="1400" dirty="0" err="1"/>
              <a:t>filtered_ds.show</a:t>
            </a:r>
            <a:r>
              <a:rPr lang="en-US" sz="1400" dirty="0"/>
              <a:t>()</a:t>
            </a:r>
          </a:p>
          <a:p>
            <a:pPr marL="0" indent="0">
              <a:buNone/>
            </a:pPr>
            <a:endParaRPr lang="en-US" sz="1400" b="1" dirty="0"/>
          </a:p>
          <a:p>
            <a:pPr marL="0" indent="0">
              <a:buNone/>
            </a:pPr>
            <a:r>
              <a:rPr lang="en-US" sz="1400" b="1" dirty="0"/>
              <a:t># Stop the Spark session</a:t>
            </a:r>
          </a:p>
          <a:p>
            <a:pPr marL="0" indent="0">
              <a:buNone/>
            </a:pPr>
            <a:r>
              <a:rPr lang="en-US" sz="1400" dirty="0" err="1"/>
              <a:t>spark.stop</a:t>
            </a:r>
            <a:r>
              <a:rPr lang="en-US" sz="1400" dirty="0"/>
              <a:t>()</a:t>
            </a:r>
          </a:p>
        </p:txBody>
      </p:sp>
    </p:spTree>
    <p:extLst>
      <p:ext uri="{BB962C8B-B14F-4D97-AF65-F5344CB8AC3E}">
        <p14:creationId xmlns:p14="http://schemas.microsoft.com/office/powerpoint/2010/main" val="21975689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 in Scala</a:t>
            </a:r>
          </a:p>
          <a:p>
            <a:pPr marL="457200" lvl="1" indent="0">
              <a:buNone/>
            </a:pPr>
            <a:r>
              <a:rPr lang="en-US" dirty="0" smtClean="0"/>
              <a:t>case class Flight(DEST_COUNTRY_NAME: String,</a:t>
            </a:r>
          </a:p>
          <a:p>
            <a:pPr marL="457200" lvl="1" indent="0">
              <a:buNone/>
            </a:pPr>
            <a:r>
              <a:rPr lang="en-US" dirty="0" smtClean="0"/>
              <a:t>ORIGIN_COUNTRY_NAME: String,</a:t>
            </a:r>
          </a:p>
          <a:p>
            <a:pPr marL="457200" lvl="1" indent="0">
              <a:buNone/>
            </a:pPr>
            <a:r>
              <a:rPr lang="en-US" dirty="0" smtClean="0"/>
              <a:t>count: </a:t>
            </a:r>
            <a:r>
              <a:rPr lang="en-US" dirty="0" err="1" smtClean="0"/>
              <a:t>BigInt</a:t>
            </a:r>
            <a:r>
              <a:rPr lang="en-US" dirty="0" smtClean="0"/>
              <a:t>)</a:t>
            </a:r>
          </a:p>
          <a:p>
            <a:pPr marL="457200" lvl="1" indent="0">
              <a:buNone/>
            </a:pPr>
            <a:r>
              <a:rPr lang="en-US" dirty="0" err="1" smtClean="0"/>
              <a:t>val</a:t>
            </a:r>
            <a:r>
              <a:rPr lang="en-US" dirty="0" smtClean="0"/>
              <a:t> </a:t>
            </a:r>
            <a:r>
              <a:rPr lang="en-US" dirty="0" err="1" smtClean="0"/>
              <a:t>flightsDF</a:t>
            </a:r>
            <a:r>
              <a:rPr lang="en-US" dirty="0" smtClean="0"/>
              <a:t> = </a:t>
            </a:r>
            <a:r>
              <a:rPr lang="en-US" dirty="0" err="1" smtClean="0"/>
              <a:t>spark.read</a:t>
            </a:r>
            <a:endParaRPr lang="en-US" dirty="0" smtClean="0"/>
          </a:p>
          <a:p>
            <a:pPr marL="457200" lvl="1" indent="0">
              <a:buNone/>
            </a:pPr>
            <a:r>
              <a:rPr lang="en-US" dirty="0" smtClean="0"/>
              <a:t>.parquet("/data/flight-data/parquet/2010-summary.parquet/")</a:t>
            </a:r>
          </a:p>
          <a:p>
            <a:pPr marL="457200" lvl="1" indent="0">
              <a:buNone/>
            </a:pPr>
            <a:r>
              <a:rPr lang="en-US" dirty="0" err="1" smtClean="0"/>
              <a:t>val</a:t>
            </a:r>
            <a:r>
              <a:rPr lang="en-US" dirty="0" smtClean="0"/>
              <a:t> flights = flightsDF.as[Flight]</a:t>
            </a:r>
          </a:p>
          <a:p>
            <a:endParaRPr lang="en-US" dirty="0"/>
          </a:p>
        </p:txBody>
      </p:sp>
    </p:spTree>
    <p:extLst>
      <p:ext uri="{BB962C8B-B14F-4D97-AF65-F5344CB8AC3E}">
        <p14:creationId xmlns:p14="http://schemas.microsoft.com/office/powerpoint/2010/main" val="15901947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2509" y="706582"/>
            <a:ext cx="11575473" cy="5808518"/>
          </a:xfrm>
        </p:spPr>
        <p:txBody>
          <a:bodyPr>
            <a:normAutofit fontScale="92500" lnSpcReduction="10000"/>
          </a:bodyPr>
          <a:lstStyle/>
          <a:p>
            <a:r>
              <a:rPr lang="en-US" dirty="0" smtClean="0"/>
              <a:t>One final advantage is that when you call collect or take on a Dataset, it will collect objects of the proper type in your Dataset, not </a:t>
            </a:r>
            <a:r>
              <a:rPr lang="en-US" dirty="0" err="1" smtClean="0"/>
              <a:t>DataFrame</a:t>
            </a:r>
            <a:r>
              <a:rPr lang="en-US" dirty="0" smtClean="0"/>
              <a:t> Rows. This makes it easy to get type safety and securely perform manipulation in a distributed and a local manner without code changes:</a:t>
            </a:r>
          </a:p>
          <a:p>
            <a:pPr marL="0" indent="0">
              <a:buNone/>
            </a:pPr>
            <a:r>
              <a:rPr lang="en-US" dirty="0" smtClean="0">
                <a:solidFill>
                  <a:srgbClr val="FF0000"/>
                </a:solidFill>
              </a:rPr>
              <a:t>// in Scala</a:t>
            </a:r>
          </a:p>
          <a:p>
            <a:r>
              <a:rPr lang="en-US" dirty="0" smtClean="0"/>
              <a:t>flights</a:t>
            </a:r>
          </a:p>
          <a:p>
            <a:pPr marL="0" indent="0">
              <a:buNone/>
            </a:pPr>
            <a:r>
              <a:rPr lang="en-US" dirty="0" smtClean="0"/>
              <a:t>.filter(</a:t>
            </a:r>
            <a:r>
              <a:rPr lang="en-US" dirty="0" err="1" smtClean="0"/>
              <a:t>flight_row</a:t>
            </a:r>
            <a:r>
              <a:rPr lang="en-US" dirty="0" smtClean="0"/>
              <a:t> =&gt; </a:t>
            </a:r>
            <a:r>
              <a:rPr lang="en-US" dirty="0" err="1" smtClean="0"/>
              <a:t>flight_row.ORIGIN_COUNTRY_NAME</a:t>
            </a:r>
            <a:r>
              <a:rPr lang="en-US" dirty="0" smtClean="0"/>
              <a:t> != "Canada")</a:t>
            </a:r>
          </a:p>
          <a:p>
            <a:pPr marL="0" indent="0">
              <a:buNone/>
            </a:pPr>
            <a:r>
              <a:rPr lang="en-US" dirty="0" smtClean="0"/>
              <a:t>.map(</a:t>
            </a:r>
            <a:r>
              <a:rPr lang="en-US" dirty="0" err="1" smtClean="0"/>
              <a:t>flight_row</a:t>
            </a:r>
            <a:r>
              <a:rPr lang="en-US" dirty="0" smtClean="0"/>
              <a:t> =&gt; </a:t>
            </a:r>
            <a:r>
              <a:rPr lang="en-US" dirty="0" err="1" smtClean="0"/>
              <a:t>flight_row</a:t>
            </a:r>
            <a:r>
              <a:rPr lang="en-US" dirty="0" smtClean="0"/>
              <a:t>)</a:t>
            </a:r>
          </a:p>
          <a:p>
            <a:pPr marL="0" indent="0">
              <a:buNone/>
            </a:pPr>
            <a:r>
              <a:rPr lang="en-US" dirty="0" smtClean="0"/>
              <a:t>.take(5)</a:t>
            </a:r>
          </a:p>
          <a:p>
            <a:r>
              <a:rPr lang="en-US" dirty="0" smtClean="0"/>
              <a:t>flights</a:t>
            </a:r>
          </a:p>
          <a:p>
            <a:pPr marL="0" indent="0">
              <a:buNone/>
            </a:pPr>
            <a:r>
              <a:rPr lang="en-US" dirty="0" smtClean="0"/>
              <a:t>.take(5)</a:t>
            </a:r>
          </a:p>
          <a:p>
            <a:pPr marL="0" indent="0">
              <a:buNone/>
            </a:pPr>
            <a:r>
              <a:rPr lang="en-US" dirty="0" smtClean="0"/>
              <a:t>.filter(</a:t>
            </a:r>
            <a:r>
              <a:rPr lang="en-US" dirty="0" err="1" smtClean="0"/>
              <a:t>flight_row</a:t>
            </a:r>
            <a:r>
              <a:rPr lang="en-US" dirty="0" smtClean="0"/>
              <a:t> =&gt; </a:t>
            </a:r>
            <a:r>
              <a:rPr lang="en-US" dirty="0" err="1" smtClean="0"/>
              <a:t>flight_row.ORIGIN_COUNTRY_NAME</a:t>
            </a:r>
            <a:r>
              <a:rPr lang="en-US" dirty="0" smtClean="0"/>
              <a:t> != "Canada")</a:t>
            </a:r>
          </a:p>
          <a:p>
            <a:pPr marL="0" indent="0">
              <a:buNone/>
            </a:pPr>
            <a:r>
              <a:rPr lang="en-US" dirty="0" smtClean="0"/>
              <a:t>.map(</a:t>
            </a:r>
            <a:r>
              <a:rPr lang="en-US" dirty="0" err="1" smtClean="0"/>
              <a:t>fr</a:t>
            </a:r>
            <a:r>
              <a:rPr lang="en-US" dirty="0" smtClean="0"/>
              <a:t> =&gt; Flight(</a:t>
            </a:r>
            <a:r>
              <a:rPr lang="en-US" dirty="0" err="1" smtClean="0"/>
              <a:t>fr.DEST_COUNTRY_NAME</a:t>
            </a:r>
            <a:r>
              <a:rPr lang="en-US" dirty="0" smtClean="0"/>
              <a:t>, </a:t>
            </a:r>
            <a:r>
              <a:rPr lang="en-US" dirty="0" err="1" smtClean="0"/>
              <a:t>fr.ORIGIN_COUNTRY_NAME</a:t>
            </a:r>
            <a:r>
              <a:rPr lang="en-US" dirty="0" smtClean="0"/>
              <a:t>, </a:t>
            </a:r>
            <a:r>
              <a:rPr lang="en-US" dirty="0" err="1" smtClean="0"/>
              <a:t>fr.count</a:t>
            </a:r>
            <a:r>
              <a:rPr lang="en-US" dirty="0" smtClean="0"/>
              <a:t> + 5))</a:t>
            </a:r>
            <a:endParaRPr lang="en-US" dirty="0"/>
          </a:p>
        </p:txBody>
      </p:sp>
    </p:spTree>
    <p:extLst>
      <p:ext uri="{BB962C8B-B14F-4D97-AF65-F5344CB8AC3E}">
        <p14:creationId xmlns:p14="http://schemas.microsoft.com/office/powerpoint/2010/main" val="18150988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356838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6258656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40660630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a:solidFill>
                  <a:srgbClr val="FF0000"/>
                </a:solidFill>
              </a:rPr>
              <a:t>Machine Learning and Advanced Analytics</a:t>
            </a:r>
            <a:r>
              <a:rPr lang="en-US" dirty="0"/>
              <a:t/>
            </a:r>
            <a:br>
              <a:rPr lang="en-US" dirty="0"/>
            </a:br>
            <a:endParaRPr lang="en-US" dirty="0"/>
          </a:p>
        </p:txBody>
      </p:sp>
      <p:sp>
        <p:nvSpPr>
          <p:cNvPr id="3" name="Content Placeholder 2"/>
          <p:cNvSpPr>
            <a:spLocks noGrp="1"/>
          </p:cNvSpPr>
          <p:nvPr>
            <p:ph idx="1"/>
          </p:nvPr>
        </p:nvSpPr>
        <p:spPr>
          <a:xfrm>
            <a:off x="838200" y="1163782"/>
            <a:ext cx="10515600" cy="5013181"/>
          </a:xfrm>
        </p:spPr>
        <p:txBody>
          <a:bodyPr>
            <a:normAutofit/>
          </a:bodyPr>
          <a:lstStyle/>
          <a:p>
            <a:r>
              <a:rPr lang="en-US" dirty="0" smtClean="0"/>
              <a:t>Another </a:t>
            </a:r>
            <a:r>
              <a:rPr lang="en-US" dirty="0"/>
              <a:t>popular aspect of Spark is its ability to perform large-scale machine learning with </a:t>
            </a:r>
            <a:r>
              <a:rPr lang="en-US" dirty="0" smtClean="0"/>
              <a:t>a built-in </a:t>
            </a:r>
            <a:r>
              <a:rPr lang="en-US" dirty="0"/>
              <a:t>library of machine learning algorithms called </a:t>
            </a:r>
            <a:r>
              <a:rPr lang="en-US" dirty="0" err="1"/>
              <a:t>MLlib</a:t>
            </a:r>
            <a:r>
              <a:rPr lang="en-US" dirty="0"/>
              <a:t>. </a:t>
            </a:r>
            <a:endParaRPr lang="en-US" dirty="0" smtClean="0"/>
          </a:p>
          <a:p>
            <a:r>
              <a:rPr lang="en-US" dirty="0" err="1" smtClean="0"/>
              <a:t>MLlib</a:t>
            </a:r>
            <a:r>
              <a:rPr lang="en-US" dirty="0" smtClean="0"/>
              <a:t> </a:t>
            </a:r>
            <a:r>
              <a:rPr lang="en-US" dirty="0"/>
              <a:t>allows for </a:t>
            </a:r>
            <a:r>
              <a:rPr lang="en-US" dirty="0" smtClean="0"/>
              <a:t>preprocessing, munging</a:t>
            </a:r>
            <a:r>
              <a:rPr lang="en-US" dirty="0"/>
              <a:t>, training of models, and making predictions at scale on data. </a:t>
            </a:r>
            <a:endParaRPr lang="en-US" dirty="0" smtClean="0"/>
          </a:p>
          <a:p>
            <a:r>
              <a:rPr lang="en-US" dirty="0" smtClean="0"/>
              <a:t>You </a:t>
            </a:r>
            <a:r>
              <a:rPr lang="en-US" dirty="0"/>
              <a:t>can even use </a:t>
            </a:r>
            <a:r>
              <a:rPr lang="en-US" dirty="0" smtClean="0"/>
              <a:t>models trained </a:t>
            </a:r>
            <a:r>
              <a:rPr lang="en-US" dirty="0"/>
              <a:t>in </a:t>
            </a:r>
            <a:r>
              <a:rPr lang="en-US" dirty="0" err="1"/>
              <a:t>MLlib</a:t>
            </a:r>
            <a:r>
              <a:rPr lang="en-US" dirty="0"/>
              <a:t> to make predictions in </a:t>
            </a:r>
            <a:r>
              <a:rPr lang="en-US" dirty="0" err="1"/>
              <a:t>Strucutred</a:t>
            </a:r>
            <a:r>
              <a:rPr lang="en-US" dirty="0"/>
              <a:t> Streaming. Spark provides a </a:t>
            </a:r>
            <a:r>
              <a:rPr lang="en-US" dirty="0" smtClean="0"/>
              <a:t>sophisticated machine </a:t>
            </a:r>
            <a:r>
              <a:rPr lang="en-US" dirty="0"/>
              <a:t>learning API for performing a variety of machine learning tasks, from classification </a:t>
            </a:r>
            <a:r>
              <a:rPr lang="en-US" dirty="0" err="1" smtClean="0"/>
              <a:t>toregression</a:t>
            </a:r>
            <a:r>
              <a:rPr lang="en-US" dirty="0"/>
              <a:t>, and clustering to deep learning</a:t>
            </a:r>
            <a:r>
              <a:rPr lang="en-US" dirty="0" smtClean="0"/>
              <a:t>.</a:t>
            </a:r>
          </a:p>
          <a:p>
            <a:r>
              <a:rPr lang="en-US" dirty="0" smtClean="0"/>
              <a:t> </a:t>
            </a:r>
            <a:r>
              <a:rPr lang="en-US" dirty="0"/>
              <a:t>To demonstrate this functionality, we will </a:t>
            </a:r>
            <a:r>
              <a:rPr lang="en-US" dirty="0" smtClean="0"/>
              <a:t>perform some </a:t>
            </a:r>
            <a:r>
              <a:rPr lang="en-US" dirty="0"/>
              <a:t>basic clustering on our data using a standard algorithm </a:t>
            </a:r>
            <a:r>
              <a:rPr lang="en-US" dirty="0" smtClean="0"/>
              <a:t>called k-means</a:t>
            </a:r>
            <a:r>
              <a:rPr lang="en-US" dirty="0"/>
              <a:t>.</a:t>
            </a:r>
          </a:p>
        </p:txBody>
      </p:sp>
    </p:spTree>
    <p:extLst>
      <p:ext uri="{BB962C8B-B14F-4D97-AF65-F5344CB8AC3E}">
        <p14:creationId xmlns:p14="http://schemas.microsoft.com/office/powerpoint/2010/main" val="1617177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r>
              <a:rPr lang="en-US" dirty="0"/>
              <a:t>WHAT IS K-MEANS?</a:t>
            </a:r>
          </a:p>
          <a:p>
            <a:r>
              <a:rPr lang="en-US" dirty="0" smtClean="0"/>
              <a:t>k-means </a:t>
            </a:r>
            <a:r>
              <a:rPr lang="en-US" dirty="0"/>
              <a:t>is a clustering algorithm in which </a:t>
            </a:r>
            <a:r>
              <a:rPr lang="en-US" dirty="0" smtClean="0"/>
              <a:t>“k” </a:t>
            </a:r>
            <a:r>
              <a:rPr lang="en-US" dirty="0"/>
              <a:t>centers are randomly assigned within the data. </a:t>
            </a:r>
            <a:endParaRPr lang="en-US" dirty="0" smtClean="0"/>
          </a:p>
          <a:p>
            <a:r>
              <a:rPr lang="en-US" dirty="0" err="1" smtClean="0"/>
              <a:t>Thepoints</a:t>
            </a:r>
            <a:r>
              <a:rPr lang="en-US" dirty="0" smtClean="0"/>
              <a:t> </a:t>
            </a:r>
            <a:r>
              <a:rPr lang="en-US" dirty="0"/>
              <a:t>closest to that point are then “assigned” to a class and the center of the assigned points </a:t>
            </a:r>
            <a:r>
              <a:rPr lang="en-US" dirty="0" smtClean="0"/>
              <a:t>is computed</a:t>
            </a:r>
            <a:r>
              <a:rPr lang="en-US" dirty="0"/>
              <a:t>. This center point is called the centroid. </a:t>
            </a:r>
            <a:endParaRPr lang="en-US" dirty="0" smtClean="0"/>
          </a:p>
          <a:p>
            <a:r>
              <a:rPr lang="en-US" dirty="0" smtClean="0"/>
              <a:t>We </a:t>
            </a:r>
            <a:r>
              <a:rPr lang="en-US" dirty="0"/>
              <a:t>then label the points closest to that centroid, </a:t>
            </a:r>
            <a:r>
              <a:rPr lang="en-US" dirty="0" smtClean="0"/>
              <a:t>to the </a:t>
            </a:r>
            <a:r>
              <a:rPr lang="en-US" dirty="0"/>
              <a:t>centroid’s class, and shift the centroid to the new center of that cluster of points. </a:t>
            </a:r>
            <a:endParaRPr lang="en-US" dirty="0" smtClean="0"/>
          </a:p>
          <a:p>
            <a:r>
              <a:rPr lang="en-US" dirty="0" smtClean="0"/>
              <a:t>We </a:t>
            </a:r>
            <a:r>
              <a:rPr lang="en-US" dirty="0"/>
              <a:t>repeat </a:t>
            </a:r>
            <a:r>
              <a:rPr lang="en-US" dirty="0" smtClean="0"/>
              <a:t>this process </a:t>
            </a:r>
            <a:r>
              <a:rPr lang="en-US" dirty="0"/>
              <a:t>for a finite set of iterations or until convergence (our center points stop changing).</a:t>
            </a:r>
          </a:p>
          <a:p>
            <a:endParaRPr lang="en-US" dirty="0"/>
          </a:p>
        </p:txBody>
      </p:sp>
    </p:spTree>
    <p:extLst>
      <p:ext uri="{BB962C8B-B14F-4D97-AF65-F5344CB8AC3E}">
        <p14:creationId xmlns:p14="http://schemas.microsoft.com/office/powerpoint/2010/main" val="41884413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9773" y="301336"/>
            <a:ext cx="11094027" cy="5875627"/>
          </a:xfrm>
        </p:spPr>
        <p:txBody>
          <a:bodyPr/>
          <a:lstStyle/>
          <a:p>
            <a:r>
              <a:rPr lang="en-US" dirty="0"/>
              <a:t>Spark includes a number of preprocessing methods out of the box. To demonstrate </a:t>
            </a:r>
            <a:r>
              <a:rPr lang="en-US" dirty="0" smtClean="0"/>
              <a:t>these methods</a:t>
            </a:r>
            <a:r>
              <a:rPr lang="en-US" dirty="0"/>
              <a:t>, we will begin with some raw data, build up transformations before getting the data </a:t>
            </a:r>
            <a:r>
              <a:rPr lang="en-US" dirty="0" smtClean="0"/>
              <a:t>into the </a:t>
            </a:r>
            <a:r>
              <a:rPr lang="en-US" dirty="0"/>
              <a:t>right format, at which point we can actually train our model and then serve predictions:</a:t>
            </a:r>
          </a:p>
          <a:p>
            <a:pPr marL="0" indent="0">
              <a:buNone/>
            </a:pPr>
            <a:r>
              <a:rPr lang="en-US" dirty="0" smtClean="0"/>
              <a:t>	</a:t>
            </a:r>
            <a:r>
              <a:rPr lang="en-US" dirty="0" err="1" smtClean="0">
                <a:solidFill>
                  <a:srgbClr val="FF0000"/>
                </a:solidFill>
              </a:rPr>
              <a:t>staticDataFrame.printSchema</a:t>
            </a:r>
            <a:r>
              <a:rPr lang="en-US" dirty="0" smtClean="0">
                <a:solidFill>
                  <a:srgbClr val="FF0000"/>
                </a:solidFill>
              </a:rPr>
              <a:t>()</a:t>
            </a:r>
          </a:p>
          <a:p>
            <a:pPr marL="0" indent="0">
              <a:buNone/>
            </a:pPr>
            <a:endParaRPr lang="en-US" dirty="0">
              <a:solidFill>
                <a:srgbClr val="FF0000"/>
              </a:solidFill>
            </a:endParaRPr>
          </a:p>
        </p:txBody>
      </p:sp>
      <p:pic>
        <p:nvPicPr>
          <p:cNvPr id="4" name="Picture 3"/>
          <p:cNvPicPr>
            <a:picLocks noChangeAspect="1"/>
          </p:cNvPicPr>
          <p:nvPr/>
        </p:nvPicPr>
        <p:blipFill>
          <a:blip r:embed="rId2"/>
          <a:stretch>
            <a:fillRect/>
          </a:stretch>
        </p:blipFill>
        <p:spPr>
          <a:xfrm>
            <a:off x="1448233" y="2618075"/>
            <a:ext cx="5783840" cy="2805979"/>
          </a:xfrm>
          <a:prstGeom prst="rect">
            <a:avLst/>
          </a:prstGeom>
        </p:spPr>
      </p:pic>
    </p:spTree>
    <p:extLst>
      <p:ext uri="{BB962C8B-B14F-4D97-AF65-F5344CB8AC3E}">
        <p14:creationId xmlns:p14="http://schemas.microsoft.com/office/powerpoint/2010/main" val="10012329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3909" y="83127"/>
            <a:ext cx="11249891" cy="6093836"/>
          </a:xfrm>
        </p:spPr>
        <p:txBody>
          <a:bodyPr/>
          <a:lstStyle/>
          <a:p>
            <a:r>
              <a:rPr lang="en-US" dirty="0"/>
              <a:t>Machine learning algorithms in </a:t>
            </a:r>
            <a:r>
              <a:rPr lang="en-US" dirty="0" err="1"/>
              <a:t>MLlib</a:t>
            </a:r>
            <a:r>
              <a:rPr lang="en-US" dirty="0"/>
              <a:t> require that data is represented as numerical values. </a:t>
            </a:r>
            <a:r>
              <a:rPr lang="en-US" dirty="0" smtClean="0"/>
              <a:t>Our current </a:t>
            </a:r>
            <a:r>
              <a:rPr lang="en-US" dirty="0"/>
              <a:t>data is represented by a variety of different types, including timestamps, integers, </a:t>
            </a:r>
            <a:r>
              <a:rPr lang="en-US" dirty="0" smtClean="0"/>
              <a:t>and strings</a:t>
            </a:r>
            <a:r>
              <a:rPr lang="en-US" dirty="0"/>
              <a:t>. Therefore we need to transform this data into some numerical representation. In </a:t>
            </a:r>
            <a:r>
              <a:rPr lang="en-US" dirty="0" smtClean="0"/>
              <a:t>this instance</a:t>
            </a:r>
            <a:r>
              <a:rPr lang="en-US" dirty="0"/>
              <a:t>, we’ll use several </a:t>
            </a:r>
            <a:r>
              <a:rPr lang="en-US" dirty="0" err="1"/>
              <a:t>DataFrame</a:t>
            </a:r>
            <a:r>
              <a:rPr lang="en-US" dirty="0"/>
              <a:t> transformations to manipulate our date data:</a:t>
            </a:r>
          </a:p>
        </p:txBody>
      </p:sp>
      <p:pic>
        <p:nvPicPr>
          <p:cNvPr id="4" name="Picture 3"/>
          <p:cNvPicPr>
            <a:picLocks noChangeAspect="1"/>
          </p:cNvPicPr>
          <p:nvPr/>
        </p:nvPicPr>
        <p:blipFill>
          <a:blip r:embed="rId2"/>
          <a:stretch>
            <a:fillRect/>
          </a:stretch>
        </p:blipFill>
        <p:spPr>
          <a:xfrm>
            <a:off x="841664" y="2861829"/>
            <a:ext cx="8562109" cy="2447926"/>
          </a:xfrm>
          <a:prstGeom prst="rect">
            <a:avLst/>
          </a:prstGeom>
        </p:spPr>
      </p:pic>
    </p:spTree>
    <p:extLst>
      <p:ext uri="{BB962C8B-B14F-4D97-AF65-F5344CB8AC3E}">
        <p14:creationId xmlns:p14="http://schemas.microsoft.com/office/powerpoint/2010/main" val="9211348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9382" y="207818"/>
            <a:ext cx="11104418" cy="5969145"/>
          </a:xfrm>
        </p:spPr>
        <p:txBody>
          <a:bodyPr/>
          <a:lstStyle/>
          <a:p>
            <a:r>
              <a:rPr lang="en-US" dirty="0"/>
              <a:t>We are also going to need to split the data into training and test sets. In this instance, we </a:t>
            </a:r>
            <a:r>
              <a:rPr lang="en-US" dirty="0" smtClean="0"/>
              <a:t>are going </a:t>
            </a:r>
            <a:r>
              <a:rPr lang="en-US" dirty="0"/>
              <a:t>to do this manually by the date on which a certain purchase occurred; however, we </a:t>
            </a:r>
            <a:r>
              <a:rPr lang="en-US" dirty="0" smtClean="0"/>
              <a:t>could also </a:t>
            </a:r>
            <a:r>
              <a:rPr lang="en-US" dirty="0"/>
              <a:t>use </a:t>
            </a:r>
            <a:r>
              <a:rPr lang="en-US" dirty="0" err="1"/>
              <a:t>MLlib’s</a:t>
            </a:r>
            <a:r>
              <a:rPr lang="en-US" dirty="0"/>
              <a:t> transformation APIs to create a training and test set via train validation splits </a:t>
            </a:r>
            <a:r>
              <a:rPr lang="en-US" dirty="0" smtClean="0"/>
              <a:t>or cross </a:t>
            </a:r>
            <a:r>
              <a:rPr lang="en-US" dirty="0"/>
              <a:t>validation</a:t>
            </a:r>
          </a:p>
        </p:txBody>
      </p:sp>
      <p:pic>
        <p:nvPicPr>
          <p:cNvPr id="4" name="Picture 3"/>
          <p:cNvPicPr>
            <a:picLocks noChangeAspect="1"/>
          </p:cNvPicPr>
          <p:nvPr/>
        </p:nvPicPr>
        <p:blipFill>
          <a:blip r:embed="rId2"/>
          <a:stretch>
            <a:fillRect/>
          </a:stretch>
        </p:blipFill>
        <p:spPr>
          <a:xfrm>
            <a:off x="4305732" y="1724891"/>
            <a:ext cx="4245986" cy="2124508"/>
          </a:xfrm>
          <a:prstGeom prst="rect">
            <a:avLst/>
          </a:prstGeom>
        </p:spPr>
      </p:pic>
      <p:sp>
        <p:nvSpPr>
          <p:cNvPr id="5" name="Rectangle 4"/>
          <p:cNvSpPr/>
          <p:nvPr/>
        </p:nvSpPr>
        <p:spPr>
          <a:xfrm>
            <a:off x="606136" y="4037875"/>
            <a:ext cx="9608128" cy="2031325"/>
          </a:xfrm>
          <a:prstGeom prst="rect">
            <a:avLst/>
          </a:prstGeom>
        </p:spPr>
        <p:txBody>
          <a:bodyPr wrap="square">
            <a:spAutoFit/>
          </a:bodyPr>
          <a:lstStyle/>
          <a:p>
            <a:r>
              <a:rPr lang="en-US" dirty="0"/>
              <a:t>Now that we’ve prepared the data, let’s split it into a training and test set. Because this is a time–</a:t>
            </a:r>
          </a:p>
          <a:p>
            <a:r>
              <a:rPr lang="en-US" dirty="0"/>
              <a:t>series set of data, we will split by an arbitrary date in the dataset. Although this might not be the</a:t>
            </a:r>
          </a:p>
          <a:p>
            <a:r>
              <a:rPr lang="en-US" dirty="0"/>
              <a:t>optimal split for our training and test, for the intents and purposes of this example it will work</a:t>
            </a:r>
          </a:p>
          <a:p>
            <a:r>
              <a:rPr lang="en-US" dirty="0"/>
              <a:t>just fine. </a:t>
            </a:r>
            <a:endParaRPr lang="en-US" dirty="0" smtClean="0"/>
          </a:p>
          <a:p>
            <a:r>
              <a:rPr lang="en-US" dirty="0" smtClean="0"/>
              <a:t>We’ll </a:t>
            </a:r>
            <a:r>
              <a:rPr lang="en-US" dirty="0"/>
              <a:t>see that this splits our dataset roughly in half:</a:t>
            </a:r>
          </a:p>
          <a:p>
            <a:pPr lvl="3"/>
            <a:r>
              <a:rPr lang="en-US" b="1" dirty="0" err="1">
                <a:solidFill>
                  <a:srgbClr val="FF0000"/>
                </a:solidFill>
              </a:rPr>
              <a:t>trainDataFrame.count</a:t>
            </a:r>
            <a:r>
              <a:rPr lang="en-US" b="1" dirty="0">
                <a:solidFill>
                  <a:srgbClr val="FF0000"/>
                </a:solidFill>
              </a:rPr>
              <a:t>()</a:t>
            </a:r>
          </a:p>
          <a:p>
            <a:pPr lvl="3"/>
            <a:r>
              <a:rPr lang="en-US" b="1" dirty="0" err="1">
                <a:solidFill>
                  <a:srgbClr val="FF0000"/>
                </a:solidFill>
              </a:rPr>
              <a:t>testDataFrame.count</a:t>
            </a:r>
            <a:r>
              <a:rPr lang="en-US" b="1" dirty="0">
                <a:solidFill>
                  <a:srgbClr val="FF0000"/>
                </a:solidFill>
              </a:rPr>
              <a:t>()</a:t>
            </a:r>
          </a:p>
        </p:txBody>
      </p:sp>
    </p:spTree>
    <p:extLst>
      <p:ext uri="{BB962C8B-B14F-4D97-AF65-F5344CB8AC3E}">
        <p14:creationId xmlns:p14="http://schemas.microsoft.com/office/powerpoint/2010/main" val="8101433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0164" y="0"/>
            <a:ext cx="11083636" cy="6176963"/>
          </a:xfrm>
        </p:spPr>
        <p:txBody>
          <a:bodyPr/>
          <a:lstStyle/>
          <a:p>
            <a:r>
              <a:rPr lang="en-US" dirty="0" smtClean="0"/>
              <a:t>Spark’s </a:t>
            </a:r>
            <a:r>
              <a:rPr lang="en-US" dirty="0" err="1" smtClean="0"/>
              <a:t>MLlib</a:t>
            </a:r>
            <a:r>
              <a:rPr lang="en-US" dirty="0" smtClean="0"/>
              <a:t> also provides a number of transformations with which we can automate some of our general transformations. One such transformer is a </a:t>
            </a:r>
            <a:r>
              <a:rPr lang="en-US" dirty="0" err="1" smtClean="0"/>
              <a:t>StringIndexer</a:t>
            </a:r>
            <a:r>
              <a:rPr lang="en-US" dirty="0" smtClean="0"/>
              <a:t>:</a:t>
            </a:r>
            <a:endParaRPr lang="en-US" dirty="0"/>
          </a:p>
        </p:txBody>
      </p:sp>
      <p:pic>
        <p:nvPicPr>
          <p:cNvPr id="4" name="Picture 3"/>
          <p:cNvPicPr>
            <a:picLocks noChangeAspect="1"/>
          </p:cNvPicPr>
          <p:nvPr/>
        </p:nvPicPr>
        <p:blipFill>
          <a:blip r:embed="rId2"/>
          <a:stretch>
            <a:fillRect/>
          </a:stretch>
        </p:blipFill>
        <p:spPr>
          <a:xfrm>
            <a:off x="155863" y="1159901"/>
            <a:ext cx="6130637" cy="2161743"/>
          </a:xfrm>
          <a:prstGeom prst="rect">
            <a:avLst/>
          </a:prstGeom>
        </p:spPr>
      </p:pic>
      <p:sp>
        <p:nvSpPr>
          <p:cNvPr id="5" name="Rectangle 4"/>
          <p:cNvSpPr/>
          <p:nvPr/>
        </p:nvSpPr>
        <p:spPr>
          <a:xfrm>
            <a:off x="689264" y="3321644"/>
            <a:ext cx="9940636" cy="2246769"/>
          </a:xfrm>
          <a:prstGeom prst="rect">
            <a:avLst/>
          </a:prstGeom>
        </p:spPr>
        <p:txBody>
          <a:bodyPr wrap="square">
            <a:spAutoFit/>
          </a:bodyPr>
          <a:lstStyle/>
          <a:p>
            <a:r>
              <a:rPr lang="en-US" sz="2000" dirty="0"/>
              <a:t>This will turn our days of weeks into corresponding numerical values</a:t>
            </a:r>
            <a:r>
              <a:rPr lang="en-US" sz="2000" dirty="0" smtClean="0"/>
              <a:t>.</a:t>
            </a:r>
          </a:p>
          <a:p>
            <a:r>
              <a:rPr lang="en-US" sz="2000" dirty="0" smtClean="0"/>
              <a:t> </a:t>
            </a:r>
            <a:r>
              <a:rPr lang="en-US" sz="2000" dirty="0"/>
              <a:t>For example, Spark </a:t>
            </a:r>
            <a:r>
              <a:rPr lang="en-US" sz="2000" dirty="0" smtClean="0"/>
              <a:t>might represent </a:t>
            </a:r>
            <a:r>
              <a:rPr lang="en-US" sz="2000" dirty="0"/>
              <a:t>Saturday as 6, and Monday as 1. However, with this numbering scheme, we </a:t>
            </a:r>
            <a:r>
              <a:rPr lang="en-US" sz="2000" dirty="0" smtClean="0"/>
              <a:t>are  implicitly </a:t>
            </a:r>
            <a:r>
              <a:rPr lang="en-US" sz="2000" dirty="0"/>
              <a:t>stating that Saturday is greater than Monday (by pure numerical values). This </a:t>
            </a:r>
            <a:r>
              <a:rPr lang="en-US" sz="2000" dirty="0" smtClean="0"/>
              <a:t>is obviously </a:t>
            </a:r>
            <a:r>
              <a:rPr lang="en-US" sz="2000" dirty="0"/>
              <a:t>incorrect. </a:t>
            </a:r>
            <a:endParaRPr lang="en-US" sz="2000" dirty="0" smtClean="0"/>
          </a:p>
          <a:p>
            <a:r>
              <a:rPr lang="en-US" sz="2000" dirty="0" smtClean="0"/>
              <a:t>To </a:t>
            </a:r>
            <a:r>
              <a:rPr lang="en-US" sz="2000" dirty="0"/>
              <a:t>fix this, we therefore need to use a </a:t>
            </a:r>
            <a:r>
              <a:rPr lang="en-US" sz="2000" b="1" dirty="0" err="1">
                <a:solidFill>
                  <a:srgbClr val="FF0000"/>
                </a:solidFill>
              </a:rPr>
              <a:t>OneHotEncoder</a:t>
            </a:r>
            <a:r>
              <a:rPr lang="en-US" sz="2000" dirty="0"/>
              <a:t> to encode each of</a:t>
            </a:r>
          </a:p>
          <a:p>
            <a:r>
              <a:rPr lang="en-US" sz="2000" dirty="0"/>
              <a:t>these values as their own column. These Boolean flags state whether that day of week is the</a:t>
            </a:r>
          </a:p>
          <a:p>
            <a:r>
              <a:rPr lang="en-US" sz="2000" dirty="0"/>
              <a:t>relevant day of the week</a:t>
            </a:r>
          </a:p>
        </p:txBody>
      </p:sp>
      <p:pic>
        <p:nvPicPr>
          <p:cNvPr id="6" name="Picture 5"/>
          <p:cNvPicPr>
            <a:picLocks noChangeAspect="1"/>
          </p:cNvPicPr>
          <p:nvPr/>
        </p:nvPicPr>
        <p:blipFill>
          <a:blip r:embed="rId3"/>
          <a:stretch>
            <a:fillRect/>
          </a:stretch>
        </p:blipFill>
        <p:spPr>
          <a:xfrm>
            <a:off x="7710055" y="1272920"/>
            <a:ext cx="3338945" cy="2048724"/>
          </a:xfrm>
          <a:prstGeom prst="rect">
            <a:avLst/>
          </a:prstGeom>
        </p:spPr>
      </p:pic>
    </p:spTree>
    <p:extLst>
      <p:ext uri="{BB962C8B-B14F-4D97-AF65-F5344CB8AC3E}">
        <p14:creationId xmlns:p14="http://schemas.microsoft.com/office/powerpoint/2010/main" val="11247776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Each of these will result in a set of columns that we will “assemble” </a:t>
            </a:r>
            <a:r>
              <a:rPr lang="en-US" dirty="0">
                <a:solidFill>
                  <a:srgbClr val="FF0000"/>
                </a:solidFill>
              </a:rPr>
              <a:t>into a vector</a:t>
            </a:r>
            <a:r>
              <a:rPr lang="en-US" dirty="0"/>
              <a:t>. All </a:t>
            </a:r>
            <a:r>
              <a:rPr lang="en-US" dirty="0" smtClean="0"/>
              <a:t>machine learning </a:t>
            </a:r>
            <a:r>
              <a:rPr lang="en-US" dirty="0"/>
              <a:t>algorithms </a:t>
            </a:r>
            <a:r>
              <a:rPr lang="en-US" dirty="0">
                <a:solidFill>
                  <a:srgbClr val="FF0000"/>
                </a:solidFill>
              </a:rPr>
              <a:t>in Spark take as input a Vector type</a:t>
            </a:r>
            <a:r>
              <a:rPr lang="en-US" dirty="0"/>
              <a:t>, which must be a set of </a:t>
            </a:r>
            <a:r>
              <a:rPr lang="en-US" dirty="0" smtClean="0"/>
              <a:t>numerical values</a:t>
            </a:r>
            <a:r>
              <a:rPr lang="en-US" dirty="0"/>
              <a:t>:</a:t>
            </a:r>
          </a:p>
        </p:txBody>
      </p:sp>
      <p:pic>
        <p:nvPicPr>
          <p:cNvPr id="4" name="Picture 3"/>
          <p:cNvPicPr>
            <a:picLocks noChangeAspect="1"/>
          </p:cNvPicPr>
          <p:nvPr/>
        </p:nvPicPr>
        <p:blipFill>
          <a:blip r:embed="rId2"/>
          <a:stretch>
            <a:fillRect/>
          </a:stretch>
        </p:blipFill>
        <p:spPr>
          <a:xfrm>
            <a:off x="2550967" y="3529012"/>
            <a:ext cx="5803323" cy="1666443"/>
          </a:xfrm>
          <a:prstGeom prst="rect">
            <a:avLst/>
          </a:prstGeom>
        </p:spPr>
      </p:pic>
    </p:spTree>
    <p:extLst>
      <p:ext uri="{BB962C8B-B14F-4D97-AF65-F5344CB8AC3E}">
        <p14:creationId xmlns:p14="http://schemas.microsoft.com/office/powerpoint/2010/main" val="40410532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Here, we have three key features: the price, the quantity, and the day of week. Next, we’ll set this up into a pipeline so that any future data we need to transform can go through the exact same process:</a:t>
            </a:r>
          </a:p>
        </p:txBody>
      </p:sp>
      <p:pic>
        <p:nvPicPr>
          <p:cNvPr id="4" name="Picture 3"/>
          <p:cNvPicPr>
            <a:picLocks noChangeAspect="1"/>
          </p:cNvPicPr>
          <p:nvPr/>
        </p:nvPicPr>
        <p:blipFill>
          <a:blip r:embed="rId2"/>
          <a:stretch>
            <a:fillRect/>
          </a:stretch>
        </p:blipFill>
        <p:spPr>
          <a:xfrm>
            <a:off x="2543175" y="3501231"/>
            <a:ext cx="5177270" cy="2078687"/>
          </a:xfrm>
          <a:prstGeom prst="rect">
            <a:avLst/>
          </a:prstGeom>
        </p:spPr>
      </p:pic>
    </p:spTree>
    <p:extLst>
      <p:ext uri="{BB962C8B-B14F-4D97-AF65-F5344CB8AC3E}">
        <p14:creationId xmlns:p14="http://schemas.microsoft.com/office/powerpoint/2010/main" val="22523566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0945" y="207818"/>
            <a:ext cx="11062855" cy="5969145"/>
          </a:xfrm>
        </p:spPr>
        <p:txBody>
          <a:bodyPr/>
          <a:lstStyle/>
          <a:p>
            <a:r>
              <a:rPr lang="en-US" dirty="0"/>
              <a:t>Preparing for training is a two-step process. We first need to fit our transformers to this </a:t>
            </a:r>
            <a:r>
              <a:rPr lang="en-US" dirty="0" smtClean="0"/>
              <a:t>dataset. </a:t>
            </a:r>
          </a:p>
          <a:p>
            <a:r>
              <a:rPr lang="en-US" dirty="0" smtClean="0"/>
              <a:t>basically </a:t>
            </a:r>
            <a:r>
              <a:rPr lang="en-US" dirty="0"/>
              <a:t>our </a:t>
            </a:r>
            <a:r>
              <a:rPr lang="en-US" dirty="0" err="1"/>
              <a:t>StringIndexer</a:t>
            </a:r>
            <a:r>
              <a:rPr lang="en-US" dirty="0"/>
              <a:t> needs to know how </a:t>
            </a:r>
            <a:r>
              <a:rPr lang="en-US" dirty="0" smtClean="0"/>
              <a:t>many unique </a:t>
            </a:r>
            <a:r>
              <a:rPr lang="en-US" dirty="0"/>
              <a:t>values there are to be indexed. After those exist, encoding is easy but Spark must look </a:t>
            </a:r>
            <a:r>
              <a:rPr lang="en-US" dirty="0" smtClean="0"/>
              <a:t>at all </a:t>
            </a:r>
            <a:r>
              <a:rPr lang="en-US" dirty="0"/>
              <a:t>the distinct values in the column to be indexed in order to store </a:t>
            </a:r>
            <a:r>
              <a:rPr lang="en-US" dirty="0" smtClean="0"/>
              <a:t>those </a:t>
            </a:r>
            <a:r>
              <a:rPr lang="en-US" dirty="0"/>
              <a:t>values later on</a:t>
            </a:r>
            <a:r>
              <a:rPr lang="en-US" dirty="0" smtClean="0"/>
              <a:t>:</a:t>
            </a:r>
          </a:p>
          <a:p>
            <a:endParaRPr lang="en-US" dirty="0"/>
          </a:p>
        </p:txBody>
      </p:sp>
      <p:pic>
        <p:nvPicPr>
          <p:cNvPr id="4" name="Picture 3"/>
          <p:cNvPicPr>
            <a:picLocks noChangeAspect="1"/>
          </p:cNvPicPr>
          <p:nvPr/>
        </p:nvPicPr>
        <p:blipFill>
          <a:blip r:embed="rId2"/>
          <a:stretch>
            <a:fillRect/>
          </a:stretch>
        </p:blipFill>
        <p:spPr>
          <a:xfrm>
            <a:off x="893618" y="2836718"/>
            <a:ext cx="8925791" cy="2919846"/>
          </a:xfrm>
          <a:prstGeom prst="rect">
            <a:avLst/>
          </a:prstGeom>
        </p:spPr>
      </p:pic>
    </p:spTree>
    <p:extLst>
      <p:ext uri="{BB962C8B-B14F-4D97-AF65-F5344CB8AC3E}">
        <p14:creationId xmlns:p14="http://schemas.microsoft.com/office/powerpoint/2010/main" val="10225751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717837" y="342900"/>
            <a:ext cx="9195089" cy="4340297"/>
          </a:xfrm>
          <a:prstGeom prst="rect">
            <a:avLst/>
          </a:prstGeom>
        </p:spPr>
      </p:pic>
    </p:spTree>
    <p:extLst>
      <p:ext uri="{BB962C8B-B14F-4D97-AF65-F5344CB8AC3E}">
        <p14:creationId xmlns:p14="http://schemas.microsoft.com/office/powerpoint/2010/main" val="38729885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In Spark, training machine learning models is a two-phase process</a:t>
            </a:r>
            <a:r>
              <a:rPr lang="en-US" dirty="0" smtClean="0"/>
              <a:t>.</a:t>
            </a:r>
          </a:p>
          <a:p>
            <a:r>
              <a:rPr lang="en-US" dirty="0" smtClean="0"/>
              <a:t> </a:t>
            </a:r>
            <a:r>
              <a:rPr lang="en-US" dirty="0"/>
              <a:t>First, we initialize an untrained model, and then we train it. </a:t>
            </a:r>
            <a:endParaRPr lang="en-US" dirty="0" smtClean="0"/>
          </a:p>
          <a:p>
            <a:r>
              <a:rPr lang="en-US" dirty="0" smtClean="0"/>
              <a:t>There </a:t>
            </a:r>
            <a:r>
              <a:rPr lang="en-US" dirty="0"/>
              <a:t>are always two types for every algorithm in </a:t>
            </a:r>
            <a:r>
              <a:rPr lang="en-US" dirty="0" err="1"/>
              <a:t>MLlib’s</a:t>
            </a:r>
            <a:r>
              <a:rPr lang="en-US" dirty="0"/>
              <a:t> </a:t>
            </a:r>
            <a:r>
              <a:rPr lang="en-US" dirty="0" err="1"/>
              <a:t>DataFrame</a:t>
            </a:r>
            <a:r>
              <a:rPr lang="en-US" dirty="0"/>
              <a:t> API. They follow the naming pattern of Algorithm, for the untrained version, and </a:t>
            </a:r>
            <a:r>
              <a:rPr lang="en-US" dirty="0" err="1"/>
              <a:t>AlgorithmModel</a:t>
            </a:r>
            <a:r>
              <a:rPr lang="en-US" dirty="0"/>
              <a:t> for the trained version. In our example, this is </a:t>
            </a:r>
            <a:r>
              <a:rPr lang="en-US" b="1" dirty="0" err="1"/>
              <a:t>KMeans</a:t>
            </a:r>
            <a:r>
              <a:rPr lang="en-US" dirty="0"/>
              <a:t> and then </a:t>
            </a:r>
            <a:r>
              <a:rPr lang="en-US" b="1" dirty="0" err="1"/>
              <a:t>KMeansModel</a:t>
            </a:r>
            <a:r>
              <a:rPr lang="en-US" b="1" dirty="0"/>
              <a:t>. </a:t>
            </a:r>
          </a:p>
        </p:txBody>
      </p:sp>
    </p:spTree>
    <p:extLst>
      <p:ext uri="{BB962C8B-B14F-4D97-AF65-F5344CB8AC3E}">
        <p14:creationId xmlns:p14="http://schemas.microsoft.com/office/powerpoint/2010/main" val="24041478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912668" y="1825264"/>
            <a:ext cx="8459932" cy="4232636"/>
          </a:xfrm>
          <a:prstGeom prst="rect">
            <a:avLst/>
          </a:prstGeom>
        </p:spPr>
      </p:pic>
    </p:spTree>
    <p:extLst>
      <p:ext uri="{BB962C8B-B14F-4D97-AF65-F5344CB8AC3E}">
        <p14:creationId xmlns:p14="http://schemas.microsoft.com/office/powerpoint/2010/main" val="24486433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11620"/>
          </a:xfrm>
        </p:spPr>
        <p:txBody>
          <a:bodyPr>
            <a:normAutofit fontScale="90000"/>
          </a:bodyPr>
          <a:lstStyle/>
          <a:p>
            <a:r>
              <a:rPr lang="en-US" b="1" dirty="0">
                <a:solidFill>
                  <a:srgbClr val="FF0000"/>
                </a:solidFill>
              </a:rPr>
              <a:t>Lower-Level </a:t>
            </a:r>
            <a:r>
              <a:rPr lang="en-US" b="1" dirty="0" err="1" smtClean="0">
                <a:solidFill>
                  <a:srgbClr val="FF0000"/>
                </a:solidFill>
              </a:rPr>
              <a:t>APIs:RDDs</a:t>
            </a:r>
            <a:r>
              <a:rPr lang="en-US" dirty="0"/>
              <a:t/>
            </a:r>
            <a:br>
              <a:rPr lang="en-US" dirty="0"/>
            </a:br>
            <a:endParaRPr lang="en-US" dirty="0"/>
          </a:p>
        </p:txBody>
      </p:sp>
      <p:sp>
        <p:nvSpPr>
          <p:cNvPr id="3" name="Content Placeholder 2"/>
          <p:cNvSpPr>
            <a:spLocks noGrp="1"/>
          </p:cNvSpPr>
          <p:nvPr>
            <p:ph idx="1"/>
          </p:nvPr>
        </p:nvSpPr>
        <p:spPr>
          <a:xfrm>
            <a:off x="838200" y="976746"/>
            <a:ext cx="10515600" cy="5200217"/>
          </a:xfrm>
        </p:spPr>
        <p:txBody>
          <a:bodyPr>
            <a:normAutofit lnSpcReduction="10000"/>
          </a:bodyPr>
          <a:lstStyle/>
          <a:p>
            <a:r>
              <a:rPr lang="en-US" dirty="0" smtClean="0"/>
              <a:t>Spark </a:t>
            </a:r>
            <a:r>
              <a:rPr lang="en-US" dirty="0"/>
              <a:t>includes a number of lower-level primitives to allow for arbitrary Java and Python </a:t>
            </a:r>
            <a:r>
              <a:rPr lang="en-US" dirty="0" smtClean="0"/>
              <a:t>object manipulation </a:t>
            </a:r>
            <a:r>
              <a:rPr lang="en-US" dirty="0"/>
              <a:t>via Resilient Distributed Datasets (RDDs). </a:t>
            </a:r>
            <a:endParaRPr lang="en-US" dirty="0" smtClean="0"/>
          </a:p>
          <a:p>
            <a:r>
              <a:rPr lang="en-US" dirty="0" smtClean="0"/>
              <a:t>Virtually </a:t>
            </a:r>
            <a:r>
              <a:rPr lang="en-US" dirty="0"/>
              <a:t>everything in Spark is built </a:t>
            </a:r>
            <a:r>
              <a:rPr lang="en-US" dirty="0" smtClean="0"/>
              <a:t>on top </a:t>
            </a:r>
            <a:r>
              <a:rPr lang="en-US" dirty="0"/>
              <a:t>of RDDs. </a:t>
            </a:r>
            <a:endParaRPr lang="en-US" dirty="0" smtClean="0"/>
          </a:p>
          <a:p>
            <a:r>
              <a:rPr lang="en-US" dirty="0" smtClean="0"/>
              <a:t>As </a:t>
            </a:r>
            <a:r>
              <a:rPr lang="en-US" dirty="0"/>
              <a:t>we will </a:t>
            </a:r>
            <a:r>
              <a:rPr lang="en-US" dirty="0" smtClean="0"/>
              <a:t>discuss, </a:t>
            </a:r>
            <a:r>
              <a:rPr lang="en-US" dirty="0" err="1"/>
              <a:t>DataFrame</a:t>
            </a:r>
            <a:r>
              <a:rPr lang="en-US" dirty="0"/>
              <a:t> operations are built on top of </a:t>
            </a:r>
            <a:r>
              <a:rPr lang="en-US" dirty="0" smtClean="0"/>
              <a:t>RDDs and </a:t>
            </a:r>
            <a:r>
              <a:rPr lang="en-US" dirty="0"/>
              <a:t>compile down to these lower-level tools for convenient and extremely efficient </a:t>
            </a:r>
            <a:r>
              <a:rPr lang="en-US" dirty="0" smtClean="0"/>
              <a:t>distributed execution</a:t>
            </a:r>
            <a:r>
              <a:rPr lang="en-US" dirty="0"/>
              <a:t>. </a:t>
            </a:r>
            <a:endParaRPr lang="en-US" dirty="0" smtClean="0"/>
          </a:p>
          <a:p>
            <a:r>
              <a:rPr lang="en-US" dirty="0" smtClean="0"/>
              <a:t>There </a:t>
            </a:r>
            <a:r>
              <a:rPr lang="en-US" dirty="0"/>
              <a:t>are some things that you might use RDDs for, especially when you’re </a:t>
            </a:r>
            <a:r>
              <a:rPr lang="en-US" dirty="0" smtClean="0"/>
              <a:t>reading or </a:t>
            </a:r>
            <a:r>
              <a:rPr lang="en-US" dirty="0"/>
              <a:t>manipulating raw data, but for the most part you should stick to the Structured APIs. </a:t>
            </a:r>
            <a:endParaRPr lang="en-US" dirty="0" smtClean="0"/>
          </a:p>
          <a:p>
            <a:r>
              <a:rPr lang="en-US" dirty="0" smtClean="0"/>
              <a:t>RDDs are </a:t>
            </a:r>
            <a:r>
              <a:rPr lang="en-US" dirty="0"/>
              <a:t>lower level than </a:t>
            </a:r>
            <a:r>
              <a:rPr lang="en-US" dirty="0" err="1"/>
              <a:t>DataFrames</a:t>
            </a:r>
            <a:r>
              <a:rPr lang="en-US" dirty="0"/>
              <a:t> because they reveal physical execution characteristics (</a:t>
            </a:r>
            <a:r>
              <a:rPr lang="en-US" dirty="0" smtClean="0"/>
              <a:t>like partitions</a:t>
            </a:r>
            <a:r>
              <a:rPr lang="en-US" dirty="0"/>
              <a:t>) to end users.</a:t>
            </a:r>
          </a:p>
          <a:p>
            <a:endParaRPr lang="en-US" dirty="0"/>
          </a:p>
        </p:txBody>
      </p:sp>
    </p:spTree>
    <p:extLst>
      <p:ext uri="{BB962C8B-B14F-4D97-AF65-F5344CB8AC3E}">
        <p14:creationId xmlns:p14="http://schemas.microsoft.com/office/powerpoint/2010/main" val="28091718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a:t>One thing that you might use RDDs for is to parallelize raw data that you have stored in </a:t>
            </a:r>
            <a:r>
              <a:rPr lang="en-US" dirty="0" smtClean="0"/>
              <a:t>memory on </a:t>
            </a:r>
            <a:r>
              <a:rPr lang="en-US" dirty="0"/>
              <a:t>the driver machine. </a:t>
            </a:r>
            <a:endParaRPr lang="en-US" dirty="0" smtClean="0"/>
          </a:p>
          <a:p>
            <a:r>
              <a:rPr lang="en-US" dirty="0" smtClean="0"/>
              <a:t>For </a:t>
            </a:r>
            <a:r>
              <a:rPr lang="en-US" dirty="0"/>
              <a:t>instance, let’s parallelize some simple numbers and create </a:t>
            </a:r>
            <a:r>
              <a:rPr lang="en-US" dirty="0" smtClean="0"/>
              <a:t>a </a:t>
            </a:r>
            <a:r>
              <a:rPr lang="en-US" dirty="0" err="1" smtClean="0"/>
              <a:t>DataFrame</a:t>
            </a:r>
            <a:r>
              <a:rPr lang="en-US" dirty="0" smtClean="0"/>
              <a:t> </a:t>
            </a:r>
            <a:r>
              <a:rPr lang="en-US" dirty="0"/>
              <a:t>after we do so. We then can convert that to a </a:t>
            </a:r>
            <a:r>
              <a:rPr lang="en-US" dirty="0" err="1"/>
              <a:t>DataFrame</a:t>
            </a:r>
            <a:r>
              <a:rPr lang="en-US" dirty="0"/>
              <a:t> to use it with </a:t>
            </a:r>
            <a:r>
              <a:rPr lang="en-US" dirty="0" smtClean="0"/>
              <a:t>other </a:t>
            </a:r>
            <a:r>
              <a:rPr lang="en-US" dirty="0" err="1" smtClean="0"/>
              <a:t>DataFrames</a:t>
            </a:r>
            <a:r>
              <a:rPr lang="en-US" dirty="0"/>
              <a:t>:</a:t>
            </a:r>
          </a:p>
          <a:p>
            <a:pPr marL="0" indent="0">
              <a:buNone/>
            </a:pPr>
            <a:r>
              <a:rPr lang="en-US" dirty="0"/>
              <a:t>// in Scala</a:t>
            </a:r>
          </a:p>
          <a:p>
            <a:r>
              <a:rPr lang="en-US" dirty="0" err="1"/>
              <a:t>spark.sparkContext.parallelize</a:t>
            </a:r>
            <a:r>
              <a:rPr lang="en-US" dirty="0"/>
              <a:t>(</a:t>
            </a:r>
            <a:r>
              <a:rPr lang="en-US" dirty="0" err="1"/>
              <a:t>Seq</a:t>
            </a:r>
            <a:r>
              <a:rPr lang="en-US" dirty="0"/>
              <a:t>(1, 2, 3)).</a:t>
            </a:r>
            <a:r>
              <a:rPr lang="en-US" dirty="0" err="1"/>
              <a:t>toDF</a:t>
            </a:r>
            <a:r>
              <a:rPr lang="en-US" dirty="0"/>
              <a:t>()</a:t>
            </a:r>
          </a:p>
          <a:p>
            <a:pPr marL="0" indent="0">
              <a:buNone/>
            </a:pPr>
            <a:r>
              <a:rPr lang="en-US" dirty="0">
                <a:solidFill>
                  <a:srgbClr val="FF0000"/>
                </a:solidFill>
              </a:rPr>
              <a:t># in Python</a:t>
            </a:r>
          </a:p>
          <a:p>
            <a:pPr marL="0" indent="0">
              <a:buNone/>
            </a:pPr>
            <a:r>
              <a:rPr lang="en-US" dirty="0"/>
              <a:t>from </a:t>
            </a:r>
            <a:r>
              <a:rPr lang="en-US" dirty="0" err="1"/>
              <a:t>pyspark.sql</a:t>
            </a:r>
            <a:r>
              <a:rPr lang="en-US" dirty="0"/>
              <a:t> import Row</a:t>
            </a:r>
          </a:p>
          <a:p>
            <a:pPr marL="0" indent="0">
              <a:buNone/>
            </a:pPr>
            <a:r>
              <a:rPr lang="en-US" dirty="0" err="1"/>
              <a:t>spark.sparkContext.parallelize</a:t>
            </a:r>
            <a:r>
              <a:rPr lang="en-US" dirty="0"/>
              <a:t>([Row(1), Row(2), Row(3)]).</a:t>
            </a:r>
            <a:r>
              <a:rPr lang="en-US" dirty="0" err="1"/>
              <a:t>toDF</a:t>
            </a:r>
            <a:r>
              <a:rPr lang="en-US" dirty="0"/>
              <a:t>()</a:t>
            </a:r>
          </a:p>
        </p:txBody>
      </p:sp>
    </p:spTree>
    <p:extLst>
      <p:ext uri="{BB962C8B-B14F-4D97-AF65-F5344CB8AC3E}">
        <p14:creationId xmlns:p14="http://schemas.microsoft.com/office/powerpoint/2010/main" val="40836084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RDDs are available in Scala as well as Python. However, they’re not equivalent. This </a:t>
            </a:r>
            <a:r>
              <a:rPr lang="en-US" dirty="0" smtClean="0"/>
              <a:t>differs from </a:t>
            </a:r>
            <a:r>
              <a:rPr lang="en-US" dirty="0"/>
              <a:t>the </a:t>
            </a:r>
            <a:r>
              <a:rPr lang="en-US" dirty="0" err="1"/>
              <a:t>DataFrame</a:t>
            </a:r>
            <a:r>
              <a:rPr lang="en-US" dirty="0"/>
              <a:t> API (where the execution characteristics are the same) due to </a:t>
            </a:r>
            <a:r>
              <a:rPr lang="en-US" dirty="0" smtClean="0"/>
              <a:t>some underlying </a:t>
            </a:r>
            <a:r>
              <a:rPr lang="en-US" dirty="0"/>
              <a:t>implementation details. We cover lower-level APIs, including RDDs in </a:t>
            </a:r>
            <a:r>
              <a:rPr lang="en-US" dirty="0" smtClean="0"/>
              <a:t>Unit IV</a:t>
            </a:r>
            <a:r>
              <a:rPr lang="en-US" dirty="0"/>
              <a:t>. </a:t>
            </a:r>
            <a:endParaRPr lang="en-US" dirty="0" smtClean="0"/>
          </a:p>
          <a:p>
            <a:r>
              <a:rPr lang="en-US" dirty="0" smtClean="0"/>
              <a:t>As end </a:t>
            </a:r>
            <a:r>
              <a:rPr lang="en-US" dirty="0"/>
              <a:t>users, you shouldn’t need to use RDDs much in order to perform many tasks unless </a:t>
            </a:r>
            <a:r>
              <a:rPr lang="en-US" dirty="0" smtClean="0"/>
              <a:t>you’re maintaining </a:t>
            </a:r>
            <a:r>
              <a:rPr lang="en-US" dirty="0"/>
              <a:t>older Spark code. </a:t>
            </a:r>
            <a:endParaRPr lang="en-US" dirty="0" smtClean="0"/>
          </a:p>
          <a:p>
            <a:r>
              <a:rPr lang="en-US" dirty="0" smtClean="0"/>
              <a:t>There </a:t>
            </a:r>
            <a:r>
              <a:rPr lang="en-US" dirty="0"/>
              <a:t>are basically no instances in modern Spark, for which </a:t>
            </a:r>
            <a:r>
              <a:rPr lang="en-US" dirty="0" smtClean="0"/>
              <a:t>you should </a:t>
            </a:r>
            <a:r>
              <a:rPr lang="en-US" dirty="0"/>
              <a:t>be using RDDs instead of the structured APIs beyond manipulating some very </a:t>
            </a:r>
            <a:r>
              <a:rPr lang="en-US" dirty="0" smtClean="0"/>
              <a:t>raw unprocessed </a:t>
            </a:r>
            <a:r>
              <a:rPr lang="en-US" dirty="0"/>
              <a:t>and unstructured data.</a:t>
            </a:r>
          </a:p>
          <a:p>
            <a:endParaRPr lang="en-US" dirty="0"/>
          </a:p>
        </p:txBody>
      </p:sp>
    </p:spTree>
    <p:extLst>
      <p:ext uri="{BB962C8B-B14F-4D97-AF65-F5344CB8AC3E}">
        <p14:creationId xmlns:p14="http://schemas.microsoft.com/office/powerpoint/2010/main" val="42646131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59666"/>
          </a:xfrm>
        </p:spPr>
        <p:txBody>
          <a:bodyPr>
            <a:normAutofit fontScale="90000"/>
          </a:bodyPr>
          <a:lstStyle/>
          <a:p>
            <a:r>
              <a:rPr lang="en-US" b="1" dirty="0" err="1">
                <a:solidFill>
                  <a:srgbClr val="FF0000"/>
                </a:solidFill>
              </a:rPr>
              <a:t>SparkR</a:t>
            </a:r>
            <a:r>
              <a:rPr lang="en-US" dirty="0"/>
              <a:t/>
            </a:r>
            <a:br>
              <a:rPr lang="en-US" dirty="0"/>
            </a:br>
            <a:endParaRPr lang="en-US" dirty="0"/>
          </a:p>
        </p:txBody>
      </p:sp>
      <p:sp>
        <p:nvSpPr>
          <p:cNvPr id="3" name="Content Placeholder 2"/>
          <p:cNvSpPr>
            <a:spLocks noGrp="1"/>
          </p:cNvSpPr>
          <p:nvPr>
            <p:ph idx="1"/>
          </p:nvPr>
        </p:nvSpPr>
        <p:spPr>
          <a:xfrm>
            <a:off x="838200" y="820882"/>
            <a:ext cx="10515600" cy="5787736"/>
          </a:xfrm>
        </p:spPr>
        <p:txBody>
          <a:bodyPr/>
          <a:lstStyle/>
          <a:p>
            <a:r>
              <a:rPr lang="en-US" dirty="0" err="1" smtClean="0"/>
              <a:t>SparkR</a:t>
            </a:r>
            <a:r>
              <a:rPr lang="en-US" dirty="0" smtClean="0"/>
              <a:t> </a:t>
            </a:r>
            <a:r>
              <a:rPr lang="en-US" dirty="0"/>
              <a:t>is a tool for running R on Spark. It follows the same principles as all of Spark’s </a:t>
            </a:r>
            <a:r>
              <a:rPr lang="en-US" dirty="0" smtClean="0"/>
              <a:t>other language </a:t>
            </a:r>
            <a:r>
              <a:rPr lang="en-US" dirty="0"/>
              <a:t>bindings. To use </a:t>
            </a:r>
            <a:r>
              <a:rPr lang="en-US" dirty="0" err="1"/>
              <a:t>SparkR</a:t>
            </a:r>
            <a:r>
              <a:rPr lang="en-US" dirty="0"/>
              <a:t>, you simply import it into your environment and run </a:t>
            </a:r>
            <a:r>
              <a:rPr lang="en-US" dirty="0" smtClean="0"/>
              <a:t>your code</a:t>
            </a:r>
            <a:r>
              <a:rPr lang="en-US" dirty="0"/>
              <a:t>. </a:t>
            </a:r>
            <a:endParaRPr lang="en-US" dirty="0" smtClean="0"/>
          </a:p>
          <a:p>
            <a:r>
              <a:rPr lang="en-US" dirty="0" smtClean="0"/>
              <a:t>It’s </a:t>
            </a:r>
            <a:r>
              <a:rPr lang="en-US" dirty="0"/>
              <a:t>all very similar to the Python API except that it follows R’s syntax instead of </a:t>
            </a:r>
            <a:r>
              <a:rPr lang="en-US" dirty="0" err="1" smtClean="0"/>
              <a:t>Python.For</a:t>
            </a:r>
            <a:r>
              <a:rPr lang="en-US" dirty="0" smtClean="0"/>
              <a:t> </a:t>
            </a:r>
            <a:r>
              <a:rPr lang="en-US" dirty="0"/>
              <a:t>the most part, almost everything available in Python is available in </a:t>
            </a:r>
            <a:r>
              <a:rPr lang="en-US" dirty="0" err="1"/>
              <a:t>SparkR</a:t>
            </a:r>
            <a:r>
              <a:rPr lang="en-US" dirty="0"/>
              <a:t>:</a:t>
            </a:r>
          </a:p>
        </p:txBody>
      </p:sp>
      <p:pic>
        <p:nvPicPr>
          <p:cNvPr id="4" name="Picture 3"/>
          <p:cNvPicPr>
            <a:picLocks noChangeAspect="1"/>
          </p:cNvPicPr>
          <p:nvPr/>
        </p:nvPicPr>
        <p:blipFill>
          <a:blip r:embed="rId2"/>
          <a:stretch>
            <a:fillRect/>
          </a:stretch>
        </p:blipFill>
        <p:spPr>
          <a:xfrm>
            <a:off x="1818409" y="3714749"/>
            <a:ext cx="6577445" cy="2561359"/>
          </a:xfrm>
          <a:prstGeom prst="rect">
            <a:avLst/>
          </a:prstGeom>
        </p:spPr>
      </p:pic>
    </p:spTree>
    <p:extLst>
      <p:ext uri="{BB962C8B-B14F-4D97-AF65-F5344CB8AC3E}">
        <p14:creationId xmlns:p14="http://schemas.microsoft.com/office/powerpoint/2010/main" val="21582825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1727" y="342900"/>
            <a:ext cx="11042073" cy="6151418"/>
          </a:xfrm>
        </p:spPr>
        <p:txBody>
          <a:bodyPr/>
          <a:lstStyle/>
          <a:p>
            <a:r>
              <a:rPr lang="en-US" dirty="0"/>
              <a:t>R users can also use other R libraries like the pipe operator in </a:t>
            </a:r>
            <a:r>
              <a:rPr lang="en-US" dirty="0" err="1"/>
              <a:t>magrittr</a:t>
            </a:r>
            <a:r>
              <a:rPr lang="en-US" dirty="0"/>
              <a:t> to make </a:t>
            </a:r>
            <a:r>
              <a:rPr lang="en-US" dirty="0" smtClean="0"/>
              <a:t>Spark transformations </a:t>
            </a:r>
            <a:r>
              <a:rPr lang="en-US" dirty="0"/>
              <a:t>a bit more R-like. This can make it easy to use with other libraries like </a:t>
            </a:r>
            <a:r>
              <a:rPr lang="en-US" dirty="0" err="1"/>
              <a:t>ggplot</a:t>
            </a:r>
            <a:r>
              <a:rPr lang="en-US" dirty="0"/>
              <a:t> </a:t>
            </a:r>
            <a:r>
              <a:rPr lang="en-US" dirty="0" smtClean="0"/>
              <a:t>for more </a:t>
            </a:r>
            <a:r>
              <a:rPr lang="en-US" dirty="0"/>
              <a:t>sophisticated plotting:</a:t>
            </a:r>
          </a:p>
        </p:txBody>
      </p:sp>
      <p:pic>
        <p:nvPicPr>
          <p:cNvPr id="4" name="Picture 3"/>
          <p:cNvPicPr>
            <a:picLocks noChangeAspect="1"/>
          </p:cNvPicPr>
          <p:nvPr/>
        </p:nvPicPr>
        <p:blipFill>
          <a:blip r:embed="rId2"/>
          <a:stretch>
            <a:fillRect/>
          </a:stretch>
        </p:blipFill>
        <p:spPr>
          <a:xfrm>
            <a:off x="1485900" y="1966912"/>
            <a:ext cx="4987636" cy="2334924"/>
          </a:xfrm>
          <a:prstGeom prst="rect">
            <a:avLst/>
          </a:prstGeom>
        </p:spPr>
      </p:pic>
      <p:pic>
        <p:nvPicPr>
          <p:cNvPr id="5" name="Picture 4"/>
          <p:cNvPicPr>
            <a:picLocks noChangeAspect="1"/>
          </p:cNvPicPr>
          <p:nvPr/>
        </p:nvPicPr>
        <p:blipFill>
          <a:blip r:embed="rId3"/>
          <a:stretch>
            <a:fillRect/>
          </a:stretch>
        </p:blipFill>
        <p:spPr>
          <a:xfrm>
            <a:off x="1849582" y="4084493"/>
            <a:ext cx="1870364" cy="1100570"/>
          </a:xfrm>
          <a:prstGeom prst="rect">
            <a:avLst/>
          </a:prstGeom>
        </p:spPr>
      </p:pic>
    </p:spTree>
    <p:extLst>
      <p:ext uri="{BB962C8B-B14F-4D97-AF65-F5344CB8AC3E}">
        <p14:creationId xmlns:p14="http://schemas.microsoft.com/office/powerpoint/2010/main" val="6208630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46702"/>
          </a:xfrm>
        </p:spPr>
        <p:txBody>
          <a:bodyPr>
            <a:normAutofit fontScale="90000"/>
          </a:bodyPr>
          <a:lstStyle/>
          <a:p>
            <a:r>
              <a:rPr lang="en-US" b="1" dirty="0">
                <a:solidFill>
                  <a:srgbClr val="FF0000"/>
                </a:solidFill>
              </a:rPr>
              <a:t>Spark’s Ecosystem and Packages</a:t>
            </a:r>
            <a:r>
              <a:rPr lang="en-US" dirty="0"/>
              <a:t/>
            </a:r>
            <a:br>
              <a:rPr lang="en-US" dirty="0"/>
            </a:br>
            <a:endParaRPr lang="en-US" dirty="0"/>
          </a:p>
        </p:txBody>
      </p:sp>
      <p:sp>
        <p:nvSpPr>
          <p:cNvPr id="3" name="Content Placeholder 2"/>
          <p:cNvSpPr>
            <a:spLocks noGrp="1"/>
          </p:cNvSpPr>
          <p:nvPr>
            <p:ph idx="1"/>
          </p:nvPr>
        </p:nvSpPr>
        <p:spPr>
          <a:xfrm>
            <a:off x="838200" y="1111828"/>
            <a:ext cx="10515600" cy="5065135"/>
          </a:xfrm>
        </p:spPr>
        <p:txBody>
          <a:bodyPr>
            <a:normAutofit/>
          </a:bodyPr>
          <a:lstStyle/>
          <a:p>
            <a:pPr algn="just"/>
            <a:r>
              <a:rPr lang="en-US" dirty="0" smtClean="0"/>
              <a:t>One </a:t>
            </a:r>
            <a:r>
              <a:rPr lang="en-US" dirty="0"/>
              <a:t>of the best parts about Spark is the ecosystem of packages and tools that the community </a:t>
            </a:r>
            <a:r>
              <a:rPr lang="en-US" dirty="0" smtClean="0"/>
              <a:t>has created</a:t>
            </a:r>
            <a:r>
              <a:rPr lang="en-US" dirty="0"/>
              <a:t>. Some of these tools even move into the core Spark project as they mature and </a:t>
            </a:r>
            <a:r>
              <a:rPr lang="en-US" dirty="0" smtClean="0"/>
              <a:t>become widely </a:t>
            </a:r>
            <a:r>
              <a:rPr lang="en-US" dirty="0"/>
              <a:t>used. </a:t>
            </a:r>
            <a:endParaRPr lang="en-US" dirty="0" smtClean="0"/>
          </a:p>
          <a:p>
            <a:pPr algn="just"/>
            <a:r>
              <a:rPr lang="en-US" dirty="0" smtClean="0"/>
              <a:t>As </a:t>
            </a:r>
            <a:r>
              <a:rPr lang="en-US" dirty="0"/>
              <a:t>of this writing, the list of packages is rather long, numbering over </a:t>
            </a:r>
            <a:r>
              <a:rPr lang="en-US" dirty="0" smtClean="0"/>
              <a:t>300—and more </a:t>
            </a:r>
            <a:r>
              <a:rPr lang="en-US" dirty="0"/>
              <a:t>are added frequently. You can find the largest index of Spark Packages at </a:t>
            </a:r>
            <a:r>
              <a:rPr lang="en-US" dirty="0" smtClean="0">
                <a:solidFill>
                  <a:srgbClr val="FF0000"/>
                </a:solidFill>
              </a:rPr>
              <a:t>spark-packages.org</a:t>
            </a:r>
            <a:r>
              <a:rPr lang="en-US" dirty="0"/>
              <a:t>, where any user can publish to this package repository. There are also various </a:t>
            </a:r>
            <a:r>
              <a:rPr lang="en-US" dirty="0" smtClean="0"/>
              <a:t>other projects </a:t>
            </a:r>
            <a:r>
              <a:rPr lang="en-US" dirty="0"/>
              <a:t>and packages that you can find on the web; for example, on GitHub.</a:t>
            </a:r>
          </a:p>
        </p:txBody>
      </p:sp>
    </p:spTree>
    <p:extLst>
      <p:ext uri="{BB962C8B-B14F-4D97-AF65-F5344CB8AC3E}">
        <p14:creationId xmlns:p14="http://schemas.microsoft.com/office/powerpoint/2010/main" val="4591658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349</TotalTime>
  <Words>3110</Words>
  <Application>Microsoft Office PowerPoint</Application>
  <PresentationFormat>Widescreen</PresentationFormat>
  <Paragraphs>189</Paragraphs>
  <Slides>51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51</vt:i4>
      </vt:variant>
    </vt:vector>
  </HeadingPairs>
  <TitlesOfParts>
    <vt:vector size="56" baseType="lpstr">
      <vt:lpstr>Arial</vt:lpstr>
      <vt:lpstr>Calibri</vt:lpstr>
      <vt:lpstr>Calibri Light</vt:lpstr>
      <vt:lpstr>Times New Roman</vt:lpstr>
      <vt:lpstr>Office Theme</vt:lpstr>
      <vt:lpstr>Spark’s Toolset</vt:lpstr>
      <vt:lpstr>Spark’s Toolset Introduction</vt:lpstr>
      <vt:lpstr>PowerPoint Presentation</vt:lpstr>
      <vt:lpstr>Running Production Applications</vt:lpstr>
      <vt:lpstr>PowerPoint Presentation</vt:lpstr>
      <vt:lpstr> 1. Spark Submit Command </vt:lpstr>
      <vt:lpstr>PowerPoint Presentation</vt:lpstr>
      <vt:lpstr>PowerPoint Presentation</vt:lpstr>
      <vt:lpstr>PowerPoint Presentation</vt:lpstr>
      <vt:lpstr>2. Spark Submit Options</vt:lpstr>
      <vt:lpstr>2.2 Cluster Managers (--master)</vt:lpstr>
      <vt:lpstr>Example</vt:lpstr>
      <vt:lpstr> 2.3 Driver and Executor Resources (Cores &amp; Memory </vt:lpstr>
      <vt:lpstr>2.4 Other Options</vt:lpstr>
      <vt:lpstr> 3. Spark Submit Configurations </vt:lpstr>
      <vt:lpstr>PowerPoint Presentation</vt:lpstr>
      <vt:lpstr> 4. Submit Scala or Java Application </vt:lpstr>
      <vt:lpstr>Submit Scala or Java Application Example</vt:lpstr>
      <vt:lpstr> 5. Spark Submit PySpark (Python) Application </vt:lpstr>
      <vt:lpstr>5. Spark Submit PySpark (Python) Application example</vt:lpstr>
      <vt:lpstr>6 and 7. Submitting Application to Mesos and Kubernetes </vt:lpstr>
      <vt:lpstr>8. Submitting Application to Standalone</vt:lpstr>
      <vt:lpstr>PowerPoint Presentation</vt:lpstr>
      <vt:lpstr>PowerPoint Presentation</vt:lpstr>
      <vt:lpstr>Datasets: Type-Safe Structured APIs </vt:lpstr>
      <vt:lpstr>PowerPoint Presentation</vt:lpstr>
      <vt:lpstr>PowerPoint Presentation</vt:lpstr>
      <vt:lpstr>Dataset example</vt:lpstr>
      <vt:lpstr>PowerPoint Presentation</vt:lpstr>
      <vt:lpstr>PowerPoint Presentation</vt:lpstr>
      <vt:lpstr>PowerPoint Presentation</vt:lpstr>
      <vt:lpstr>PowerPoint Presentation</vt:lpstr>
      <vt:lpstr>PowerPoint Presentation</vt:lpstr>
      <vt:lpstr>Machine Learning and Advanced Analytics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Lower-Level APIs:RDDs </vt:lpstr>
      <vt:lpstr>PowerPoint Presentation</vt:lpstr>
      <vt:lpstr>PowerPoint Presentation</vt:lpstr>
      <vt:lpstr>SparkR </vt:lpstr>
      <vt:lpstr>PowerPoint Presentation</vt:lpstr>
      <vt:lpstr>Spark’s Ecosystem and Packages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Spark’s Toolset</dc:title>
  <dc:creator>ADMIN</dc:creator>
  <cp:lastModifiedBy>ADMIN</cp:lastModifiedBy>
  <cp:revision>43</cp:revision>
  <dcterms:created xsi:type="dcterms:W3CDTF">2024-04-15T06:05:43Z</dcterms:created>
  <dcterms:modified xsi:type="dcterms:W3CDTF">2024-04-19T07:01:32Z</dcterms:modified>
</cp:coreProperties>
</file>