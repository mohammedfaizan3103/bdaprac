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2" r:id="rId5"/>
    <p:sldId id="264" r:id="rId6"/>
    <p:sldId id="265" r:id="rId7"/>
    <p:sldId id="268" r:id="rId8"/>
    <p:sldId id="269" r:id="rId9"/>
    <p:sldId id="270" r:id="rId10"/>
    <p:sldId id="271" r:id="rId11"/>
    <p:sldId id="272" r:id="rId12"/>
    <p:sldId id="273" r:id="rId13"/>
    <p:sldId id="274" r:id="rId14"/>
    <p:sldId id="282" r:id="rId15"/>
    <p:sldId id="283" r:id="rId16"/>
    <p:sldId id="284" r:id="rId17"/>
    <p:sldId id="285" r:id="rId18"/>
    <p:sldId id="286" r:id="rId19"/>
    <p:sldId id="287" r:id="rId20"/>
    <p:sldId id="288" r:id="rId21"/>
    <p:sldId id="289" r:id="rId22"/>
    <p:sldId id="290" r:id="rId23"/>
    <p:sldId id="291" r:id="rId24"/>
    <p:sldId id="292" r:id="rId25"/>
    <p:sldId id="293" r:id="rId26"/>
    <p:sldId id="294" r:id="rId27"/>
    <p:sldId id="295" r:id="rId28"/>
    <p:sldId id="296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6" d="100"/>
          <a:sy n="86" d="100"/>
        </p:scale>
        <p:origin x="1494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Scala Programming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Scala?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Scala stands for 'Scalable Language'</a:t>
            </a:r>
          </a:p>
          <a:p>
            <a:r>
              <a:t>• Combines Object-Oriented and Functional Programming</a:t>
            </a:r>
          </a:p>
          <a:p>
            <a:r>
              <a:t>• Runs on the Java Virtual Machine (JVM)</a:t>
            </a:r>
          </a:p>
          <a:p>
            <a:r>
              <a:t>• Used in Big Data tools like Apache Spark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Learn Scala?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Powerful functional programming features</a:t>
            </a:r>
          </a:p>
          <a:p>
            <a:r>
              <a:t>• Interoperable with Java</a:t>
            </a:r>
          </a:p>
          <a:p>
            <a:r>
              <a:t>• Concise and expressive syntax</a:t>
            </a:r>
          </a:p>
          <a:p>
            <a:r>
              <a:t>• Widely used in data engineering and distributed systems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Variables in Scala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Scala has two types of variables:</a:t>
            </a:r>
          </a:p>
          <a:p>
            <a:r>
              <a:t>• val → immutable</a:t>
            </a:r>
          </a:p>
          <a:p>
            <a:r>
              <a:t>• var → mutable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Common Scala Data Types:</a:t>
            </a:r>
          </a:p>
          <a:p>
            <a:r>
              <a:t>• Int</a:t>
            </a:r>
          </a:p>
          <a:p>
            <a:r>
              <a:t>• Double</a:t>
            </a:r>
          </a:p>
          <a:p>
            <a:r>
              <a:t>• Float</a:t>
            </a:r>
          </a:p>
          <a:p>
            <a:r>
              <a:t>• String</a:t>
            </a:r>
          </a:p>
          <a:p>
            <a:r>
              <a:t>• Boolean</a:t>
            </a:r>
          </a:p>
          <a:p>
            <a:r>
              <a:t>• Char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Example: Data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val a: Int = 10</a:t>
            </a:r>
          </a:p>
          <a:p>
            <a:r>
              <a:t>val b: Double = 10.5</a:t>
            </a:r>
          </a:p>
          <a:p>
            <a:r>
              <a:t>val c: Boolean = true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Conditional Statements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Used for decision making:</a:t>
            </a:r>
          </a:p>
          <a:p>
            <a:r>
              <a:t>• if</a:t>
            </a:r>
          </a:p>
          <a:p>
            <a:r>
              <a:t>• if-else</a:t>
            </a:r>
          </a:p>
          <a:p>
            <a:r>
              <a:t>• nested if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Example: If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val x = 10</a:t>
            </a:r>
          </a:p>
          <a:p>
            <a:r>
              <a:t>if(x &gt; 5) {</a:t>
            </a:r>
          </a:p>
          <a:p>
            <a:r>
              <a:t>  println("Greater than 5")</a:t>
            </a:r>
          </a:p>
          <a:p>
            <a: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Loops in Scala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Loop types:</a:t>
            </a:r>
          </a:p>
          <a:p>
            <a:r>
              <a:t>• for loop</a:t>
            </a:r>
          </a:p>
          <a:p>
            <a:r>
              <a:t>• while loop</a:t>
            </a:r>
          </a:p>
          <a:p>
            <a:r>
              <a:t>• do-while loop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Example: For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for(i &lt;- 1 to 5) {</a:t>
            </a:r>
          </a:p>
          <a:p>
            <a:r>
              <a:t>  println(i)</a:t>
            </a:r>
          </a:p>
          <a:p>
            <a: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Functions in Scala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Functions define reusable blocks of code.</a:t>
            </a:r>
          </a:p>
          <a:p>
            <a:r>
              <a:t>Syntax:</a:t>
            </a:r>
          </a:p>
          <a:p>
            <a:r>
              <a:t>def functionName(parameters): ReturnType = { 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Example: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 add(a:Int,b:Int):Int = {</a:t>
            </a:r>
          </a:p>
          <a:p>
            <a:r>
              <a:t>  a + b</a:t>
            </a:r>
          </a:p>
          <a:p>
            <a: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Anonymous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Functions without a name.</a:t>
            </a:r>
          </a:p>
          <a:p>
            <a:r>
              <a:t>Example:</a:t>
            </a:r>
          </a:p>
          <a:p>
            <a:r>
              <a:t>(x:Int) =&gt; x * 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Traits are similar to interfaces in Java.</a:t>
            </a:r>
          </a:p>
          <a:p>
            <a:r>
              <a:t>Used for code reuse.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Example: Trait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trait Animal {</a:t>
            </a:r>
          </a:p>
          <a:p>
            <a:r>
              <a:t>  def sound()</a:t>
            </a:r>
          </a:p>
          <a:p>
            <a: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Higher Order Function?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A </a:t>
            </a:r>
            <a:r>
              <a:rPr dirty="0" smtClean="0"/>
              <a:t>hig</a:t>
            </a:r>
            <a:r>
              <a:rPr lang="en-US" dirty="0"/>
              <a:t>h</a:t>
            </a:r>
            <a:r>
              <a:rPr dirty="0" smtClean="0"/>
              <a:t>er-order </a:t>
            </a:r>
            <a:r>
              <a:rPr dirty="0"/>
              <a:t>function is a function that:</a:t>
            </a:r>
          </a:p>
          <a:p>
            <a:pPr marL="0" indent="0">
              <a:buNone/>
            </a:pPr>
            <a:r>
              <a:rPr dirty="0"/>
              <a:t>• Takes another function as a parameter OR</a:t>
            </a:r>
          </a:p>
          <a:p>
            <a:pPr marL="0" indent="0">
              <a:buNone/>
            </a:pPr>
            <a:r>
              <a:rPr dirty="0"/>
              <a:t>• Returns a function as a result.</a:t>
            </a:r>
          </a:p>
          <a:p>
            <a:pPr marL="0" indent="0">
              <a:buNone/>
            </a:pPr>
            <a:r>
              <a:rPr dirty="0"/>
              <a:t>This is a core concept in functional programming.</a:t>
            </a:r>
          </a:p>
        </p:txBody>
      </p:sp>
    </p:spTree>
    <p:extLst>
      <p:ext uri="{BB962C8B-B14F-4D97-AF65-F5344CB8AC3E}">
        <p14:creationId xmlns:p14="http://schemas.microsoft.com/office/powerpoint/2010/main" val="1479933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Higher Order Function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Example:</a:t>
            </a:r>
          </a:p>
          <a:p>
            <a:endParaRPr/>
          </a:p>
          <a:p>
            <a:r>
              <a:t>def applyOperation(x:Int, y:Int, op:(Int,Int)=&gt;Int) = {</a:t>
            </a:r>
          </a:p>
          <a:p>
            <a:r>
              <a:t>  op(x,y)</a:t>
            </a:r>
          </a:p>
          <a:p>
            <a:r>
              <a:t>}</a:t>
            </a:r>
          </a:p>
          <a:p>
            <a:endParaRPr/>
          </a:p>
          <a:p>
            <a:r>
              <a:t>applyOperation(5,3,(a,b)=&gt;a+b)</a:t>
            </a:r>
          </a:p>
        </p:txBody>
      </p:sp>
    </p:spTree>
    <p:extLst>
      <p:ext uri="{BB962C8B-B14F-4D97-AF65-F5344CB8AC3E}">
        <p14:creationId xmlns:p14="http://schemas.microsoft.com/office/powerpoint/2010/main" val="2777642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Common Higher Order Functions in Scala Collections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dirty="0" err="1"/>
              <a:t>Scala</a:t>
            </a:r>
            <a:r>
              <a:rPr dirty="0"/>
              <a:t> collections provide built-in higher order functions:</a:t>
            </a:r>
          </a:p>
          <a:p>
            <a:pPr marL="0" indent="0">
              <a:buNone/>
            </a:pPr>
            <a:r>
              <a:rPr dirty="0"/>
              <a:t>• map()</a:t>
            </a:r>
          </a:p>
          <a:p>
            <a:pPr marL="0" indent="0">
              <a:buNone/>
            </a:pPr>
            <a:r>
              <a:rPr dirty="0"/>
              <a:t>• filter()</a:t>
            </a:r>
          </a:p>
          <a:p>
            <a:pPr marL="0" indent="0">
              <a:buNone/>
            </a:pPr>
            <a:r>
              <a:rPr dirty="0"/>
              <a:t>• reduce()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foreach</a:t>
            </a:r>
            <a:r>
              <a:rPr dirty="0"/>
              <a:t>()</a:t>
            </a:r>
          </a:p>
          <a:p>
            <a:pPr marL="0" indent="0">
              <a:buNone/>
            </a:pPr>
            <a:r>
              <a:rPr dirty="0"/>
              <a:t>• fold()</a:t>
            </a:r>
          </a:p>
          <a:p>
            <a:pPr marL="0" indent="0">
              <a:buNone/>
            </a:pPr>
            <a:r>
              <a:rPr dirty="0"/>
              <a:t>These functions accept other functions as parameters.</a:t>
            </a:r>
          </a:p>
        </p:txBody>
      </p:sp>
    </p:spTree>
    <p:extLst>
      <p:ext uri="{BB962C8B-B14F-4D97-AF65-F5344CB8AC3E}">
        <p14:creationId xmlns:p14="http://schemas.microsoft.com/office/powerpoint/2010/main" val="1559234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Example: map()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val numbers = List(1,2,3,4)</a:t>
            </a:r>
          </a:p>
          <a:p>
            <a:endParaRPr/>
          </a:p>
          <a:p>
            <a:r>
              <a:t>val doubled = numbers.map(x =&gt; x * 2)</a:t>
            </a:r>
          </a:p>
          <a:p>
            <a:endParaRPr/>
          </a:p>
          <a:p>
            <a:r>
              <a:t>Output:</a:t>
            </a:r>
          </a:p>
          <a:p>
            <a:r>
              <a:t>List(2,4,6,8)</a:t>
            </a:r>
          </a:p>
        </p:txBody>
      </p:sp>
    </p:spTree>
    <p:extLst>
      <p:ext uri="{BB962C8B-B14F-4D97-AF65-F5344CB8AC3E}">
        <p14:creationId xmlns:p14="http://schemas.microsoft.com/office/powerpoint/2010/main" val="2171540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Example: filter()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val numbers = List(1,2,3,4,5)</a:t>
            </a:r>
          </a:p>
          <a:p>
            <a:endParaRPr/>
          </a:p>
          <a:p>
            <a:r>
              <a:t>val even = numbers.filter(x =&gt; x % 2 == 0)</a:t>
            </a:r>
          </a:p>
          <a:p>
            <a:endParaRPr/>
          </a:p>
          <a:p>
            <a:r>
              <a:t>Output:</a:t>
            </a:r>
          </a:p>
          <a:p>
            <a:r>
              <a:t>List(2,4)</a:t>
            </a:r>
          </a:p>
        </p:txBody>
      </p:sp>
    </p:spTree>
    <p:extLst>
      <p:ext uri="{BB962C8B-B14F-4D97-AF65-F5344CB8AC3E}">
        <p14:creationId xmlns:p14="http://schemas.microsoft.com/office/powerpoint/2010/main" val="4130766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Lambda (Anonymous)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Lambda functions are functions without names.</a:t>
            </a:r>
          </a:p>
          <a:p>
            <a:r>
              <a:t>They are often used with higher order functions.</a:t>
            </a:r>
          </a:p>
          <a:p>
            <a:endParaRPr/>
          </a:p>
          <a:p>
            <a:r>
              <a:t>Syntax:</a:t>
            </a:r>
          </a:p>
          <a:p>
            <a:r>
              <a:t>(parameters) =&gt; expression</a:t>
            </a:r>
          </a:p>
        </p:txBody>
      </p:sp>
    </p:spTree>
    <p:extLst>
      <p:ext uri="{BB962C8B-B14F-4D97-AF65-F5344CB8AC3E}">
        <p14:creationId xmlns:p14="http://schemas.microsoft.com/office/powerpoint/2010/main" val="900215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Lambda Function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val add = (a:Int, b:Int) =&gt; a + b</a:t>
            </a:r>
          </a:p>
          <a:p>
            <a:endParaRPr/>
          </a:p>
          <a:p>
            <a:r>
              <a:t>println(add(3,4))</a:t>
            </a:r>
          </a:p>
          <a:p>
            <a:endParaRPr/>
          </a:p>
          <a:p>
            <a:r>
              <a:t>Output:</a:t>
            </a:r>
          </a:p>
          <a:p>
            <a: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339355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Lambda with Collections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val numbers = List(1,2,3)</a:t>
            </a:r>
          </a:p>
          <a:p>
            <a:endParaRPr/>
          </a:p>
          <a:p>
            <a:r>
              <a:t>numbers.map(x =&gt; x + 1)</a:t>
            </a:r>
          </a:p>
          <a:p>
            <a:endParaRPr/>
          </a:p>
          <a:p>
            <a:r>
              <a:t>Result:</a:t>
            </a:r>
          </a:p>
          <a:p>
            <a:r>
              <a:t>List(2,3,4)</a:t>
            </a:r>
          </a:p>
        </p:txBody>
      </p:sp>
    </p:spTree>
    <p:extLst>
      <p:ext uri="{BB962C8B-B14F-4D97-AF65-F5344CB8AC3E}">
        <p14:creationId xmlns:p14="http://schemas.microsoft.com/office/powerpoint/2010/main" val="1261564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Underscore (_) in Scala Functional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underscore is used as shorthand syntax.</a:t>
            </a:r>
          </a:p>
          <a:p>
            <a:r>
              <a:t>It represents parameters in anonymous functions.</a:t>
            </a:r>
          </a:p>
          <a:p>
            <a:r>
              <a:t>This reduces code verbosity.</a:t>
            </a:r>
          </a:p>
        </p:txBody>
      </p:sp>
    </p:spTree>
    <p:extLst>
      <p:ext uri="{BB962C8B-B14F-4D97-AF65-F5344CB8AC3E}">
        <p14:creationId xmlns:p14="http://schemas.microsoft.com/office/powerpoint/2010/main" val="2193290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Underscore Example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Without underscore:</a:t>
            </a:r>
          </a:p>
          <a:p>
            <a:r>
              <a:rPr dirty="0" err="1"/>
              <a:t>numbers.map</a:t>
            </a:r>
            <a:r>
              <a:rPr dirty="0"/>
              <a:t>(x =&gt; x * 2)</a:t>
            </a:r>
          </a:p>
          <a:p>
            <a:endParaRPr dirty="0"/>
          </a:p>
          <a:p>
            <a:r>
              <a:rPr dirty="0"/>
              <a:t>With underscore:</a:t>
            </a:r>
          </a:p>
          <a:p>
            <a:r>
              <a:rPr dirty="0" err="1"/>
              <a:t>numbers.map</a:t>
            </a:r>
            <a:r>
              <a:rPr dirty="0"/>
              <a:t>(_ * 2)</a:t>
            </a:r>
          </a:p>
        </p:txBody>
      </p:sp>
    </p:spTree>
    <p:extLst>
      <p:ext uri="{BB962C8B-B14F-4D97-AF65-F5344CB8AC3E}">
        <p14:creationId xmlns:p14="http://schemas.microsoft.com/office/powerpoint/2010/main" val="3667806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Underscore Example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Without shorthand:</a:t>
            </a:r>
          </a:p>
          <a:p>
            <a:r>
              <a:t>numbers.reduce((a,b) =&gt; a + b)</a:t>
            </a:r>
          </a:p>
          <a:p>
            <a:endParaRPr/>
          </a:p>
          <a:p>
            <a:r>
              <a:t>With underscore shorthand:</a:t>
            </a:r>
          </a:p>
          <a:p>
            <a:r>
              <a:t>numbers.reduce(_ + _)</a:t>
            </a:r>
          </a:p>
        </p:txBody>
      </p:sp>
    </p:spTree>
    <p:extLst>
      <p:ext uri="{BB962C8B-B14F-4D97-AF65-F5344CB8AC3E}">
        <p14:creationId xmlns:p14="http://schemas.microsoft.com/office/powerpoint/2010/main" val="2758575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 of Functional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Concise code</a:t>
            </a:r>
          </a:p>
          <a:p>
            <a:r>
              <a:t>• Easier parallel processing</a:t>
            </a:r>
          </a:p>
          <a:p>
            <a:r>
              <a:t>• Improved readability</a:t>
            </a:r>
          </a:p>
          <a:p>
            <a:r>
              <a:t>• Less mutable state</a:t>
            </a:r>
          </a:p>
          <a:p>
            <a:r>
              <a:t>• Works well with big data frameworks like Apache Spark</a:t>
            </a:r>
          </a:p>
        </p:txBody>
      </p:sp>
    </p:spTree>
    <p:extLst>
      <p:ext uri="{BB962C8B-B14F-4D97-AF65-F5344CB8AC3E}">
        <p14:creationId xmlns:p14="http://schemas.microsoft.com/office/powerpoint/2010/main" val="1951941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Functional Programming in Spark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Apache Spark heavily relies on Scala functional features.</a:t>
            </a:r>
          </a:p>
          <a:p>
            <a:endParaRPr/>
          </a:p>
          <a:p>
            <a:r>
              <a:t>Example:</a:t>
            </a:r>
          </a:p>
          <a:p>
            <a:r>
              <a:t>val counts = textFile</a:t>
            </a:r>
          </a:p>
          <a:p>
            <a:r>
              <a:t> .flatMap(_.split(" "))</a:t>
            </a:r>
          </a:p>
          <a:p>
            <a:r>
              <a:t> .map((_,1))</a:t>
            </a:r>
          </a:p>
          <a:p>
            <a:r>
              <a:t> .reduceByKey(_ + _)</a:t>
            </a:r>
          </a:p>
        </p:txBody>
      </p:sp>
    </p:spTree>
    <p:extLst>
      <p:ext uri="{BB962C8B-B14F-4D97-AF65-F5344CB8AC3E}">
        <p14:creationId xmlns:p14="http://schemas.microsoft.com/office/powerpoint/2010/main" val="1154388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619</Words>
  <Application>Microsoft Office PowerPoint</Application>
  <PresentationFormat>On-screen Show (4:3)</PresentationFormat>
  <Paragraphs>150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Scala Programming</vt:lpstr>
      <vt:lpstr>What is Scala?</vt:lpstr>
      <vt:lpstr>Why Learn Scala?</vt:lpstr>
      <vt:lpstr>Variables in Scala</vt:lpstr>
      <vt:lpstr>Data Types</vt:lpstr>
      <vt:lpstr>Example: Data Types</vt:lpstr>
      <vt:lpstr>Conditional Statements</vt:lpstr>
      <vt:lpstr>Example: If Statement</vt:lpstr>
      <vt:lpstr>Loops in Scala</vt:lpstr>
      <vt:lpstr>Example: For Loop</vt:lpstr>
      <vt:lpstr>Functions in Scala</vt:lpstr>
      <vt:lpstr>Example: Function</vt:lpstr>
      <vt:lpstr>Anonymous Functions</vt:lpstr>
      <vt:lpstr>Traits</vt:lpstr>
      <vt:lpstr>Example: Trait</vt:lpstr>
      <vt:lpstr>What is a Higher Order Function?</vt:lpstr>
      <vt:lpstr>Higher Order Function Example</vt:lpstr>
      <vt:lpstr>Common Higher Order Functions in Scala Collections</vt:lpstr>
      <vt:lpstr>Example: map()</vt:lpstr>
      <vt:lpstr>Example: filter()</vt:lpstr>
      <vt:lpstr>Lambda (Anonymous) Functions</vt:lpstr>
      <vt:lpstr>Lambda Function Example</vt:lpstr>
      <vt:lpstr>Lambda with Collections</vt:lpstr>
      <vt:lpstr>Underscore (_) in Scala Functional Programming</vt:lpstr>
      <vt:lpstr>Underscore Example 1</vt:lpstr>
      <vt:lpstr>Underscore Example 2</vt:lpstr>
      <vt:lpstr>Advantages of Functional Features</vt:lpstr>
      <vt:lpstr>Functional Programming in Spark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Scala Programming</dc:title>
  <dc:subject/>
  <dc:creator>KGR</dc:creator>
  <cp:keywords/>
  <dc:description>generated using python-pptx</dc:description>
  <cp:lastModifiedBy>KGR</cp:lastModifiedBy>
  <cp:revision>4</cp:revision>
  <dcterms:created xsi:type="dcterms:W3CDTF">2013-01-27T09:14:16Z</dcterms:created>
  <dcterms:modified xsi:type="dcterms:W3CDTF">2026-03-05T04:33:12Z</dcterms:modified>
  <cp:category/>
</cp:coreProperties>
</file>