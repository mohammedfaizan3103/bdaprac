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embeddedFontLst>
    <p:embeddedFont>
      <p:font typeface="Century Schoolbook" panose="02040604050505020304" pitchFamily="18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Pxs+cxeJeQCK554EVgOp/hC74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505c3167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26505c3167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505c31675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6505c31675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505c3167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26505c3167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505c3167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26505c3167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505c3167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26505c3167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505c31675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6505c3167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505c3167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6505c3167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505c31675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505c31675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505c31675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6505c31675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505c31675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26505c31675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9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>
            <a:spLocks noGrp="1"/>
          </p:cNvSpPr>
          <p:nvPr>
            <p:ph type="ctrTitle"/>
          </p:nvPr>
        </p:nvSpPr>
        <p:spPr>
          <a:xfrm>
            <a:off x="2929454" y="1469977"/>
            <a:ext cx="8018100" cy="1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Century Schoolbook"/>
              <a:buNone/>
            </a:pPr>
            <a:r>
              <a:rPr lang="en-US" sz="7500"/>
              <a:t>SPARK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1539433" y="1526234"/>
            <a:ext cx="9410217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Spark SQL is a module in Apache Spark designed for structured data processing. It provides a programming interface for data manipulation using SQL queries,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DataFrame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APIs, and integrates seamlessly with Spark's distributed processing capabilities.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Spark SQL unifies relational processing with Spark's functional programming API, offering users a flexible and powerful way to analyze structured and semi-structured data.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/>
        </p:nvSpPr>
        <p:spPr>
          <a:xfrm>
            <a:off x="1539433" y="1365813"/>
            <a:ext cx="941021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Some key features and concepts related to Spark SQL: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1) </a:t>
            </a:r>
            <a:r>
              <a:rPr lang="en-US" sz="2000" dirty="0" err="1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DataFrame</a:t>
            </a: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Spark SQL introduces the </a:t>
            </a:r>
            <a:r>
              <a:rPr lang="en-US" sz="2000" dirty="0" err="1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DataFrame</a:t>
            </a: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abstraction, which is a distributed collection of data organized into named columns. </a:t>
            </a:r>
            <a:r>
              <a:rPr lang="en-US" sz="2000" dirty="0" err="1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DataFrames</a:t>
            </a: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can be created from various sources such as structured data files (e.g., Parquet, Avro, ORC), Hive tables, external databases, or existing RDDs (Resilient Distributed Datasets).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2) SQL Queries: Spark SQL allows you to execute SQL queries on your </a:t>
            </a:r>
            <a:r>
              <a:rPr lang="en-US" sz="2000" dirty="0" err="1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DataFrame</a:t>
            </a: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data. You can register a </a:t>
            </a:r>
            <a:r>
              <a:rPr lang="en-US" sz="2000" dirty="0" err="1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DataFrame</a:t>
            </a: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as a temporary SQL table or view and then query it using standard SQL syntax.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/>
        </p:nvSpPr>
        <p:spPr>
          <a:xfrm>
            <a:off x="1539433" y="1365813"/>
            <a:ext cx="9410217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3) Hive Integration: Spark SQL provides seamless integration with Apache Hive, allowing you to query Hive tables and use Hive's rich ecosystem of UDFs (User-Defined Functions).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4) Built-in Functions: Spark SQL includes a variety of built-in functions for common data manipulation tasks, similar to traditional SQL databases.</a:t>
            </a:r>
            <a:endParaRPr dirty="0"/>
          </a:p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9433" y="3806143"/>
            <a:ext cx="9398799" cy="1686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/>
        </p:nvSpPr>
        <p:spPr>
          <a:xfrm>
            <a:off x="1539433" y="1365813"/>
            <a:ext cx="9410217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5) Data Sources and Formats: Spark SQL supports various data sources and file formats for reading and writing data. Some of the supported formats include Parquet, Avro, JSON, CSV, and more.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6) Catalyst Optimizer: Spark SQL uses the Catalyst optimizer to optimize and execute query plans. This helps in improving the performance of queries by optimizing the physical execution plan.</a:t>
            </a:r>
            <a:endParaRPr dirty="0"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8104" y="2667674"/>
            <a:ext cx="6045017" cy="152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606445"/>
            <a:ext cx="94102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1) Creating a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In </a:t>
            </a:r>
            <a:r>
              <a:rPr lang="en-US" sz="2000" dirty="0" err="1">
                <a:solidFill>
                  <a:schemeClr val="bg1"/>
                </a:solidFill>
              </a:rPr>
              <a:t>PySpark</a:t>
            </a:r>
            <a:r>
              <a:rPr lang="en-US" sz="2000" dirty="0">
                <a:solidFill>
                  <a:schemeClr val="bg1"/>
                </a:solidFill>
              </a:rPr>
              <a:t>, we use the </a:t>
            </a:r>
            <a:r>
              <a:rPr lang="en-US" sz="2000" dirty="0" err="1">
                <a:solidFill>
                  <a:schemeClr val="bg1"/>
                </a:solidFill>
              </a:rPr>
              <a:t>createDataFrame</a:t>
            </a:r>
            <a:r>
              <a:rPr lang="en-US" sz="2000" dirty="0">
                <a:solidFill>
                  <a:schemeClr val="bg1"/>
                </a:solidFill>
              </a:rPr>
              <a:t> method to create a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from an existing Python list of tuples, specifying column names.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1D1E3-5325-5830-D797-5AB11312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49" y="3411935"/>
            <a:ext cx="7361704" cy="272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357596"/>
            <a:ext cx="941021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2) Viewing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Schema: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 err="1">
                <a:solidFill>
                  <a:schemeClr val="bg1"/>
                </a:solidFill>
              </a:rPr>
              <a:t>printSchema</a:t>
            </a:r>
            <a:r>
              <a:rPr lang="en-US" sz="2000" dirty="0">
                <a:solidFill>
                  <a:schemeClr val="bg1"/>
                </a:solidFill>
              </a:rPr>
              <a:t> method is used to display the schema of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, which includes the data types and nullable information for each column.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3) Displaying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Contents: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show method is used to display the contents of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in a tabular format. By default, it shows the first 20 rows.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F77F2-FB41-42FF-4D6D-93FFF2BB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584" y="2768492"/>
            <a:ext cx="2585658" cy="635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72DA6-B1C6-438F-2E98-1A6ECE3E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584" y="5266221"/>
            <a:ext cx="2585658" cy="90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213217"/>
            <a:ext cx="94102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4) Registering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as a Temporary Table: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 err="1">
                <a:solidFill>
                  <a:schemeClr val="bg1"/>
                </a:solidFill>
              </a:rPr>
              <a:t>createOrReplaceTempView</a:t>
            </a:r>
            <a:r>
              <a:rPr lang="en-US" sz="2000" dirty="0">
                <a:solidFill>
                  <a:schemeClr val="bg1"/>
                </a:solidFill>
              </a:rPr>
              <a:t> method registers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as a temporary table with the specified name, allowing SQL queries on it.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5) Running SQL Queries: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 err="1">
                <a:solidFill>
                  <a:schemeClr val="bg1"/>
                </a:solidFill>
              </a:rPr>
              <a:t>spark.sql</a:t>
            </a:r>
            <a:r>
              <a:rPr lang="en-US" sz="2000" dirty="0">
                <a:solidFill>
                  <a:schemeClr val="bg1"/>
                </a:solidFill>
              </a:rPr>
              <a:t> method is used to execute SQL queries on registered tables/views. In this example, it selects all columns from the registered table "</a:t>
            </a:r>
            <a:r>
              <a:rPr lang="en-US" sz="2000" dirty="0" err="1">
                <a:solidFill>
                  <a:schemeClr val="bg1"/>
                </a:solidFill>
              </a:rPr>
              <a:t>myTable</a:t>
            </a:r>
            <a:r>
              <a:rPr lang="en-US" sz="2000" dirty="0">
                <a:solidFill>
                  <a:schemeClr val="bg1"/>
                </a:solidFill>
              </a:rPr>
              <a:t>" where the age is greater than 25.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378C4-9C71-AD61-B2BB-3C71ABC7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817" y="2818963"/>
            <a:ext cx="5798999" cy="742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68BA6A-9698-661F-2D7C-4EDB83BBC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854" y="5356025"/>
            <a:ext cx="6960010" cy="87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7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213217"/>
            <a:ext cx="94102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6) Basic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Operations: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These are basic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operations. Filtering is performed using the filter method, aggregation using the </a:t>
            </a:r>
            <a:r>
              <a:rPr lang="en-US" sz="2000" dirty="0" err="1">
                <a:solidFill>
                  <a:schemeClr val="bg1"/>
                </a:solidFill>
              </a:rPr>
              <a:t>groupBy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agg</a:t>
            </a:r>
            <a:r>
              <a:rPr lang="en-US" sz="2000" dirty="0">
                <a:solidFill>
                  <a:schemeClr val="bg1"/>
                </a:solidFill>
              </a:rPr>
              <a:t> methods, and column selection using the select method.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F6394-294D-C8BB-F243-B4ED80617C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288"/>
          <a:stretch/>
        </p:blipFill>
        <p:spPr>
          <a:xfrm>
            <a:off x="2312923" y="3160803"/>
            <a:ext cx="7566153" cy="277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7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213217"/>
            <a:ext cx="94102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7) Writing Data to a Data Sink: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write method is used to persist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to an external storage system. In these examples, we write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to Parquet and CSV formats.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ACC8E-F375-E71A-91B7-94B507C86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165" y="3184359"/>
            <a:ext cx="7418276" cy="19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7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213217"/>
            <a:ext cx="94102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8) Caching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cache method is used to persist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in memory for faster access. It is beneficial when you plan to reuse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multiple times.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9) Removing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from Cache: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dirty="0" err="1">
                <a:solidFill>
                  <a:schemeClr val="bg1"/>
                </a:solidFill>
              </a:rPr>
              <a:t>unpersist</a:t>
            </a:r>
            <a:r>
              <a:rPr lang="en-US" sz="2000" dirty="0">
                <a:solidFill>
                  <a:schemeClr val="bg1"/>
                </a:solidFill>
              </a:rPr>
              <a:t> method is used to remove the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from the cache, freeing up the memory it occupied.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50AB8-11DA-2573-5A97-ED89E1FA6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198" y="2658191"/>
            <a:ext cx="2587715" cy="770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432A13-382B-9F49-609B-64281CE89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197" y="4998869"/>
            <a:ext cx="2879715" cy="83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83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0EF9-C942-838C-0A2E-66788175D193}"/>
              </a:ext>
            </a:extLst>
          </p:cNvPr>
          <p:cNvSpPr txBox="1"/>
          <p:nvPr/>
        </p:nvSpPr>
        <p:spPr>
          <a:xfrm>
            <a:off x="1268949" y="1213217"/>
            <a:ext cx="94102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10) Query Execution 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The explain method is used to display the physical plan and optimization steps undertaken by Spark for executing the given query.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C667-4FD9-B030-835D-24EFA97C8662}"/>
              </a:ext>
            </a:extLst>
          </p:cNvPr>
          <p:cNvSpPr txBox="1"/>
          <p:nvPr/>
        </p:nvSpPr>
        <p:spPr>
          <a:xfrm>
            <a:off x="1268949" y="403489"/>
            <a:ext cx="3880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Basic commands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74ADE-FC9A-6917-1661-0A39A2DC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64" y="3103759"/>
            <a:ext cx="8236723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/>
        </p:nvSpPr>
        <p:spPr>
          <a:xfrm>
            <a:off x="891251" y="486137"/>
            <a:ext cx="1067185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Case Study 1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Doing analysis of data of customers who have ordered food.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table is having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Order id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Food type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Month ordred (months jan, feb, march and april have been taken)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 name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Rating given by them out of 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6505c31675_0_59"/>
          <p:cNvSpPr txBox="1"/>
          <p:nvPr/>
        </p:nvSpPr>
        <p:spPr>
          <a:xfrm>
            <a:off x="289625" y="185225"/>
            <a:ext cx="3620400" cy="6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SerialNumber,FoodItemOrdered,Month,CustomerName,Rating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1,Indian,January,Ram,4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2,American,January,John,3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3,Chinese,February,Seth,5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4,Italian,February,Shyam,2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5,Mexican,February,Micheal,4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6,Indian,March,Tom,5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7,American,March,Robert,3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9,Italian,April,Raj,4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10,Mexican,January,Chris,1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11,Indian,January,Ram,5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12,American,February,John,3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14,Italian,February,Shyam,2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15,Mexican,March,Micheal,5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17,American,March,Robert,3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18,Chinese,January,Dwayne,1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19,Italian,April,Raj,4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20,Mexican,April,Chris,2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21,Indian,April,Ram,3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22,American,January,John,4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23,Chinese,February,Seth,5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24,Italian,February,Shyam,1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25,Mexican,February,Micheal,3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26,Indian,March,Tom,2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27,American,March,Robert,4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28,Chinese,March,Dwayne,5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29,Italian,April,Raj,3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39,Italian,April,Raj,3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lt1"/>
                </a:solidFill>
              </a:rPr>
              <a:t>40,Mexican,April,Chris,4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91" name="Google Shape;91;g26505c31675_0_59"/>
          <p:cNvSpPr txBox="1"/>
          <p:nvPr/>
        </p:nvSpPr>
        <p:spPr>
          <a:xfrm>
            <a:off x="3800600" y="185225"/>
            <a:ext cx="2704800" cy="6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49,Italian,April,Raj,3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59,Italian,April,Raj,3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69,Italian,April,Raj,3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79,Italian,April,Raj,3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lt1"/>
                </a:solidFill>
              </a:rPr>
              <a:t>80,Mexican,April,Chris,4</a:t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2" name="Google Shape;92;g26505c31675_0_59"/>
          <p:cNvSpPr txBox="1"/>
          <p:nvPr/>
        </p:nvSpPr>
        <p:spPr>
          <a:xfrm>
            <a:off x="6655800" y="77925"/>
            <a:ext cx="2582100" cy="6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89,Italian,April,Raj,3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99,Italian,April,Raj,3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109,Italian,April,Raj,3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119,Italian,April,Raj,3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lt1"/>
                </a:solidFill>
              </a:rPr>
              <a:t>120,Mexican,April,Chris,4</a:t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3" name="Google Shape;93;g26505c31675_0_59"/>
          <p:cNvSpPr txBox="1"/>
          <p:nvPr/>
        </p:nvSpPr>
        <p:spPr>
          <a:xfrm>
            <a:off x="9388300" y="483600"/>
            <a:ext cx="2704800" cy="39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129,Italian,April,Raj,3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130,Mexican,April,Chris,4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131,Indian,April,Ram,5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132,American,January,John,2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133,Chinese,February,Seth,4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134,Italian,February,Shyam,3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135,Mexican,February,Micheal,1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136,Indian,March,Tom,4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137,American,March,Robert,5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138,Chinese,March,Dwayne,2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139,Italian,April,Raj,3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lt1"/>
                </a:solidFill>
              </a:rPr>
              <a:t>140,Mexican,April,Chris,</a:t>
            </a:r>
            <a:endParaRPr sz="1000" b="1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2"/>
          <p:cNvPicPr preferRelativeResize="0"/>
          <p:nvPr/>
        </p:nvPicPr>
        <p:blipFill rotWithShape="1">
          <a:blip r:embed="rId3">
            <a:alphaModFix/>
          </a:blip>
          <a:srcRect l="16186" r="-8"/>
          <a:stretch/>
        </p:blipFill>
        <p:spPr>
          <a:xfrm>
            <a:off x="1642099" y="696425"/>
            <a:ext cx="3645400" cy="193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2"/>
          <p:cNvPicPr preferRelativeResize="0"/>
          <p:nvPr/>
        </p:nvPicPr>
        <p:blipFill rotWithShape="1">
          <a:blip r:embed="rId4">
            <a:alphaModFix/>
          </a:blip>
          <a:srcRect l="15860"/>
          <a:stretch/>
        </p:blipFill>
        <p:spPr>
          <a:xfrm>
            <a:off x="1642102" y="4436500"/>
            <a:ext cx="3733800" cy="8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1064872" y="3507129"/>
            <a:ext cx="21413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Creating a table locally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3"/>
          <p:cNvPicPr preferRelativeResize="0"/>
          <p:nvPr/>
        </p:nvPicPr>
        <p:blipFill rotWithShape="1">
          <a:blip r:embed="rId3">
            <a:alphaModFix/>
          </a:blip>
          <a:srcRect l="12785"/>
          <a:stretch/>
        </p:blipFill>
        <p:spPr>
          <a:xfrm>
            <a:off x="5904450" y="462450"/>
            <a:ext cx="5135050" cy="549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4">
            <a:alphaModFix/>
          </a:blip>
          <a:srcRect l="19568"/>
          <a:stretch/>
        </p:blipFill>
        <p:spPr>
          <a:xfrm>
            <a:off x="1240825" y="2674475"/>
            <a:ext cx="3468375" cy="272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1088019" y="1036255"/>
            <a:ext cx="31598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Description and select *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/>
          <p:cNvPicPr preferRelativeResize="0"/>
          <p:nvPr/>
        </p:nvPicPr>
        <p:blipFill rotWithShape="1">
          <a:blip r:embed="rId3">
            <a:alphaModFix/>
          </a:blip>
          <a:srcRect l="19413"/>
          <a:stretch/>
        </p:blipFill>
        <p:spPr>
          <a:xfrm>
            <a:off x="4866175" y="405125"/>
            <a:ext cx="4808800" cy="27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 rotWithShape="1">
          <a:blip r:embed="rId4">
            <a:alphaModFix/>
          </a:blip>
          <a:srcRect l="16874"/>
          <a:stretch/>
        </p:blipFill>
        <p:spPr>
          <a:xfrm>
            <a:off x="4866175" y="3433025"/>
            <a:ext cx="4808800" cy="274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080656" y="405114"/>
            <a:ext cx="29463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Count of orders wrt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Food type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Month ordered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 l="14842"/>
          <a:stretch/>
        </p:blipFill>
        <p:spPr>
          <a:xfrm>
            <a:off x="6355250" y="405125"/>
            <a:ext cx="4570225" cy="41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92873" y="405114"/>
            <a:ext cx="33205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Count of orders wrt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 name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rating</a:t>
            </a:r>
            <a:endParaRPr/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4">
            <a:alphaModFix/>
          </a:blip>
          <a:srcRect l="17999"/>
          <a:stretch/>
        </p:blipFill>
        <p:spPr>
          <a:xfrm>
            <a:off x="1833350" y="2994150"/>
            <a:ext cx="3647775" cy="3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l="18877"/>
          <a:stretch/>
        </p:blipFill>
        <p:spPr>
          <a:xfrm>
            <a:off x="1437175" y="2265100"/>
            <a:ext cx="4071075" cy="3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4">
            <a:alphaModFix/>
          </a:blip>
          <a:srcRect l="14965"/>
          <a:stretch/>
        </p:blipFill>
        <p:spPr>
          <a:xfrm>
            <a:off x="6341905" y="2265100"/>
            <a:ext cx="4041582" cy="36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146158" y="370390"/>
            <a:ext cx="44331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 giving a rating of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505c31675_0_32"/>
          <p:cNvSpPr txBox="1"/>
          <p:nvPr/>
        </p:nvSpPr>
        <p:spPr>
          <a:xfrm>
            <a:off x="6146158" y="370390"/>
            <a:ext cx="443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 giving a rating of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Schoolbook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</a:t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34" name="Google Shape;134;g26505c31675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250" y="2101952"/>
            <a:ext cx="3921400" cy="36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6505c31675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5850" y="2047301"/>
            <a:ext cx="3689311" cy="37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26505c31675_0_39"/>
          <p:cNvPicPr preferRelativeResize="0"/>
          <p:nvPr/>
        </p:nvPicPr>
        <p:blipFill rotWithShape="1">
          <a:blip r:embed="rId3">
            <a:alphaModFix/>
          </a:blip>
          <a:srcRect l="16915"/>
          <a:stretch/>
        </p:blipFill>
        <p:spPr>
          <a:xfrm>
            <a:off x="1874324" y="1903525"/>
            <a:ext cx="4054600" cy="41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6505c31675_0_39"/>
          <p:cNvSpPr txBox="1"/>
          <p:nvPr/>
        </p:nvSpPr>
        <p:spPr>
          <a:xfrm>
            <a:off x="6146158" y="370390"/>
            <a:ext cx="443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 giving a rating of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9336" y="1956727"/>
            <a:ext cx="4265726" cy="466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775" y="127322"/>
            <a:ext cx="3497030" cy="3175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9775" y="3489795"/>
            <a:ext cx="3022468" cy="324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180881" y="127322"/>
            <a:ext cx="303256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Average rating given wrt</a:t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Month ordered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Food type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/>
          </a:blip>
          <a:srcRect l="17074" b="14354"/>
          <a:stretch/>
        </p:blipFill>
        <p:spPr>
          <a:xfrm>
            <a:off x="3937200" y="2238650"/>
            <a:ext cx="4694475" cy="383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2257063" y="300942"/>
            <a:ext cx="688693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Orders by indian food type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Count of orders given per month and their rating month wise.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505c31675_0_17"/>
          <p:cNvSpPr txBox="1"/>
          <p:nvPr/>
        </p:nvSpPr>
        <p:spPr>
          <a:xfrm>
            <a:off x="2257063" y="300942"/>
            <a:ext cx="6886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Orders by mexican and chinese food type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Count of orders given per month and their rating month wise.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61" name="Google Shape;161;g26505c31675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300" y="2169100"/>
            <a:ext cx="4378575" cy="39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6505c31675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200" y="2169103"/>
            <a:ext cx="4590335" cy="39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505c31675_0_22"/>
          <p:cNvSpPr txBox="1"/>
          <p:nvPr/>
        </p:nvSpPr>
        <p:spPr>
          <a:xfrm>
            <a:off x="2257063" y="300942"/>
            <a:ext cx="6886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Orders by italian and american food type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Count of orders given per month and their rating month wise.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68" name="Google Shape;168;g26505c31675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775" y="2018829"/>
            <a:ext cx="5096300" cy="39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26505c31675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475" y="2062150"/>
            <a:ext cx="4634696" cy="38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505c31675_0_48"/>
          <p:cNvSpPr txBox="1"/>
          <p:nvPr/>
        </p:nvSpPr>
        <p:spPr>
          <a:xfrm>
            <a:off x="1736203" y="289367"/>
            <a:ext cx="886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month wise orders and their count and average rating</a:t>
            </a:r>
            <a:endParaRPr/>
          </a:p>
        </p:txBody>
      </p:sp>
      <p:pic>
        <p:nvPicPr>
          <p:cNvPr id="175" name="Google Shape;175;g26505c31675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600" y="1101942"/>
            <a:ext cx="4210050" cy="55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 l="10714"/>
          <a:stretch/>
        </p:blipFill>
        <p:spPr>
          <a:xfrm>
            <a:off x="1409850" y="2000025"/>
            <a:ext cx="9672249" cy="42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736203" y="289367"/>
            <a:ext cx="886620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 who have given more orders in jan than march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Meaning their have been a reduction in orders by that customer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505c31675_0_5"/>
          <p:cNvSpPr txBox="1"/>
          <p:nvPr/>
        </p:nvSpPr>
        <p:spPr>
          <a:xfrm>
            <a:off x="1736203" y="289367"/>
            <a:ext cx="886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 who have given more orders in jan than april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Meaning their have been a reduction in orders by that customer</a:t>
            </a:r>
            <a:endParaRPr/>
          </a:p>
        </p:txBody>
      </p:sp>
      <p:pic>
        <p:nvPicPr>
          <p:cNvPr id="187" name="Google Shape;187;g26505c31675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950" y="2245925"/>
            <a:ext cx="9604100" cy="42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877455" y="300942"/>
            <a:ext cx="10668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 can also find the customer who can stop using this business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 tried to find these customers by finding who have ordered less in 2</a:t>
            </a:r>
            <a:r>
              <a:rPr lang="en-US" sz="1800" baseline="30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nd</a:t>
            </a: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half as compared to 1</a:t>
            </a:r>
            <a:r>
              <a:rPr lang="en-US" sz="1800" baseline="30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</a:t>
            </a: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half and whose average rating has decreased from 1</a:t>
            </a:r>
            <a:r>
              <a:rPr lang="en-US" sz="1800" baseline="30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</a:t>
            </a: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half to 2</a:t>
            </a:r>
            <a:r>
              <a:rPr lang="en-US" sz="1800" baseline="30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nd</a:t>
            </a: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half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Here 1</a:t>
            </a:r>
            <a:r>
              <a:rPr lang="en-US" sz="1800" baseline="30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</a:t>
            </a: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half is taken as January and February and 2</a:t>
            </a:r>
            <a:r>
              <a:rPr lang="en-US" sz="1800" baseline="30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nd</a:t>
            </a: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half is taken as March and April.</a:t>
            </a:r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l="7089"/>
          <a:stretch/>
        </p:blipFill>
        <p:spPr>
          <a:xfrm>
            <a:off x="2448125" y="1667575"/>
            <a:ext cx="7875549" cy="48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/>
        </p:nvSpPr>
        <p:spPr>
          <a:xfrm>
            <a:off x="891251" y="486137"/>
            <a:ext cx="10671858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Case Study 2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Doing analysis of data of Books in a Book Store.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Columns in the table are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Author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Genre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Price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505c31675_1_68"/>
          <p:cNvSpPr txBox="1"/>
          <p:nvPr/>
        </p:nvSpPr>
        <p:spPr>
          <a:xfrm>
            <a:off x="1341000" y="135000"/>
            <a:ext cx="9848100" cy="6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id,title,author,genre,price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1,The Great Gatsby,F. Scott Fitzgerald,Fiction,10.99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2,To Kill a Mockingbird,Harper Lee,Fiction,12.99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3,1984,George Orwell,Science Fiction,15.99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4,The Catcher in the Rye,J.D. Salinger,Fiction,11.99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5,The Hobbit,J.R.R. Tolkien,Fantasy,18.99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6,The Da Vinci Code,Dan Brown,Mystery,14.99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7,Harry Potter and the Sorcerer's Stone,J.K. Rowling,Fantasy,20.99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8,The Hunger Games,Suzanne Collins,Science Fiction,16.99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9,The Lord of the Rings,J.R.R. Tolkien,Fantasy,25.99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10,The Shining,Stephen King,Horror,13.99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11,Brave New World,Aldous Huxley,Science Fiction,14.49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12,The Alchemist,Paulo Coelho,Fiction,12.50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13,One Hundred Years of Solitude,Gabriel Garcia Marquez,Magic Realism,14.99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14,The Hitchhiker's Guide to the Galaxy,Douglas Adams,Science Fiction,11.00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15,Pride and Prejudice,Jane Austen,Romance,9.99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16,The Road,Cormac McCarthy,Dystopian Fiction,13.49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17,The Martian,Andy Weir,Science Fiction,16.50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18,The Girl on the Train,Paula Hawkins,Thriller,15.00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19,A Song of Ice and Fire: A Game of Thrones,George R.R. Martin,Fantasy,22.99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20,The Silent Patient,Alex Michaelides,Thriller,17.50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21,The Old Man and the Sea,Ernest Hemingway,Adventure,11.99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22,The Picture of Dorian Gray,Oscar Wilde,Classics,12.99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23,The Kite Runner,Khaled Hosseini,Fiction,14.75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24,The Road Less Traveled,M. Scott Peck,Self-Help,10.50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25,The Secret Garden,Frances Hodgson Burnett,Children's Literature,8.99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26,The Color Purple,Alice Walker,Fiction,13.25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27,Sapiens: A Brief History of Humankind,Yuval Noah Harari,History,19.99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28,The Brothers Karamazov,Fyodor Dostoevsky,Classics,15.99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29,The Wind in the Willows,Kenneth Grahame,Children's Literature,9.50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30,The Great Expectations,Charles Dickens,Classics,12.25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868974" y="327319"/>
            <a:ext cx="1066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Creating a spark session and importing the csv file.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Reading the csv file and creating a temporary view.</a:t>
            </a:r>
            <a:endParaRPr/>
          </a:p>
        </p:txBody>
      </p:sp>
      <p:pic>
        <p:nvPicPr>
          <p:cNvPr id="209" name="Google Shape;209;p22"/>
          <p:cNvPicPr preferRelativeResize="0"/>
          <p:nvPr/>
        </p:nvPicPr>
        <p:blipFill rotWithShape="1">
          <a:blip r:embed="rId3">
            <a:alphaModFix/>
          </a:blip>
          <a:srcRect l="12181" t="30661" r="7233" b="-658"/>
          <a:stretch/>
        </p:blipFill>
        <p:spPr>
          <a:xfrm>
            <a:off x="1811216" y="1679331"/>
            <a:ext cx="8783516" cy="4176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/>
        </p:nvSpPr>
        <p:spPr>
          <a:xfrm>
            <a:off x="1042130" y="606792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Printing the list of unique authors and the number of books per author.</a:t>
            </a:r>
            <a:endParaRPr/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 l="12500" t="29642" r="14182" b="11073"/>
          <a:stretch/>
        </p:blipFill>
        <p:spPr>
          <a:xfrm>
            <a:off x="1386305" y="1581774"/>
            <a:ext cx="8938848" cy="3956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/>
        </p:nvSpPr>
        <p:spPr>
          <a:xfrm>
            <a:off x="877455" y="300942"/>
            <a:ext cx="10668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Filtering the table based on price.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24"/>
          <p:cNvPicPr preferRelativeResize="0"/>
          <p:nvPr/>
        </p:nvPicPr>
        <p:blipFill rotWithShape="1">
          <a:blip r:embed="rId3">
            <a:alphaModFix/>
          </a:blip>
          <a:srcRect l="15721" t="29579" r="27666" b="47397"/>
          <a:stretch/>
        </p:blipFill>
        <p:spPr>
          <a:xfrm>
            <a:off x="3465525" y="953406"/>
            <a:ext cx="6901949" cy="153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 rotWithShape="1">
          <a:blip r:embed="rId3">
            <a:alphaModFix/>
          </a:blip>
          <a:srcRect l="15721" t="53493" r="27666" b="1253"/>
          <a:stretch/>
        </p:blipFill>
        <p:spPr>
          <a:xfrm>
            <a:off x="3465525" y="3217251"/>
            <a:ext cx="6901949" cy="30201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691430" y="2711892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Printing all unique genres in the table.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/>
        </p:nvSpPr>
        <p:spPr>
          <a:xfrm>
            <a:off x="877455" y="300942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Finding the average price of all the books.</a:t>
            </a:r>
            <a:endParaRPr/>
          </a:p>
        </p:txBody>
      </p:sp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 l="15288" t="29710" r="25360" b="50490"/>
          <a:stretch/>
        </p:blipFill>
        <p:spPr>
          <a:xfrm>
            <a:off x="2663475" y="824323"/>
            <a:ext cx="7236077" cy="132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 l="15288" t="49312" r="25360" b="-1379"/>
          <a:stretch/>
        </p:blipFill>
        <p:spPr>
          <a:xfrm>
            <a:off x="2663463" y="2898503"/>
            <a:ext cx="7236077" cy="34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947505" y="2299692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Finding the average price of books based on genre.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6505c31675_1_48"/>
          <p:cNvSpPr txBox="1"/>
          <p:nvPr/>
        </p:nvSpPr>
        <p:spPr>
          <a:xfrm>
            <a:off x="853930" y="524417"/>
            <a:ext cx="10668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Find the most expensive book.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g26505c31675_1_48"/>
          <p:cNvPicPr preferRelativeResize="0"/>
          <p:nvPr/>
        </p:nvPicPr>
        <p:blipFill rotWithShape="1">
          <a:blip r:embed="rId3">
            <a:alphaModFix/>
          </a:blip>
          <a:srcRect l="16115" t="32258" r="35387" b="48077"/>
          <a:stretch/>
        </p:blipFill>
        <p:spPr>
          <a:xfrm>
            <a:off x="2249150" y="1027100"/>
            <a:ext cx="6752126" cy="149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26505c31675_1_48"/>
          <p:cNvPicPr preferRelativeResize="0"/>
          <p:nvPr/>
        </p:nvPicPr>
        <p:blipFill rotWithShape="1">
          <a:blip r:embed="rId3">
            <a:alphaModFix/>
          </a:blip>
          <a:srcRect l="15809" t="51326" r="37663" b="24431"/>
          <a:stretch/>
        </p:blipFill>
        <p:spPr>
          <a:xfrm>
            <a:off x="2249150" y="3788525"/>
            <a:ext cx="7134874" cy="203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6505c31675_1_48"/>
          <p:cNvSpPr txBox="1"/>
          <p:nvPr/>
        </p:nvSpPr>
        <p:spPr>
          <a:xfrm>
            <a:off x="853930" y="2972467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Calculate total revenue from book sales.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505c31675_1_53"/>
          <p:cNvSpPr txBox="1"/>
          <p:nvPr/>
        </p:nvSpPr>
        <p:spPr>
          <a:xfrm>
            <a:off x="877455" y="300942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List authors with more than one books.</a:t>
            </a:r>
            <a:endParaRPr/>
          </a:p>
        </p:txBody>
      </p:sp>
      <p:sp>
        <p:nvSpPr>
          <p:cNvPr id="245" name="Google Shape;245;g26505c31675_1_53"/>
          <p:cNvSpPr txBox="1"/>
          <p:nvPr/>
        </p:nvSpPr>
        <p:spPr>
          <a:xfrm>
            <a:off x="959255" y="3441217"/>
            <a:ext cx="106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Find books with titles containing the word code.</a:t>
            </a:r>
            <a:endParaRPr/>
          </a:p>
        </p:txBody>
      </p:sp>
      <p:pic>
        <p:nvPicPr>
          <p:cNvPr id="246" name="Google Shape;246;g26505c31675_1_53"/>
          <p:cNvPicPr preferRelativeResize="0"/>
          <p:nvPr/>
        </p:nvPicPr>
        <p:blipFill rotWithShape="1">
          <a:blip r:embed="rId3">
            <a:alphaModFix/>
          </a:blip>
          <a:srcRect l="21366" t="31005" r="42003" b="35112"/>
          <a:stretch/>
        </p:blipFill>
        <p:spPr>
          <a:xfrm>
            <a:off x="3166675" y="792824"/>
            <a:ext cx="5093501" cy="257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26505c31675_1_53"/>
          <p:cNvPicPr preferRelativeResize="0"/>
          <p:nvPr/>
        </p:nvPicPr>
        <p:blipFill rotWithShape="1">
          <a:blip r:embed="rId3">
            <a:alphaModFix/>
          </a:blip>
          <a:srcRect l="21635" t="64568" r="36098" b="12033"/>
          <a:stretch/>
        </p:blipFill>
        <p:spPr>
          <a:xfrm>
            <a:off x="2965425" y="4225025"/>
            <a:ext cx="5676374" cy="172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2738</Words>
  <Application>Microsoft Office PowerPoint</Application>
  <PresentationFormat>Widescreen</PresentationFormat>
  <Paragraphs>308</Paragraphs>
  <Slides>37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Century Schoolbook</vt:lpstr>
      <vt:lpstr>Noto Sans Symbols</vt:lpstr>
      <vt:lpstr>Arial</vt:lpstr>
      <vt:lpstr>View</vt:lpstr>
      <vt:lpstr>SPARK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SQL</dc:title>
  <dc:creator>P Nayab Rasool Khan</dc:creator>
  <cp:lastModifiedBy>Mukesh Sai Produtur</cp:lastModifiedBy>
  <cp:revision>1</cp:revision>
  <dcterms:created xsi:type="dcterms:W3CDTF">2023-12-26T09:18:38Z</dcterms:created>
  <dcterms:modified xsi:type="dcterms:W3CDTF">2024-01-04T15:44:01Z</dcterms:modified>
</cp:coreProperties>
</file>