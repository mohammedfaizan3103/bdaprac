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70" r:id="rId3"/>
    <p:sldId id="257" r:id="rId4"/>
    <p:sldId id="266" r:id="rId5"/>
    <p:sldId id="267" r:id="rId6"/>
    <p:sldId id="268" r:id="rId7"/>
    <p:sldId id="269" r:id="rId8"/>
    <p:sldId id="259" r:id="rId9"/>
    <p:sldId id="261" r:id="rId10"/>
    <p:sldId id="262" r:id="rId11"/>
    <p:sldId id="263" r:id="rId12"/>
    <p:sldId id="265" r:id="rId13"/>
    <p:sldId id="264" r:id="rId14"/>
    <p:sldId id="271" r:id="rId15"/>
    <p:sldId id="258" r:id="rId16"/>
    <p:sldId id="272" r:id="rId17"/>
    <p:sldId id="273" r:id="rId18"/>
    <p:sldId id="277" r:id="rId19"/>
    <p:sldId id="274" r:id="rId20"/>
    <p:sldId id="275" r:id="rId21"/>
    <p:sldId id="27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1"/>
    <p:restoredTop sz="95741"/>
  </p:normalViewPr>
  <p:slideViewPr>
    <p:cSldViewPr snapToGrid="0">
      <p:cViewPr>
        <p:scale>
          <a:sx n="114" d="100"/>
          <a:sy n="114" d="100"/>
        </p:scale>
        <p:origin x="472" y="4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1/3/24</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1/3/24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1/3/24</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1/3/24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1/3/24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1/3/24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1/3/24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1/3/24</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1/3/24</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1/3/24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1/3/24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1/3/24</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spark.apache.org/docs/latest/streaming-programming-guide.html"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40" name="Rectangle 1039">
            <a:extLst>
              <a:ext uri="{FF2B5EF4-FFF2-40B4-BE49-F238E27FC236}">
                <a16:creationId xmlns:a16="http://schemas.microsoft.com/office/drawing/2014/main" id="{CB73C468-D875-4A8E-A540-E43BF8232D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1">
            <a:schemeClr val="lt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992158-C59C-C7FB-3EF9-A2201156E958}"/>
              </a:ext>
            </a:extLst>
          </p:cNvPr>
          <p:cNvSpPr>
            <a:spLocks noGrp="1"/>
          </p:cNvSpPr>
          <p:nvPr>
            <p:ph type="ctrTitle"/>
          </p:nvPr>
        </p:nvSpPr>
        <p:spPr>
          <a:xfrm>
            <a:off x="6744594" y="3007460"/>
            <a:ext cx="4798243" cy="843078"/>
          </a:xfrm>
        </p:spPr>
        <p:txBody>
          <a:bodyPr>
            <a:normAutofit/>
          </a:bodyPr>
          <a:lstStyle/>
          <a:p>
            <a:r>
              <a:rPr lang="en-US" sz="3600" dirty="0"/>
              <a:t>Elementary aspects</a:t>
            </a:r>
          </a:p>
        </p:txBody>
      </p:sp>
      <p:sp>
        <p:nvSpPr>
          <p:cNvPr id="1042" name="Freeform 6">
            <a:extLst>
              <a:ext uri="{FF2B5EF4-FFF2-40B4-BE49-F238E27FC236}">
                <a16:creationId xmlns:a16="http://schemas.microsoft.com/office/drawing/2014/main" id="{B4734F2F-19FC-4D35-9BDE-5CEAD57D9B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27878" y="2016617"/>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txBody>
          <a:bodyPr/>
          <a:lstStyle/>
          <a:p>
            <a:endParaRPr lang="en-US"/>
          </a:p>
        </p:txBody>
      </p:sp>
      <p:sp>
        <p:nvSpPr>
          <p:cNvPr id="1044" name="Freeform 6">
            <a:extLst>
              <a:ext uri="{FF2B5EF4-FFF2-40B4-BE49-F238E27FC236}">
                <a16:creationId xmlns:a16="http://schemas.microsoft.com/office/drawing/2014/main" id="{D97A8A26-FD96-4968-A34A-727382AC7E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flipV="1">
            <a:off x="649163" y="634028"/>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txBody>
          <a:bodyPr/>
          <a:lstStyle/>
          <a:p>
            <a:endParaRPr lang="en-US"/>
          </a:p>
        </p:txBody>
      </p:sp>
      <p:pic>
        <p:nvPicPr>
          <p:cNvPr id="1026" name="Picture 2" descr="Apache Spark">
            <a:extLst>
              <a:ext uri="{FF2B5EF4-FFF2-40B4-BE49-F238E27FC236}">
                <a16:creationId xmlns:a16="http://schemas.microsoft.com/office/drawing/2014/main" id="{754DB52F-29E8-1D45-BBE6-2FA2C5BFE74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467380" y="2377083"/>
            <a:ext cx="4207669" cy="21038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02677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33E6A-0BCB-5BBD-4F87-9B2BC16397EF}"/>
              </a:ext>
            </a:extLst>
          </p:cNvPr>
          <p:cNvSpPr>
            <a:spLocks noGrp="1"/>
          </p:cNvSpPr>
          <p:nvPr>
            <p:ph type="title"/>
          </p:nvPr>
        </p:nvSpPr>
        <p:spPr/>
        <p:txBody>
          <a:bodyPr>
            <a:normAutofit/>
          </a:bodyPr>
          <a:lstStyle/>
          <a:p>
            <a:r>
              <a:rPr lang="en-US" sz="2400" b="1" u="sng" dirty="0"/>
              <a:t>Agenda:</a:t>
            </a:r>
          </a:p>
        </p:txBody>
      </p:sp>
      <p:sp>
        <p:nvSpPr>
          <p:cNvPr id="3" name="Content Placeholder 2">
            <a:extLst>
              <a:ext uri="{FF2B5EF4-FFF2-40B4-BE49-F238E27FC236}">
                <a16:creationId xmlns:a16="http://schemas.microsoft.com/office/drawing/2014/main" id="{F941E9AF-C656-7400-F981-B10C636B123C}"/>
              </a:ext>
            </a:extLst>
          </p:cNvPr>
          <p:cNvSpPr>
            <a:spLocks noGrp="1"/>
          </p:cNvSpPr>
          <p:nvPr>
            <p:ph idx="1"/>
          </p:nvPr>
        </p:nvSpPr>
        <p:spPr>
          <a:xfrm>
            <a:off x="1371600" y="1638300"/>
            <a:ext cx="9601200" cy="3581400"/>
          </a:xfrm>
        </p:spPr>
        <p:txBody>
          <a:bodyPr>
            <a:noAutofit/>
          </a:bodyPr>
          <a:lstStyle/>
          <a:p>
            <a:pPr algn="l">
              <a:buFont typeface="Arial" panose="020B0604020202020204" pitchFamily="34" charset="0"/>
              <a:buChar char="•"/>
            </a:pPr>
            <a:r>
              <a:rPr lang="en-US" dirty="0">
                <a:latin typeface="Söhne"/>
              </a:rPr>
              <a:t>What is Spark?</a:t>
            </a:r>
          </a:p>
          <a:p>
            <a:pPr algn="l">
              <a:buFont typeface="Arial" panose="020B0604020202020204" pitchFamily="34" charset="0"/>
              <a:buChar char="•"/>
            </a:pPr>
            <a:r>
              <a:rPr lang="en-US" dirty="0">
                <a:latin typeface="Söhne"/>
              </a:rPr>
              <a:t>Features of Spark</a:t>
            </a:r>
          </a:p>
          <a:p>
            <a:pPr algn="l">
              <a:buFont typeface="Arial" panose="020B0604020202020204" pitchFamily="34" charset="0"/>
              <a:buChar char="•"/>
            </a:pPr>
            <a:r>
              <a:rPr lang="en-US" dirty="0">
                <a:latin typeface="Söhne"/>
              </a:rPr>
              <a:t>Components of Spark</a:t>
            </a:r>
          </a:p>
          <a:p>
            <a:pPr>
              <a:buFont typeface="Arial" panose="020B0604020202020204" pitchFamily="34" charset="0"/>
              <a:buChar char="•"/>
            </a:pPr>
            <a:r>
              <a:rPr lang="en-US" dirty="0">
                <a:latin typeface="Söhne"/>
              </a:rPr>
              <a:t>Apache Spark Architecture</a:t>
            </a:r>
          </a:p>
          <a:p>
            <a:pPr>
              <a:buFont typeface="Arial" panose="020B0604020202020204" pitchFamily="34" charset="0"/>
              <a:buChar char="•"/>
            </a:pPr>
            <a:r>
              <a:rPr lang="en-US" dirty="0">
                <a:latin typeface="Söhne"/>
              </a:rPr>
              <a:t>Basic Spark commands</a:t>
            </a:r>
          </a:p>
          <a:p>
            <a:pPr algn="l">
              <a:buFont typeface="Arial" panose="020B0604020202020204" pitchFamily="34" charset="0"/>
              <a:buChar char="•"/>
            </a:pPr>
            <a:endParaRPr lang="en-US" sz="1800" dirty="0">
              <a:latin typeface="Söhne"/>
            </a:endParaRPr>
          </a:p>
        </p:txBody>
      </p:sp>
    </p:spTree>
    <p:extLst>
      <p:ext uri="{BB962C8B-B14F-4D97-AF65-F5344CB8AC3E}">
        <p14:creationId xmlns:p14="http://schemas.microsoft.com/office/powerpoint/2010/main" val="16687717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33E6A-0BCB-5BBD-4F87-9B2BC16397EF}"/>
              </a:ext>
            </a:extLst>
          </p:cNvPr>
          <p:cNvSpPr>
            <a:spLocks noGrp="1"/>
          </p:cNvSpPr>
          <p:nvPr>
            <p:ph type="title"/>
          </p:nvPr>
        </p:nvSpPr>
        <p:spPr/>
        <p:txBody>
          <a:bodyPr>
            <a:normAutofit/>
          </a:bodyPr>
          <a:lstStyle/>
          <a:p>
            <a:r>
              <a:rPr lang="en-US" sz="2400" b="1" u="sng" dirty="0"/>
              <a:t>What is Spark?</a:t>
            </a:r>
          </a:p>
        </p:txBody>
      </p:sp>
      <p:sp>
        <p:nvSpPr>
          <p:cNvPr id="3" name="Content Placeholder 2">
            <a:extLst>
              <a:ext uri="{FF2B5EF4-FFF2-40B4-BE49-F238E27FC236}">
                <a16:creationId xmlns:a16="http://schemas.microsoft.com/office/drawing/2014/main" id="{F941E9AF-C656-7400-F981-B10C636B123C}"/>
              </a:ext>
            </a:extLst>
          </p:cNvPr>
          <p:cNvSpPr>
            <a:spLocks noGrp="1"/>
          </p:cNvSpPr>
          <p:nvPr>
            <p:ph idx="1"/>
          </p:nvPr>
        </p:nvSpPr>
        <p:spPr>
          <a:xfrm>
            <a:off x="1371600" y="1273215"/>
            <a:ext cx="10041038" cy="5150733"/>
          </a:xfrm>
        </p:spPr>
        <p:txBody>
          <a:bodyPr>
            <a:normAutofit/>
          </a:bodyPr>
          <a:lstStyle/>
          <a:p>
            <a:pPr marL="0" indent="0" algn="just">
              <a:buNone/>
            </a:pPr>
            <a:r>
              <a:rPr lang="en-US" sz="1800" dirty="0"/>
              <a:t>Apache Spark is an open-source, distributed computing system designed for large-scale data processing and analytics. It was developed to address the limitations of the traditional Hadoop MapReduce model, providing a more versatile and efficient framework for big data applications. Spark is known for its speed, ease of use, and support for various workloads, including batch processing, iterative algorithms, interactive queries, and streaming.</a:t>
            </a:r>
          </a:p>
          <a:p>
            <a:pPr marL="0" indent="0" algn="just">
              <a:buNone/>
            </a:pPr>
            <a:endParaRPr lang="en-US" sz="1800" dirty="0"/>
          </a:p>
          <a:p>
            <a:pPr marL="0" indent="0" algn="just">
              <a:buNone/>
            </a:pPr>
            <a:r>
              <a:rPr lang="en-US" sz="1800" dirty="0"/>
              <a:t>To use Apache Spark, you typically write applications in Scala, Java, Python, or R. The Spark API is available in these languages, allowing developers to choose the language they are most comfortable with. Additionally, Spark provides interactive shells for Scala and Python, making it easy to experiment and prototype code.</a:t>
            </a:r>
          </a:p>
          <a:p>
            <a:pPr marL="0" indent="0" algn="just">
              <a:buNone/>
            </a:pPr>
            <a:endParaRPr lang="en-US" sz="1800" dirty="0"/>
          </a:p>
          <a:p>
            <a:pPr algn="just">
              <a:buFont typeface="Arial" panose="020B0604020202020204" pitchFamily="34" charset="0"/>
              <a:buChar char="•"/>
            </a:pPr>
            <a:r>
              <a:rPr lang="en-US" sz="1800" b="1" i="0" dirty="0">
                <a:effectLst/>
                <a:latin typeface="Söhne"/>
              </a:rPr>
              <a:t>In-Memory Processing</a:t>
            </a:r>
          </a:p>
          <a:p>
            <a:pPr algn="just">
              <a:buFont typeface="Arial" panose="020B0604020202020204" pitchFamily="34" charset="0"/>
              <a:buChar char="•"/>
            </a:pPr>
            <a:r>
              <a:rPr lang="en-US" sz="1800" b="1" i="0" dirty="0">
                <a:effectLst/>
                <a:latin typeface="Söhne"/>
              </a:rPr>
              <a:t>Resilient Distributed Datasets (RDD)</a:t>
            </a:r>
          </a:p>
          <a:p>
            <a:pPr marL="0" indent="0" algn="just">
              <a:buNone/>
            </a:pPr>
            <a:endParaRPr lang="en-US" sz="1800" dirty="0"/>
          </a:p>
          <a:p>
            <a:pPr marL="0" indent="0" algn="just">
              <a:buNone/>
            </a:pPr>
            <a:endParaRPr lang="en-US" sz="1800" b="1" i="0" dirty="0">
              <a:effectLst/>
              <a:latin typeface="Söhne"/>
            </a:endParaRPr>
          </a:p>
        </p:txBody>
      </p:sp>
    </p:spTree>
    <p:extLst>
      <p:ext uri="{BB962C8B-B14F-4D97-AF65-F5344CB8AC3E}">
        <p14:creationId xmlns:p14="http://schemas.microsoft.com/office/powerpoint/2010/main" val="2707729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33E6A-0BCB-5BBD-4F87-9B2BC16397EF}"/>
              </a:ext>
            </a:extLst>
          </p:cNvPr>
          <p:cNvSpPr>
            <a:spLocks noGrp="1"/>
          </p:cNvSpPr>
          <p:nvPr>
            <p:ph type="title"/>
          </p:nvPr>
        </p:nvSpPr>
        <p:spPr/>
        <p:txBody>
          <a:bodyPr>
            <a:normAutofit/>
          </a:bodyPr>
          <a:lstStyle/>
          <a:p>
            <a:r>
              <a:rPr lang="en-US" sz="2400" b="1" u="sng" dirty="0"/>
              <a:t>Features of Spark:</a:t>
            </a:r>
          </a:p>
        </p:txBody>
      </p:sp>
      <p:sp>
        <p:nvSpPr>
          <p:cNvPr id="3" name="Content Placeholder 2">
            <a:extLst>
              <a:ext uri="{FF2B5EF4-FFF2-40B4-BE49-F238E27FC236}">
                <a16:creationId xmlns:a16="http://schemas.microsoft.com/office/drawing/2014/main" id="{F941E9AF-C656-7400-F981-B10C636B123C}"/>
              </a:ext>
            </a:extLst>
          </p:cNvPr>
          <p:cNvSpPr>
            <a:spLocks noGrp="1"/>
          </p:cNvSpPr>
          <p:nvPr>
            <p:ph idx="1"/>
          </p:nvPr>
        </p:nvSpPr>
        <p:spPr>
          <a:xfrm>
            <a:off x="1371600" y="1638300"/>
            <a:ext cx="9601200" cy="3581400"/>
          </a:xfrm>
        </p:spPr>
        <p:txBody>
          <a:bodyPr>
            <a:noAutofit/>
          </a:bodyPr>
          <a:lstStyle/>
          <a:p>
            <a:pPr algn="l">
              <a:buFont typeface="Arial" panose="020B0604020202020204" pitchFamily="34" charset="0"/>
              <a:buChar char="•"/>
            </a:pPr>
            <a:r>
              <a:rPr lang="en-US" sz="1700" b="1" dirty="0">
                <a:latin typeface="Söhne"/>
              </a:rPr>
              <a:t>Fault tolerance</a:t>
            </a:r>
          </a:p>
          <a:p>
            <a:pPr algn="l">
              <a:buFont typeface="Arial" panose="020B0604020202020204" pitchFamily="34" charset="0"/>
              <a:buChar char="•"/>
            </a:pPr>
            <a:r>
              <a:rPr lang="en-US" sz="1700" b="1" dirty="0">
                <a:latin typeface="Söhne"/>
              </a:rPr>
              <a:t>Dynamic In Nature</a:t>
            </a:r>
          </a:p>
          <a:p>
            <a:pPr algn="l">
              <a:buFont typeface="Arial" panose="020B0604020202020204" pitchFamily="34" charset="0"/>
              <a:buChar char="•"/>
            </a:pPr>
            <a:r>
              <a:rPr lang="en-US" sz="1700" b="1" dirty="0">
                <a:latin typeface="Söhne"/>
              </a:rPr>
              <a:t>Lazy Evaluation</a:t>
            </a:r>
          </a:p>
          <a:p>
            <a:pPr algn="l">
              <a:buFont typeface="Arial" panose="020B0604020202020204" pitchFamily="34" charset="0"/>
              <a:buChar char="•"/>
            </a:pPr>
            <a:r>
              <a:rPr lang="en-US" sz="1700" b="1" dirty="0">
                <a:latin typeface="Söhne"/>
              </a:rPr>
              <a:t>Real-Time Stream Processing</a:t>
            </a:r>
          </a:p>
          <a:p>
            <a:pPr algn="l">
              <a:buFont typeface="Arial" panose="020B0604020202020204" pitchFamily="34" charset="0"/>
              <a:buChar char="•"/>
            </a:pPr>
            <a:r>
              <a:rPr lang="en-US" sz="1700" b="1" dirty="0">
                <a:latin typeface="Söhne"/>
              </a:rPr>
              <a:t>Speed</a:t>
            </a:r>
          </a:p>
          <a:p>
            <a:pPr algn="l">
              <a:buFont typeface="Arial" panose="020B0604020202020204" pitchFamily="34" charset="0"/>
              <a:buChar char="•"/>
            </a:pPr>
            <a:r>
              <a:rPr lang="en-US" sz="1700" b="1" dirty="0">
                <a:latin typeface="Söhne"/>
              </a:rPr>
              <a:t>Reusability</a:t>
            </a:r>
          </a:p>
          <a:p>
            <a:pPr algn="l">
              <a:buFont typeface="Arial" panose="020B0604020202020204" pitchFamily="34" charset="0"/>
              <a:buChar char="•"/>
            </a:pPr>
            <a:r>
              <a:rPr lang="en-US" sz="1700" b="1" dirty="0">
                <a:latin typeface="Söhne"/>
              </a:rPr>
              <a:t>Advanced Analytics</a:t>
            </a:r>
          </a:p>
          <a:p>
            <a:pPr algn="l">
              <a:buFont typeface="Arial" panose="020B0604020202020204" pitchFamily="34" charset="0"/>
              <a:buChar char="•"/>
            </a:pPr>
            <a:r>
              <a:rPr lang="en-US" sz="1700" b="1" dirty="0">
                <a:latin typeface="Söhne"/>
              </a:rPr>
              <a:t>In Memory Computing</a:t>
            </a:r>
          </a:p>
          <a:p>
            <a:pPr algn="l">
              <a:buFont typeface="Arial" panose="020B0604020202020204" pitchFamily="34" charset="0"/>
              <a:buChar char="•"/>
            </a:pPr>
            <a:r>
              <a:rPr lang="en-US" sz="1700" b="1" dirty="0">
                <a:latin typeface="Söhne"/>
              </a:rPr>
              <a:t>Supporting Multiple languages</a:t>
            </a:r>
          </a:p>
          <a:p>
            <a:pPr algn="l">
              <a:buFont typeface="Arial" panose="020B0604020202020204" pitchFamily="34" charset="0"/>
              <a:buChar char="•"/>
            </a:pPr>
            <a:r>
              <a:rPr lang="en-US" sz="1700" b="1" dirty="0">
                <a:latin typeface="Söhne"/>
              </a:rPr>
              <a:t>Integrated with Hadoop</a:t>
            </a:r>
          </a:p>
          <a:p>
            <a:pPr algn="l">
              <a:buFont typeface="Arial" panose="020B0604020202020204" pitchFamily="34" charset="0"/>
              <a:buChar char="•"/>
            </a:pPr>
            <a:r>
              <a:rPr lang="en-US" sz="1700" b="1" dirty="0">
                <a:latin typeface="Söhne"/>
              </a:rPr>
              <a:t>Cost efficient</a:t>
            </a:r>
          </a:p>
          <a:p>
            <a:pPr lvl="1" algn="just">
              <a:buFont typeface="Arial" panose="020B0604020202020204" pitchFamily="34" charset="0"/>
              <a:buChar char="•"/>
            </a:pPr>
            <a:endParaRPr lang="en-US" sz="1500" dirty="0"/>
          </a:p>
        </p:txBody>
      </p:sp>
    </p:spTree>
    <p:extLst>
      <p:ext uri="{BB962C8B-B14F-4D97-AF65-F5344CB8AC3E}">
        <p14:creationId xmlns:p14="http://schemas.microsoft.com/office/powerpoint/2010/main" val="1424149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33E6A-0BCB-5BBD-4F87-9B2BC16397EF}"/>
              </a:ext>
            </a:extLst>
          </p:cNvPr>
          <p:cNvSpPr>
            <a:spLocks noGrp="1"/>
          </p:cNvSpPr>
          <p:nvPr>
            <p:ph type="title"/>
          </p:nvPr>
        </p:nvSpPr>
        <p:spPr/>
        <p:txBody>
          <a:bodyPr>
            <a:normAutofit/>
          </a:bodyPr>
          <a:lstStyle/>
          <a:p>
            <a:r>
              <a:rPr lang="en-US" sz="2400" b="1" u="sng" dirty="0"/>
              <a:t>Features</a:t>
            </a:r>
          </a:p>
        </p:txBody>
      </p:sp>
      <p:sp>
        <p:nvSpPr>
          <p:cNvPr id="3" name="Content Placeholder 2">
            <a:extLst>
              <a:ext uri="{FF2B5EF4-FFF2-40B4-BE49-F238E27FC236}">
                <a16:creationId xmlns:a16="http://schemas.microsoft.com/office/drawing/2014/main" id="{F941E9AF-C656-7400-F981-B10C636B123C}"/>
              </a:ext>
            </a:extLst>
          </p:cNvPr>
          <p:cNvSpPr>
            <a:spLocks noGrp="1"/>
          </p:cNvSpPr>
          <p:nvPr>
            <p:ph idx="1"/>
          </p:nvPr>
        </p:nvSpPr>
        <p:spPr>
          <a:xfrm>
            <a:off x="1371600" y="1556071"/>
            <a:ext cx="10041038" cy="5150733"/>
          </a:xfrm>
        </p:spPr>
        <p:txBody>
          <a:bodyPr>
            <a:normAutofit/>
          </a:bodyPr>
          <a:lstStyle/>
          <a:p>
            <a:pPr algn="l">
              <a:buFont typeface="+mj-lt"/>
              <a:buAutoNum type="arabicPeriod"/>
            </a:pPr>
            <a:r>
              <a:rPr lang="en-US" sz="1600" b="1" i="0" dirty="0">
                <a:solidFill>
                  <a:srgbClr val="222222"/>
                </a:solidFill>
                <a:effectLst/>
                <a:latin typeface="unset"/>
              </a:rPr>
              <a:t>Fault Tolerance: </a:t>
            </a:r>
            <a:r>
              <a:rPr lang="en-US" sz="1600" b="0" i="0" dirty="0">
                <a:solidFill>
                  <a:srgbClr val="444444"/>
                </a:solidFill>
                <a:effectLst/>
                <a:latin typeface="unset"/>
              </a:rPr>
              <a:t>Apache Spark is designed to handle worker node failures. It achieves this fault tolerance by using DAG and RDD (Resilient Distributed Datasets). DAG contains the lineage of all the transformations and actions needed to complete a task. So in the event of a worker node failure, the same results can be achieved by rerunning the steps from the existing DAG.</a:t>
            </a:r>
          </a:p>
          <a:p>
            <a:pPr algn="l">
              <a:buFont typeface="+mj-lt"/>
              <a:buAutoNum type="arabicPeriod"/>
            </a:pPr>
            <a:r>
              <a:rPr lang="en-US" sz="1600" b="1" i="0" dirty="0">
                <a:solidFill>
                  <a:srgbClr val="222222"/>
                </a:solidFill>
                <a:effectLst/>
                <a:latin typeface="unset"/>
              </a:rPr>
              <a:t>Dynamic nature: </a:t>
            </a:r>
            <a:r>
              <a:rPr lang="en-US" sz="1600" b="0" i="0" dirty="0">
                <a:solidFill>
                  <a:srgbClr val="444444"/>
                </a:solidFill>
                <a:effectLst/>
                <a:latin typeface="unset"/>
              </a:rPr>
              <a:t>Spark offers over 80 high-level operators that make it easy to build parallel apps.</a:t>
            </a:r>
          </a:p>
          <a:p>
            <a:pPr algn="l">
              <a:buFont typeface="+mj-lt"/>
              <a:buAutoNum type="arabicPeriod"/>
            </a:pPr>
            <a:r>
              <a:rPr lang="en-US" sz="1600" b="1" i="0" dirty="0">
                <a:solidFill>
                  <a:srgbClr val="222222"/>
                </a:solidFill>
                <a:effectLst/>
                <a:latin typeface="unset"/>
              </a:rPr>
              <a:t>Lazy Evaluation: </a:t>
            </a:r>
            <a:r>
              <a:rPr lang="en-US" sz="1600" b="0" i="0" dirty="0">
                <a:solidFill>
                  <a:srgbClr val="444444"/>
                </a:solidFill>
                <a:effectLst/>
                <a:latin typeface="unset"/>
              </a:rPr>
              <a:t>Spark does not evaluate any transformation immediately. All the </a:t>
            </a:r>
            <a:r>
              <a:rPr lang="en-US" sz="1600" b="1" i="0" dirty="0">
                <a:solidFill>
                  <a:srgbClr val="222222"/>
                </a:solidFill>
                <a:effectLst/>
                <a:latin typeface="unset"/>
              </a:rPr>
              <a:t>transformations</a:t>
            </a:r>
            <a:r>
              <a:rPr lang="en-US" sz="1600" b="0" i="0" dirty="0">
                <a:solidFill>
                  <a:srgbClr val="444444"/>
                </a:solidFill>
                <a:effectLst/>
                <a:latin typeface="unset"/>
              </a:rPr>
              <a:t> are lazily evaluated. The transformations are added to the DAG and the final computation or results are available only when actions are called. This gives Spark the ability to make optimization decisions, as all the transformations become visible to the Spark engine before performing any action.</a:t>
            </a:r>
          </a:p>
          <a:p>
            <a:pPr algn="l">
              <a:buFont typeface="+mj-lt"/>
              <a:buAutoNum type="arabicPeriod"/>
            </a:pPr>
            <a:r>
              <a:rPr lang="en-US" sz="1600" b="1" i="0" dirty="0">
                <a:solidFill>
                  <a:srgbClr val="222222"/>
                </a:solidFill>
                <a:effectLst/>
                <a:latin typeface="unset"/>
              </a:rPr>
              <a:t>Real Time Stream Processing: </a:t>
            </a:r>
            <a:r>
              <a:rPr lang="en-US" sz="1600" b="0" i="0" dirty="0">
                <a:solidFill>
                  <a:srgbClr val="444444"/>
                </a:solidFill>
                <a:effectLst/>
                <a:latin typeface="unset"/>
              </a:rPr>
              <a:t>Spark Streaming brings Apache Spark's </a:t>
            </a:r>
            <a:r>
              <a:rPr lang="en-US" sz="1600" b="1" dirty="0">
                <a:solidFill>
                  <a:srgbClr val="222222"/>
                </a:solidFill>
                <a:latin typeface="unset"/>
                <a:hlinkClick r:id="rId2">
                  <a:extLst>
                    <a:ext uri="{A12FA001-AC4F-418D-AE19-62706E023703}">
                      <ahyp:hlinkClr xmlns:ahyp="http://schemas.microsoft.com/office/drawing/2018/hyperlinkcolor" val="tx"/>
                    </a:ext>
                  </a:extLst>
                </a:hlinkClick>
              </a:rPr>
              <a:t>language-integrated API</a:t>
            </a:r>
            <a:r>
              <a:rPr lang="en-US" sz="1600" b="1" dirty="0">
                <a:solidFill>
                  <a:srgbClr val="222222"/>
                </a:solidFill>
                <a:latin typeface="unset"/>
              </a:rPr>
              <a:t> </a:t>
            </a:r>
            <a:r>
              <a:rPr lang="en-US" sz="1600" b="1" i="0" dirty="0">
                <a:solidFill>
                  <a:srgbClr val="222222"/>
                </a:solidFill>
                <a:effectLst/>
                <a:latin typeface="unset"/>
              </a:rPr>
              <a:t>to stream processing</a:t>
            </a:r>
            <a:r>
              <a:rPr lang="en-US" sz="1600" b="0" i="0" dirty="0">
                <a:solidFill>
                  <a:srgbClr val="444444"/>
                </a:solidFill>
                <a:effectLst/>
                <a:latin typeface="unset"/>
              </a:rPr>
              <a:t>, letting you write streaming jobs the same way you write batch jobs. </a:t>
            </a:r>
          </a:p>
          <a:p>
            <a:pPr>
              <a:buFont typeface="+mj-lt"/>
              <a:buAutoNum type="arabicPeriod"/>
            </a:pPr>
            <a:r>
              <a:rPr lang="en-US" sz="1600" b="1" dirty="0">
                <a:solidFill>
                  <a:srgbClr val="444444"/>
                </a:solidFill>
                <a:latin typeface="unset"/>
              </a:rPr>
              <a:t>Speed: </a:t>
            </a:r>
            <a:r>
              <a:rPr lang="en-US" sz="1600" dirty="0">
                <a:solidFill>
                  <a:srgbClr val="444444"/>
                </a:solidFill>
                <a:latin typeface="unset"/>
              </a:rPr>
              <a:t>Spark enables applications running on Hadoop to run up to 100x faster in memory and up to 10x faster on disk. Spark achieves this by minimizing disk read/write operations for intermediate results. It stores in memory and performs disk operations only when essential. Spark achieves this using DAG, query optimizer and highly optimized physical execution engine. </a:t>
            </a:r>
          </a:p>
          <a:p>
            <a:pPr marL="0" indent="0" algn="l">
              <a:buNone/>
            </a:pPr>
            <a:endParaRPr lang="en-US" sz="1600" b="0" i="0" dirty="0">
              <a:solidFill>
                <a:srgbClr val="444444"/>
              </a:solidFill>
              <a:effectLst/>
              <a:latin typeface="unset"/>
            </a:endParaRPr>
          </a:p>
        </p:txBody>
      </p:sp>
    </p:spTree>
    <p:extLst>
      <p:ext uri="{BB962C8B-B14F-4D97-AF65-F5344CB8AC3E}">
        <p14:creationId xmlns:p14="http://schemas.microsoft.com/office/powerpoint/2010/main" val="25451775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33E6A-0BCB-5BBD-4F87-9B2BC16397EF}"/>
              </a:ext>
            </a:extLst>
          </p:cNvPr>
          <p:cNvSpPr>
            <a:spLocks noGrp="1"/>
          </p:cNvSpPr>
          <p:nvPr>
            <p:ph type="title"/>
          </p:nvPr>
        </p:nvSpPr>
        <p:spPr/>
        <p:txBody>
          <a:bodyPr>
            <a:normAutofit/>
          </a:bodyPr>
          <a:lstStyle/>
          <a:p>
            <a:r>
              <a:rPr lang="en-US" sz="2400" b="1" u="sng" dirty="0"/>
              <a:t>Features</a:t>
            </a:r>
          </a:p>
        </p:txBody>
      </p:sp>
      <p:sp>
        <p:nvSpPr>
          <p:cNvPr id="3" name="Content Placeholder 2">
            <a:extLst>
              <a:ext uri="{FF2B5EF4-FFF2-40B4-BE49-F238E27FC236}">
                <a16:creationId xmlns:a16="http://schemas.microsoft.com/office/drawing/2014/main" id="{F941E9AF-C656-7400-F981-B10C636B123C}"/>
              </a:ext>
            </a:extLst>
          </p:cNvPr>
          <p:cNvSpPr>
            <a:spLocks noGrp="1"/>
          </p:cNvSpPr>
          <p:nvPr>
            <p:ph idx="1"/>
          </p:nvPr>
        </p:nvSpPr>
        <p:spPr>
          <a:xfrm>
            <a:off x="1371600" y="1903311"/>
            <a:ext cx="10041038" cy="5150733"/>
          </a:xfrm>
        </p:spPr>
        <p:txBody>
          <a:bodyPr>
            <a:normAutofit/>
          </a:bodyPr>
          <a:lstStyle/>
          <a:p>
            <a:pPr algn="l">
              <a:buFont typeface="+mj-lt"/>
              <a:buAutoNum type="arabicPeriod" startAt="6"/>
            </a:pPr>
            <a:r>
              <a:rPr lang="en-US" sz="1600" b="1" dirty="0">
                <a:solidFill>
                  <a:srgbClr val="444444"/>
                </a:solidFill>
                <a:latin typeface="unset"/>
              </a:rPr>
              <a:t>Reusability</a:t>
            </a:r>
            <a:r>
              <a:rPr lang="en-US" sz="1600" dirty="0">
                <a:solidFill>
                  <a:srgbClr val="444444"/>
                </a:solidFill>
                <a:latin typeface="unset"/>
              </a:rPr>
              <a:t>: Spark code can be used for batch-processing, joining streaming data against historical data as well as running ad-hoc queries on streaming state. </a:t>
            </a:r>
          </a:p>
          <a:p>
            <a:pPr algn="l">
              <a:buFont typeface="+mj-lt"/>
              <a:buAutoNum type="arabicPeriod" startAt="6"/>
            </a:pPr>
            <a:r>
              <a:rPr lang="en-US" sz="1600" b="1" dirty="0">
                <a:solidFill>
                  <a:srgbClr val="444444"/>
                </a:solidFill>
                <a:latin typeface="unset"/>
              </a:rPr>
              <a:t>Advanced Analytics:</a:t>
            </a:r>
            <a:r>
              <a:rPr lang="en-US" sz="1600" dirty="0">
                <a:solidFill>
                  <a:srgbClr val="444444"/>
                </a:solidFill>
                <a:latin typeface="unset"/>
              </a:rPr>
              <a:t> Apache Spark has rapidly become the </a:t>
            </a:r>
            <a:r>
              <a:rPr lang="en-US" sz="1600" dirty="0" err="1">
                <a:solidFill>
                  <a:srgbClr val="444444"/>
                </a:solidFill>
                <a:latin typeface="unset"/>
              </a:rPr>
              <a:t>defactor</a:t>
            </a:r>
            <a:r>
              <a:rPr lang="en-US" sz="1600" dirty="0">
                <a:solidFill>
                  <a:srgbClr val="444444"/>
                </a:solidFill>
                <a:latin typeface="unset"/>
              </a:rPr>
              <a:t> standard for big data processing and data sciences across multiple industries. Spark provides both machine learning and graph processing libraries, which companies across sectors leverage to tackle complex problems. And all this is easily done using the power of Spark and highly scalable clustered computers. Databricks provides an Advanced Analytics platform with Spark.  </a:t>
            </a:r>
          </a:p>
          <a:p>
            <a:pPr algn="l">
              <a:buFont typeface="+mj-lt"/>
              <a:buAutoNum type="arabicPeriod" startAt="6"/>
            </a:pPr>
            <a:r>
              <a:rPr lang="en-US" sz="1600" b="1" dirty="0">
                <a:solidFill>
                  <a:srgbClr val="444444"/>
                </a:solidFill>
                <a:latin typeface="unset"/>
              </a:rPr>
              <a:t>In Memory Computing</a:t>
            </a:r>
            <a:r>
              <a:rPr lang="en-US" sz="1600" dirty="0">
                <a:solidFill>
                  <a:srgbClr val="444444"/>
                </a:solidFill>
                <a:latin typeface="unset"/>
              </a:rPr>
              <a:t>: Unlike Hadoop MapReduce, Apache Spark is capable of processing tasks in memory and it is not required to write back intermediate results to the disk. This feature gives massive speed to Spark processing. Over and above this, Spark is also capable of caching the intermediate results so that it can be reused in the next iteration. This gives Spark added performance boost for any iterative and repetitive processes, where results in one step can be used later, or there is a common dataset which can be used across multiple tasks.</a:t>
            </a:r>
          </a:p>
          <a:p>
            <a:pPr marL="0" indent="0" algn="l">
              <a:buNone/>
            </a:pPr>
            <a:endParaRPr lang="en-US" sz="1600" b="0" i="0" dirty="0">
              <a:solidFill>
                <a:srgbClr val="444444"/>
              </a:solidFill>
              <a:effectLst/>
              <a:latin typeface="unset"/>
            </a:endParaRPr>
          </a:p>
        </p:txBody>
      </p:sp>
    </p:spTree>
    <p:extLst>
      <p:ext uri="{BB962C8B-B14F-4D97-AF65-F5344CB8AC3E}">
        <p14:creationId xmlns:p14="http://schemas.microsoft.com/office/powerpoint/2010/main" val="17724621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33E6A-0BCB-5BBD-4F87-9B2BC16397EF}"/>
              </a:ext>
            </a:extLst>
          </p:cNvPr>
          <p:cNvSpPr>
            <a:spLocks noGrp="1"/>
          </p:cNvSpPr>
          <p:nvPr>
            <p:ph type="title"/>
          </p:nvPr>
        </p:nvSpPr>
        <p:spPr/>
        <p:txBody>
          <a:bodyPr>
            <a:normAutofit/>
          </a:bodyPr>
          <a:lstStyle/>
          <a:p>
            <a:r>
              <a:rPr lang="en-US" sz="2400" b="1" u="sng" dirty="0"/>
              <a:t>Features</a:t>
            </a:r>
          </a:p>
        </p:txBody>
      </p:sp>
      <p:sp>
        <p:nvSpPr>
          <p:cNvPr id="3" name="Content Placeholder 2">
            <a:extLst>
              <a:ext uri="{FF2B5EF4-FFF2-40B4-BE49-F238E27FC236}">
                <a16:creationId xmlns:a16="http://schemas.microsoft.com/office/drawing/2014/main" id="{F941E9AF-C656-7400-F981-B10C636B123C}"/>
              </a:ext>
            </a:extLst>
          </p:cNvPr>
          <p:cNvSpPr>
            <a:spLocks noGrp="1"/>
          </p:cNvSpPr>
          <p:nvPr>
            <p:ph idx="1"/>
          </p:nvPr>
        </p:nvSpPr>
        <p:spPr>
          <a:xfrm>
            <a:off x="1371600" y="1707267"/>
            <a:ext cx="10041038" cy="5150733"/>
          </a:xfrm>
        </p:spPr>
        <p:txBody>
          <a:bodyPr>
            <a:normAutofit/>
          </a:bodyPr>
          <a:lstStyle/>
          <a:p>
            <a:pPr algn="l">
              <a:buFont typeface="+mj-lt"/>
              <a:buAutoNum type="arabicPeriod" startAt="9"/>
            </a:pPr>
            <a:r>
              <a:rPr lang="en-US" sz="1600" b="1" dirty="0">
                <a:solidFill>
                  <a:srgbClr val="444444"/>
                </a:solidFill>
                <a:latin typeface="unset"/>
              </a:rPr>
              <a:t>Supporting Multiple languages</a:t>
            </a:r>
            <a:r>
              <a:rPr lang="en-US" sz="1600" dirty="0">
                <a:solidFill>
                  <a:srgbClr val="444444"/>
                </a:solidFill>
                <a:latin typeface="unset"/>
              </a:rPr>
              <a:t>: Spark comes inbuilt with multi-language support. It has most of the APIs available in Java, Scala, Python and R. Also, there are advanced features available with R language for data analytics. Also, Spark comes with </a:t>
            </a:r>
            <a:r>
              <a:rPr lang="en-US" sz="1600" dirty="0" err="1">
                <a:solidFill>
                  <a:srgbClr val="444444"/>
                </a:solidFill>
                <a:latin typeface="unset"/>
              </a:rPr>
              <a:t>SparkSQL</a:t>
            </a:r>
            <a:r>
              <a:rPr lang="en-US" sz="1600" dirty="0">
                <a:solidFill>
                  <a:srgbClr val="444444"/>
                </a:solidFill>
                <a:latin typeface="unset"/>
              </a:rPr>
              <a:t> which has  an SQL like feature. SQL developers find it therefore very easy to use, and the learning curve is reduced to a great level. </a:t>
            </a:r>
          </a:p>
          <a:p>
            <a:pPr algn="l">
              <a:buFont typeface="+mj-lt"/>
              <a:buAutoNum type="arabicPeriod" startAt="9"/>
            </a:pPr>
            <a:r>
              <a:rPr lang="en-US" sz="1600" b="1" dirty="0">
                <a:solidFill>
                  <a:srgbClr val="444444"/>
                </a:solidFill>
                <a:latin typeface="unset"/>
              </a:rPr>
              <a:t>Integrated with Hadoop</a:t>
            </a:r>
            <a:r>
              <a:rPr lang="en-US" sz="1600" dirty="0">
                <a:solidFill>
                  <a:srgbClr val="444444"/>
                </a:solidFill>
                <a:latin typeface="unset"/>
              </a:rPr>
              <a:t>: Apache Spark integrates very well with Hadoop file system HDFS. It offers support to multiple file formats like parquet, </a:t>
            </a:r>
            <a:r>
              <a:rPr lang="en-US" sz="1600" dirty="0" err="1">
                <a:solidFill>
                  <a:srgbClr val="444444"/>
                </a:solidFill>
                <a:latin typeface="unset"/>
              </a:rPr>
              <a:t>json</a:t>
            </a:r>
            <a:r>
              <a:rPr lang="en-US" sz="1600" dirty="0">
                <a:solidFill>
                  <a:srgbClr val="444444"/>
                </a:solidFill>
                <a:latin typeface="unset"/>
              </a:rPr>
              <a:t>, csv, ORC, Avro etc. Hadoop can be easily leveraged with Spark as an input data source or destination. </a:t>
            </a:r>
          </a:p>
          <a:p>
            <a:pPr algn="l">
              <a:buFont typeface="+mj-lt"/>
              <a:buAutoNum type="arabicPeriod" startAt="9"/>
            </a:pPr>
            <a:r>
              <a:rPr lang="en-US" sz="1600" b="1" dirty="0">
                <a:solidFill>
                  <a:srgbClr val="444444"/>
                </a:solidFill>
                <a:latin typeface="unset"/>
              </a:rPr>
              <a:t>Cost efficient</a:t>
            </a:r>
            <a:r>
              <a:rPr lang="en-US" sz="1600" dirty="0">
                <a:solidFill>
                  <a:srgbClr val="444444"/>
                </a:solidFill>
                <a:latin typeface="unset"/>
              </a:rPr>
              <a:t>: Apache Spark is an open source software, so it does not have any licensing fee associated with it. Users have to just worry about the hardware cost. Also, Apache Spark reduces a lot of other costs as it comes inbuilt for stream processing, ML and Graph processing. Spark does not have any locking with any vendor, which makes it very easy for organizations to pick and choose Spark features as per their use case. </a:t>
            </a:r>
          </a:p>
          <a:p>
            <a:pPr marL="0" indent="0" algn="l">
              <a:buNone/>
            </a:pPr>
            <a:endParaRPr lang="en-US" sz="1600" b="0" i="0" dirty="0">
              <a:solidFill>
                <a:srgbClr val="444444"/>
              </a:solidFill>
              <a:effectLst/>
              <a:latin typeface="unset"/>
            </a:endParaRPr>
          </a:p>
        </p:txBody>
      </p:sp>
    </p:spTree>
    <p:extLst>
      <p:ext uri="{BB962C8B-B14F-4D97-AF65-F5344CB8AC3E}">
        <p14:creationId xmlns:p14="http://schemas.microsoft.com/office/powerpoint/2010/main" val="37518787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33E6A-0BCB-5BBD-4F87-9B2BC16397EF}"/>
              </a:ext>
            </a:extLst>
          </p:cNvPr>
          <p:cNvSpPr>
            <a:spLocks noGrp="1"/>
          </p:cNvSpPr>
          <p:nvPr>
            <p:ph type="title"/>
          </p:nvPr>
        </p:nvSpPr>
        <p:spPr/>
        <p:txBody>
          <a:bodyPr>
            <a:normAutofit/>
          </a:bodyPr>
          <a:lstStyle/>
          <a:p>
            <a:r>
              <a:rPr lang="en-US" sz="2400" b="1" u="sng" dirty="0"/>
              <a:t>Components of Spark:</a:t>
            </a:r>
          </a:p>
        </p:txBody>
      </p:sp>
      <p:sp>
        <p:nvSpPr>
          <p:cNvPr id="3" name="Content Placeholder 2">
            <a:extLst>
              <a:ext uri="{FF2B5EF4-FFF2-40B4-BE49-F238E27FC236}">
                <a16:creationId xmlns:a16="http://schemas.microsoft.com/office/drawing/2014/main" id="{F941E9AF-C656-7400-F981-B10C636B123C}"/>
              </a:ext>
            </a:extLst>
          </p:cNvPr>
          <p:cNvSpPr>
            <a:spLocks noGrp="1"/>
          </p:cNvSpPr>
          <p:nvPr>
            <p:ph idx="1"/>
          </p:nvPr>
        </p:nvSpPr>
        <p:spPr>
          <a:xfrm>
            <a:off x="1371600" y="1638300"/>
            <a:ext cx="9601200" cy="3581400"/>
          </a:xfrm>
        </p:spPr>
        <p:txBody>
          <a:bodyPr>
            <a:normAutofit/>
          </a:bodyPr>
          <a:lstStyle/>
          <a:p>
            <a:pPr lvl="1" algn="just">
              <a:buFont typeface="Arial" panose="020B0604020202020204" pitchFamily="34" charset="0"/>
              <a:buChar char="•"/>
            </a:pPr>
            <a:r>
              <a:rPr lang="en-US" b="1" i="0" dirty="0">
                <a:effectLst/>
                <a:latin typeface="Söhne"/>
              </a:rPr>
              <a:t>Spark core</a:t>
            </a:r>
          </a:p>
          <a:p>
            <a:pPr lvl="1" algn="just">
              <a:buFont typeface="Arial" panose="020B0604020202020204" pitchFamily="34" charset="0"/>
              <a:buChar char="•"/>
            </a:pPr>
            <a:r>
              <a:rPr lang="en-US" b="1" i="0" dirty="0">
                <a:latin typeface="Söhne"/>
              </a:rPr>
              <a:t>Spark SQL</a:t>
            </a:r>
          </a:p>
          <a:p>
            <a:pPr lvl="1" algn="just">
              <a:buFont typeface="Arial" panose="020B0604020202020204" pitchFamily="34" charset="0"/>
              <a:buChar char="•"/>
            </a:pPr>
            <a:r>
              <a:rPr lang="en-US" b="1" i="0" dirty="0">
                <a:effectLst/>
                <a:latin typeface="Söhne"/>
              </a:rPr>
              <a:t>Spark Streaming</a:t>
            </a:r>
          </a:p>
          <a:p>
            <a:pPr lvl="1" algn="just">
              <a:buFont typeface="Arial" panose="020B0604020202020204" pitchFamily="34" charset="0"/>
              <a:buChar char="•"/>
            </a:pPr>
            <a:r>
              <a:rPr lang="en-US" b="1" i="0" dirty="0" err="1">
                <a:effectLst/>
                <a:latin typeface="Söhne"/>
              </a:rPr>
              <a:t>M</a:t>
            </a:r>
            <a:r>
              <a:rPr lang="en-US" b="1" i="0" dirty="0" err="1">
                <a:latin typeface="Söhne"/>
              </a:rPr>
              <a:t>llib</a:t>
            </a:r>
            <a:endParaRPr lang="en-US" b="1" i="0" dirty="0">
              <a:latin typeface="Söhne"/>
            </a:endParaRPr>
          </a:p>
          <a:p>
            <a:pPr lvl="1" algn="just">
              <a:buFont typeface="Arial" panose="020B0604020202020204" pitchFamily="34" charset="0"/>
              <a:buChar char="•"/>
            </a:pPr>
            <a:r>
              <a:rPr lang="en-US" b="1" i="0" dirty="0" err="1">
                <a:effectLst/>
                <a:latin typeface="Söhne"/>
              </a:rPr>
              <a:t>Gra</a:t>
            </a:r>
            <a:r>
              <a:rPr lang="en-US" b="1" i="0" dirty="0" err="1">
                <a:latin typeface="Söhne"/>
              </a:rPr>
              <a:t>phX</a:t>
            </a:r>
            <a:endParaRPr lang="en-US" sz="2400" dirty="0"/>
          </a:p>
        </p:txBody>
      </p:sp>
    </p:spTree>
    <p:extLst>
      <p:ext uri="{BB962C8B-B14F-4D97-AF65-F5344CB8AC3E}">
        <p14:creationId xmlns:p14="http://schemas.microsoft.com/office/powerpoint/2010/main" val="32717185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33E6A-0BCB-5BBD-4F87-9B2BC16397EF}"/>
              </a:ext>
            </a:extLst>
          </p:cNvPr>
          <p:cNvSpPr>
            <a:spLocks noGrp="1"/>
          </p:cNvSpPr>
          <p:nvPr>
            <p:ph type="title"/>
          </p:nvPr>
        </p:nvSpPr>
        <p:spPr/>
        <p:txBody>
          <a:bodyPr>
            <a:normAutofit/>
          </a:bodyPr>
          <a:lstStyle/>
          <a:p>
            <a:r>
              <a:rPr lang="en-US" sz="2400" b="1" u="sng" dirty="0"/>
              <a:t>Spark Core</a:t>
            </a:r>
          </a:p>
        </p:txBody>
      </p:sp>
      <p:sp>
        <p:nvSpPr>
          <p:cNvPr id="3" name="Content Placeholder 2">
            <a:extLst>
              <a:ext uri="{FF2B5EF4-FFF2-40B4-BE49-F238E27FC236}">
                <a16:creationId xmlns:a16="http://schemas.microsoft.com/office/drawing/2014/main" id="{F941E9AF-C656-7400-F981-B10C636B123C}"/>
              </a:ext>
            </a:extLst>
          </p:cNvPr>
          <p:cNvSpPr>
            <a:spLocks noGrp="1"/>
          </p:cNvSpPr>
          <p:nvPr>
            <p:ph idx="1"/>
          </p:nvPr>
        </p:nvSpPr>
        <p:spPr>
          <a:xfrm>
            <a:off x="1371600" y="1428750"/>
            <a:ext cx="10041038" cy="5150733"/>
          </a:xfrm>
        </p:spPr>
        <p:txBody>
          <a:bodyPr>
            <a:normAutofit/>
          </a:bodyPr>
          <a:lstStyle/>
          <a:p>
            <a:pPr marL="0" indent="0" algn="just">
              <a:buNone/>
            </a:pPr>
            <a:r>
              <a:rPr lang="en-US" sz="1800" dirty="0"/>
              <a:t>Spark Core is the heart of the Apache Spark framework. Spark Core provides the execution engine for the Spark platform which is required and used by other components which are built on top of Spark Core as per the requirement. Spark Core provides the in-built memory computing and referencing datasets stored in external storage systems. It is Spark’s core responsibility to perform all the basic I/O functions, scheduling, monitoring, etc. Also, fault recovery and effective memory management are Spark Core’s other important functions.</a:t>
            </a:r>
          </a:p>
          <a:p>
            <a:pPr marL="0" indent="0">
              <a:buNone/>
            </a:pPr>
            <a:endParaRPr lang="en-US" sz="1800" dirty="0"/>
          </a:p>
          <a:p>
            <a:pPr marL="0" indent="0" algn="just">
              <a:buNone/>
            </a:pPr>
            <a:r>
              <a:rPr lang="en-US" sz="1800" dirty="0"/>
              <a:t>Spark Core uses a very special data structure called the RDD. Data sharing in distributed processing systems like MapReduce need the data in intermediate steps to be stored and then retrieved from permanent storage like HDFS or S3 which makes it very slow due to the serialization and deserialization of I/O steps. RDDs overcome this as these data structures are in-memory and fault-tolerant and can be shared across different tasks within the same Spark process.</a:t>
            </a:r>
          </a:p>
        </p:txBody>
      </p:sp>
    </p:spTree>
    <p:extLst>
      <p:ext uri="{BB962C8B-B14F-4D97-AF65-F5344CB8AC3E}">
        <p14:creationId xmlns:p14="http://schemas.microsoft.com/office/powerpoint/2010/main" val="522414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33E6A-0BCB-5BBD-4F87-9B2BC16397EF}"/>
              </a:ext>
            </a:extLst>
          </p:cNvPr>
          <p:cNvSpPr>
            <a:spLocks noGrp="1"/>
          </p:cNvSpPr>
          <p:nvPr>
            <p:ph type="title"/>
          </p:nvPr>
        </p:nvSpPr>
        <p:spPr/>
        <p:txBody>
          <a:bodyPr>
            <a:normAutofit/>
          </a:bodyPr>
          <a:lstStyle/>
          <a:p>
            <a:r>
              <a:rPr lang="en-US" sz="2400" b="1" u="sng" dirty="0"/>
              <a:t>Spark SQL</a:t>
            </a:r>
          </a:p>
        </p:txBody>
      </p:sp>
      <p:sp>
        <p:nvSpPr>
          <p:cNvPr id="3" name="Content Placeholder 2">
            <a:extLst>
              <a:ext uri="{FF2B5EF4-FFF2-40B4-BE49-F238E27FC236}">
                <a16:creationId xmlns:a16="http://schemas.microsoft.com/office/drawing/2014/main" id="{F941E9AF-C656-7400-F981-B10C636B123C}"/>
              </a:ext>
            </a:extLst>
          </p:cNvPr>
          <p:cNvSpPr>
            <a:spLocks noGrp="1"/>
          </p:cNvSpPr>
          <p:nvPr>
            <p:ph idx="1"/>
          </p:nvPr>
        </p:nvSpPr>
        <p:spPr>
          <a:xfrm>
            <a:off x="1371600" y="1428750"/>
            <a:ext cx="10041038" cy="5150733"/>
          </a:xfrm>
        </p:spPr>
        <p:txBody>
          <a:bodyPr>
            <a:normAutofit/>
          </a:bodyPr>
          <a:lstStyle/>
          <a:p>
            <a:pPr algn="just">
              <a:buFont typeface="Arial" panose="020B0604020202020204" pitchFamily="34" charset="0"/>
              <a:buChar char="•"/>
            </a:pPr>
            <a:r>
              <a:rPr lang="en-US" sz="1800" dirty="0"/>
              <a:t>Spark SQL lets you query structured data inside Spark programs, using either SQL or a familiar </a:t>
            </a:r>
            <a:r>
              <a:rPr lang="en-US" sz="1800" dirty="0" err="1"/>
              <a:t>DataFrame</a:t>
            </a:r>
            <a:r>
              <a:rPr lang="en-US" sz="1800" dirty="0"/>
              <a:t> API. Usable in Java, Scala, Python and R.</a:t>
            </a:r>
          </a:p>
          <a:p>
            <a:pPr algn="l">
              <a:buFont typeface="Arial" panose="020B0604020202020204" pitchFamily="34" charset="0"/>
              <a:buChar char="•"/>
            </a:pPr>
            <a:r>
              <a:rPr lang="en-US" sz="1800" dirty="0"/>
              <a:t>Connect to any data source the same way. </a:t>
            </a:r>
            <a:r>
              <a:rPr lang="en-US" sz="1800" dirty="0" err="1"/>
              <a:t>DataFrames</a:t>
            </a:r>
            <a:r>
              <a:rPr lang="en-US" sz="1800" dirty="0"/>
              <a:t> and SQL provide a common way to access a variety of data sources, including Hive, Avro, Parquet, ORC, JSON, and JDBC. You can even join data across these sources.</a:t>
            </a:r>
          </a:p>
          <a:p>
            <a:pPr algn="l">
              <a:buFont typeface="Arial" panose="020B0604020202020204" pitchFamily="34" charset="0"/>
              <a:buChar char="•"/>
            </a:pPr>
            <a:r>
              <a:rPr lang="en-US" sz="1800" dirty="0"/>
              <a:t>Connect through JDBC or ODBC. A server mode provides industry standard JDBC and ODBC connectivity for business intelligence tools.</a:t>
            </a:r>
          </a:p>
          <a:p>
            <a:pPr algn="l">
              <a:buFont typeface="Arial" panose="020B0604020202020204" pitchFamily="34" charset="0"/>
              <a:buChar char="•"/>
            </a:pPr>
            <a:r>
              <a:rPr lang="en-US" sz="1800" dirty="0"/>
              <a:t>Run SQL or HiveQL queries on existing warehouses. Spark SQL supports the HiveQL syntax as well as Hive SerDes and UDFs, allowing you to access existing Hive warehouses.</a:t>
            </a:r>
          </a:p>
          <a:p>
            <a:pPr marL="0" indent="0" algn="l">
              <a:buNone/>
            </a:pPr>
            <a:endParaRPr lang="en-US" sz="1400" b="0" i="0" dirty="0">
              <a:solidFill>
                <a:srgbClr val="666666"/>
              </a:solidFill>
              <a:effectLst/>
              <a:latin typeface="DM Sans" pitchFamily="2" charset="77"/>
            </a:endParaRPr>
          </a:p>
          <a:p>
            <a:pPr marL="0" indent="0" algn="l">
              <a:buNone/>
            </a:pPr>
            <a:endParaRPr lang="en-US" sz="1600" b="0" i="0" dirty="0">
              <a:solidFill>
                <a:srgbClr val="666666"/>
              </a:solidFill>
              <a:effectLst/>
              <a:latin typeface="DM Sans" pitchFamily="2" charset="77"/>
            </a:endParaRPr>
          </a:p>
          <a:p>
            <a:pPr marL="0" indent="0" algn="just">
              <a:buNone/>
            </a:pPr>
            <a:endParaRPr lang="en-US" sz="1800" dirty="0"/>
          </a:p>
        </p:txBody>
      </p:sp>
    </p:spTree>
    <p:extLst>
      <p:ext uri="{BB962C8B-B14F-4D97-AF65-F5344CB8AC3E}">
        <p14:creationId xmlns:p14="http://schemas.microsoft.com/office/powerpoint/2010/main" val="12463783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33E6A-0BCB-5BBD-4F87-9B2BC16397EF}"/>
              </a:ext>
            </a:extLst>
          </p:cNvPr>
          <p:cNvSpPr>
            <a:spLocks noGrp="1"/>
          </p:cNvSpPr>
          <p:nvPr>
            <p:ph type="title"/>
          </p:nvPr>
        </p:nvSpPr>
        <p:spPr/>
        <p:txBody>
          <a:bodyPr>
            <a:normAutofit/>
          </a:bodyPr>
          <a:lstStyle/>
          <a:p>
            <a:r>
              <a:rPr lang="en-US" sz="2400" b="1" u="sng" dirty="0"/>
              <a:t>Spark Streaming</a:t>
            </a:r>
          </a:p>
        </p:txBody>
      </p:sp>
      <p:sp>
        <p:nvSpPr>
          <p:cNvPr id="3" name="Content Placeholder 2">
            <a:extLst>
              <a:ext uri="{FF2B5EF4-FFF2-40B4-BE49-F238E27FC236}">
                <a16:creationId xmlns:a16="http://schemas.microsoft.com/office/drawing/2014/main" id="{F941E9AF-C656-7400-F981-B10C636B123C}"/>
              </a:ext>
            </a:extLst>
          </p:cNvPr>
          <p:cNvSpPr>
            <a:spLocks noGrp="1"/>
          </p:cNvSpPr>
          <p:nvPr>
            <p:ph idx="1"/>
          </p:nvPr>
        </p:nvSpPr>
        <p:spPr>
          <a:xfrm>
            <a:off x="1371600" y="1428750"/>
            <a:ext cx="10041038" cy="5150733"/>
          </a:xfrm>
        </p:spPr>
        <p:txBody>
          <a:bodyPr>
            <a:normAutofit/>
          </a:bodyPr>
          <a:lstStyle/>
          <a:p>
            <a:pPr marL="0" indent="0" algn="l">
              <a:buNone/>
            </a:pPr>
            <a:endParaRPr lang="en-US" sz="1600" b="0" i="0" dirty="0">
              <a:solidFill>
                <a:srgbClr val="666666"/>
              </a:solidFill>
              <a:effectLst/>
              <a:latin typeface="DM Sans" pitchFamily="2" charset="77"/>
            </a:endParaRPr>
          </a:p>
          <a:p>
            <a:pPr marL="0" indent="0" algn="just">
              <a:buNone/>
            </a:pPr>
            <a:r>
              <a:rPr lang="en-US" sz="1800" dirty="0"/>
              <a:t>As the name suggests this library is for Streaming data. This is a very popular Spark library as it takes Spark’s big data processing power and cranks up the speed. Spark Streaming has the ability to Stream gigabytes per second. This capability of big and fast data has a lot of potentials. Spark Streaming is used for analyzing a continuous stream of data. A common example is processing log data from a website or server.</a:t>
            </a:r>
          </a:p>
          <a:p>
            <a:pPr marL="0" indent="0" algn="l">
              <a:buNone/>
            </a:pPr>
            <a:r>
              <a:rPr lang="en-US" sz="1800" dirty="0"/>
              <a:t>Spark streaming is not really streaming technically. What it really does is it breaks down the data into individual chunks that it processes together as small RDDs. So it actually does not process data as bytes at a time as it comes in, but it processes data every second or two seconds or some fixed interval of time.</a:t>
            </a:r>
          </a:p>
          <a:p>
            <a:pPr marL="0" indent="0" algn="just">
              <a:buNone/>
            </a:pPr>
            <a:endParaRPr lang="en-US" sz="1800" dirty="0"/>
          </a:p>
        </p:txBody>
      </p:sp>
    </p:spTree>
    <p:extLst>
      <p:ext uri="{BB962C8B-B14F-4D97-AF65-F5344CB8AC3E}">
        <p14:creationId xmlns:p14="http://schemas.microsoft.com/office/powerpoint/2010/main" val="22209363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33E6A-0BCB-5BBD-4F87-9B2BC16397EF}"/>
              </a:ext>
            </a:extLst>
          </p:cNvPr>
          <p:cNvSpPr>
            <a:spLocks noGrp="1"/>
          </p:cNvSpPr>
          <p:nvPr>
            <p:ph type="title"/>
          </p:nvPr>
        </p:nvSpPr>
        <p:spPr/>
        <p:txBody>
          <a:bodyPr>
            <a:normAutofit/>
          </a:bodyPr>
          <a:lstStyle/>
          <a:p>
            <a:r>
              <a:rPr lang="en-US" sz="2400" b="1" u="sng" dirty="0" err="1"/>
              <a:t>MLlib</a:t>
            </a:r>
            <a:endParaRPr lang="en-US" sz="2400" b="1" u="sng" dirty="0"/>
          </a:p>
        </p:txBody>
      </p:sp>
      <p:sp>
        <p:nvSpPr>
          <p:cNvPr id="3" name="Content Placeholder 2">
            <a:extLst>
              <a:ext uri="{FF2B5EF4-FFF2-40B4-BE49-F238E27FC236}">
                <a16:creationId xmlns:a16="http://schemas.microsoft.com/office/drawing/2014/main" id="{F941E9AF-C656-7400-F981-B10C636B123C}"/>
              </a:ext>
            </a:extLst>
          </p:cNvPr>
          <p:cNvSpPr>
            <a:spLocks noGrp="1"/>
          </p:cNvSpPr>
          <p:nvPr>
            <p:ph idx="1"/>
          </p:nvPr>
        </p:nvSpPr>
        <p:spPr>
          <a:xfrm>
            <a:off x="1371600" y="853633"/>
            <a:ext cx="10041038" cy="5150733"/>
          </a:xfrm>
        </p:spPr>
        <p:txBody>
          <a:bodyPr>
            <a:noAutofit/>
          </a:bodyPr>
          <a:lstStyle/>
          <a:p>
            <a:pPr marL="0" indent="0" algn="l">
              <a:buNone/>
            </a:pPr>
            <a:endParaRPr lang="en-US" sz="1800" b="0" i="0" dirty="0">
              <a:solidFill>
                <a:srgbClr val="666666"/>
              </a:solidFill>
              <a:effectLst/>
              <a:latin typeface="DM Sans" pitchFamily="2" charset="77"/>
            </a:endParaRPr>
          </a:p>
          <a:p>
            <a:pPr marL="0" indent="0" algn="l">
              <a:buNone/>
            </a:pPr>
            <a:r>
              <a:rPr lang="en-US" sz="1800" dirty="0" err="1"/>
              <a:t>MLlib</a:t>
            </a:r>
            <a:r>
              <a:rPr lang="en-US" sz="1800" dirty="0"/>
              <a:t> is a low-level machine learning library. It can be called from Java, Scala and Python programming languages. It is simple to use, scalable and can be easily integrated with other tools and frameworks. </a:t>
            </a:r>
            <a:r>
              <a:rPr lang="en-US" sz="1800" dirty="0" err="1"/>
              <a:t>MLlib</a:t>
            </a:r>
            <a:r>
              <a:rPr lang="en-US" sz="1800" dirty="0"/>
              <a:t> eases the deployment and development of scalable machine learning pipelines. Machine learning in itself is a subject and it may not be possible to get into details here. But these are some of the important features and capabilities Spark </a:t>
            </a:r>
            <a:r>
              <a:rPr lang="en-US" sz="1800" dirty="0" err="1"/>
              <a:t>MLlib</a:t>
            </a:r>
            <a:r>
              <a:rPr lang="en-US" sz="1800" dirty="0"/>
              <a:t> offers:</a:t>
            </a:r>
          </a:p>
          <a:p>
            <a:pPr algn="l">
              <a:buFont typeface="Arial" panose="020B0604020202020204" pitchFamily="34" charset="0"/>
              <a:buChar char="•"/>
            </a:pPr>
            <a:r>
              <a:rPr lang="en-US" sz="1600" dirty="0"/>
              <a:t>Linear regression, logistic regression</a:t>
            </a:r>
          </a:p>
          <a:p>
            <a:pPr algn="l">
              <a:buFont typeface="Arial" panose="020B0604020202020204" pitchFamily="34" charset="0"/>
              <a:buChar char="•"/>
            </a:pPr>
            <a:r>
              <a:rPr lang="en-US" sz="1600" dirty="0"/>
              <a:t>Support Vector Machines</a:t>
            </a:r>
          </a:p>
          <a:p>
            <a:pPr algn="l">
              <a:buFont typeface="Arial" panose="020B0604020202020204" pitchFamily="34" charset="0"/>
              <a:buChar char="•"/>
            </a:pPr>
            <a:r>
              <a:rPr lang="en-US" sz="1600" dirty="0"/>
              <a:t>Naive Bayes classifier</a:t>
            </a:r>
          </a:p>
          <a:p>
            <a:pPr algn="l">
              <a:buFont typeface="Arial" panose="020B0604020202020204" pitchFamily="34" charset="0"/>
              <a:buChar char="•"/>
            </a:pPr>
            <a:r>
              <a:rPr lang="en-US" sz="1600" dirty="0"/>
              <a:t>K-Means clustering</a:t>
            </a:r>
          </a:p>
          <a:p>
            <a:pPr algn="l">
              <a:buFont typeface="Arial" panose="020B0604020202020204" pitchFamily="34" charset="0"/>
              <a:buChar char="•"/>
            </a:pPr>
            <a:r>
              <a:rPr lang="en-US" sz="1600" dirty="0"/>
              <a:t>Decision trees</a:t>
            </a:r>
          </a:p>
          <a:p>
            <a:pPr algn="l">
              <a:buFont typeface="Arial" panose="020B0604020202020204" pitchFamily="34" charset="0"/>
              <a:buChar char="•"/>
            </a:pPr>
            <a:r>
              <a:rPr lang="en-US" sz="1600" dirty="0"/>
              <a:t>Recommendations using Alternating Least Squares</a:t>
            </a:r>
          </a:p>
          <a:p>
            <a:pPr algn="l">
              <a:buFont typeface="Arial" panose="020B0604020202020204" pitchFamily="34" charset="0"/>
              <a:buChar char="•"/>
            </a:pPr>
            <a:r>
              <a:rPr lang="en-US" sz="1600" dirty="0"/>
              <a:t>Basic statistics</a:t>
            </a:r>
          </a:p>
          <a:p>
            <a:pPr algn="l">
              <a:buFont typeface="Arial" panose="020B0604020202020204" pitchFamily="34" charset="0"/>
              <a:buChar char="•"/>
            </a:pPr>
            <a:r>
              <a:rPr lang="en-US" sz="1600" dirty="0"/>
              <a:t>Chi-squared test, </a:t>
            </a:r>
            <a:r>
              <a:rPr lang="en-US" sz="1600" dirty="0" err="1"/>
              <a:t>Pearsons</a:t>
            </a:r>
            <a:r>
              <a:rPr lang="en-US" sz="1600" dirty="0"/>
              <a:t> or Spearman correlation, min, max, mean, variance</a:t>
            </a:r>
          </a:p>
          <a:p>
            <a:pPr algn="l">
              <a:buFont typeface="Arial" panose="020B0604020202020204" pitchFamily="34" charset="0"/>
              <a:buChar char="•"/>
            </a:pPr>
            <a:r>
              <a:rPr lang="en-US" sz="1600" dirty="0"/>
              <a:t>Feature extraction</a:t>
            </a:r>
          </a:p>
          <a:p>
            <a:pPr algn="l">
              <a:buFont typeface="Arial" panose="020B0604020202020204" pitchFamily="34" charset="0"/>
              <a:buChar char="•"/>
            </a:pPr>
            <a:r>
              <a:rPr lang="en-US" sz="1600" dirty="0"/>
              <a:t>Term Frequency/ Inverse Document Frequency useful for search</a:t>
            </a:r>
          </a:p>
          <a:p>
            <a:pPr marL="0" indent="0" algn="just">
              <a:buNone/>
            </a:pPr>
            <a:endParaRPr lang="en-US" sz="1800" dirty="0"/>
          </a:p>
        </p:txBody>
      </p:sp>
    </p:spTree>
    <p:extLst>
      <p:ext uri="{BB962C8B-B14F-4D97-AF65-F5344CB8AC3E}">
        <p14:creationId xmlns:p14="http://schemas.microsoft.com/office/powerpoint/2010/main" val="17420534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33E6A-0BCB-5BBD-4F87-9B2BC16397EF}"/>
              </a:ext>
            </a:extLst>
          </p:cNvPr>
          <p:cNvSpPr>
            <a:spLocks noGrp="1"/>
          </p:cNvSpPr>
          <p:nvPr>
            <p:ph type="title"/>
          </p:nvPr>
        </p:nvSpPr>
        <p:spPr/>
        <p:txBody>
          <a:bodyPr>
            <a:normAutofit/>
          </a:bodyPr>
          <a:lstStyle/>
          <a:p>
            <a:r>
              <a:rPr lang="en-US" sz="2400" b="1" u="sng" dirty="0" err="1"/>
              <a:t>GraphX</a:t>
            </a:r>
            <a:endParaRPr lang="en-US" sz="2400" b="1" u="sng" dirty="0"/>
          </a:p>
        </p:txBody>
      </p:sp>
      <p:sp>
        <p:nvSpPr>
          <p:cNvPr id="3" name="Content Placeholder 2">
            <a:extLst>
              <a:ext uri="{FF2B5EF4-FFF2-40B4-BE49-F238E27FC236}">
                <a16:creationId xmlns:a16="http://schemas.microsoft.com/office/drawing/2014/main" id="{F941E9AF-C656-7400-F981-B10C636B123C}"/>
              </a:ext>
            </a:extLst>
          </p:cNvPr>
          <p:cNvSpPr>
            <a:spLocks noGrp="1"/>
          </p:cNvSpPr>
          <p:nvPr>
            <p:ph idx="1"/>
          </p:nvPr>
        </p:nvSpPr>
        <p:spPr>
          <a:xfrm>
            <a:off x="1371600" y="1428750"/>
            <a:ext cx="10041038" cy="5150733"/>
          </a:xfrm>
        </p:spPr>
        <p:txBody>
          <a:bodyPr>
            <a:normAutofit/>
          </a:bodyPr>
          <a:lstStyle/>
          <a:p>
            <a:pPr marL="0" indent="0" algn="l">
              <a:buNone/>
            </a:pPr>
            <a:endParaRPr lang="en-US" sz="1600" b="0" i="0" dirty="0">
              <a:solidFill>
                <a:srgbClr val="666666"/>
              </a:solidFill>
              <a:effectLst/>
              <a:latin typeface="DM Sans" pitchFamily="2" charset="77"/>
            </a:endParaRPr>
          </a:p>
          <a:p>
            <a:pPr marL="0" indent="0" algn="just">
              <a:buNone/>
            </a:pPr>
            <a:r>
              <a:rPr lang="en-US" sz="1800" dirty="0"/>
              <a:t>For graphs and graph-parallel processing Apache Spark provides another API called </a:t>
            </a:r>
            <a:r>
              <a:rPr lang="en-US" sz="1800" dirty="0" err="1"/>
              <a:t>GraphX</a:t>
            </a:r>
            <a:r>
              <a:rPr lang="en-US" sz="1800" dirty="0"/>
              <a:t>. The graph here does not mean charts, lines or bar graphs, but these are graphs in computer sciences like social networks which consist of vertices where each vertex consists of an individual user in the social network and there are many users connected to each other by edges. These edges represent the relationship between the users in the network.</a:t>
            </a:r>
          </a:p>
          <a:p>
            <a:pPr marL="0" indent="0" algn="l">
              <a:buNone/>
            </a:pPr>
            <a:r>
              <a:rPr lang="en-US" sz="1800" dirty="0" err="1"/>
              <a:t>GraphX</a:t>
            </a:r>
            <a:r>
              <a:rPr lang="en-US" sz="1800" dirty="0"/>
              <a:t> is useful in giving overall information about the graph network like it can tell how many triangles appear in the graph and apply the PageRank algorithm to it. It can measure things like “connectedness”, degree distribution, average path length and other high-level measures of a graph. It can also join graphs together and transform graphs quickly. </a:t>
            </a:r>
          </a:p>
          <a:p>
            <a:pPr marL="0" indent="0" algn="just">
              <a:buNone/>
            </a:pPr>
            <a:endParaRPr lang="en-US" sz="1800" dirty="0"/>
          </a:p>
        </p:txBody>
      </p:sp>
    </p:spTree>
    <p:extLst>
      <p:ext uri="{BB962C8B-B14F-4D97-AF65-F5344CB8AC3E}">
        <p14:creationId xmlns:p14="http://schemas.microsoft.com/office/powerpoint/2010/main" val="13217804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33E6A-0BCB-5BBD-4F87-9B2BC16397EF}"/>
              </a:ext>
            </a:extLst>
          </p:cNvPr>
          <p:cNvSpPr>
            <a:spLocks noGrp="1"/>
          </p:cNvSpPr>
          <p:nvPr>
            <p:ph type="title"/>
          </p:nvPr>
        </p:nvSpPr>
        <p:spPr/>
        <p:txBody>
          <a:bodyPr>
            <a:normAutofit/>
          </a:bodyPr>
          <a:lstStyle/>
          <a:p>
            <a:r>
              <a:rPr lang="en-US" sz="2400" b="1" u="sng" dirty="0">
                <a:latin typeface="Söhne"/>
              </a:rPr>
              <a:t>Apache Spark Architecture</a:t>
            </a:r>
            <a:br>
              <a:rPr lang="en-US" sz="2400" b="1" u="sng" dirty="0">
                <a:latin typeface="Söhne"/>
              </a:rPr>
            </a:br>
            <a:endParaRPr lang="en-US" sz="2400" b="1" u="sng" dirty="0"/>
          </a:p>
        </p:txBody>
      </p:sp>
      <p:pic>
        <p:nvPicPr>
          <p:cNvPr id="2050" name="Picture 2">
            <a:extLst>
              <a:ext uri="{FF2B5EF4-FFF2-40B4-BE49-F238E27FC236}">
                <a16:creationId xmlns:a16="http://schemas.microsoft.com/office/drawing/2014/main" id="{53A6E58C-DC85-DD80-302B-9134CBDCBB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4629" y="1428750"/>
            <a:ext cx="9095771" cy="48617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98927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23ED76-0B5C-12FE-6D48-194332125FFF}"/>
              </a:ext>
            </a:extLst>
          </p:cNvPr>
          <p:cNvSpPr>
            <a:spLocks noGrp="1"/>
          </p:cNvSpPr>
          <p:nvPr>
            <p:ph idx="1"/>
          </p:nvPr>
        </p:nvSpPr>
        <p:spPr>
          <a:xfrm>
            <a:off x="818635" y="512883"/>
            <a:ext cx="10554730" cy="6925883"/>
          </a:xfrm>
        </p:spPr>
        <p:txBody>
          <a:bodyPr>
            <a:noAutofit/>
          </a:bodyPr>
          <a:lstStyle/>
          <a:p>
            <a:pPr marL="0" indent="0" algn="just">
              <a:buNone/>
            </a:pPr>
            <a:r>
              <a:rPr lang="en-US" sz="1800" dirty="0"/>
              <a:t>The Spark follows the master-slave architecture. Its cluster consists of a single master and multiple slaves.</a:t>
            </a:r>
          </a:p>
          <a:p>
            <a:pPr marL="0" indent="0" algn="just">
              <a:buNone/>
            </a:pPr>
            <a:endParaRPr lang="en-US" sz="1800" dirty="0"/>
          </a:p>
          <a:p>
            <a:pPr marL="0" indent="0" algn="just">
              <a:buNone/>
            </a:pPr>
            <a:r>
              <a:rPr lang="en-US" sz="1800" dirty="0"/>
              <a:t>The Spark architecture depends upon two abstractions:</a:t>
            </a:r>
          </a:p>
          <a:p>
            <a:pPr algn="just">
              <a:buFont typeface="Arial" panose="020B0604020202020204" pitchFamily="34" charset="0"/>
              <a:buChar char="•"/>
            </a:pPr>
            <a:r>
              <a:rPr lang="en-US" sz="1800" dirty="0"/>
              <a:t>Resilient Distributed Dataset (RDD)</a:t>
            </a:r>
          </a:p>
          <a:p>
            <a:pPr algn="just">
              <a:buFont typeface="Arial" panose="020B0604020202020204" pitchFamily="34" charset="0"/>
              <a:buChar char="•"/>
            </a:pPr>
            <a:r>
              <a:rPr lang="en-US" sz="1800" dirty="0"/>
              <a:t>Directed Acyclic Graph (DAG)</a:t>
            </a:r>
          </a:p>
          <a:p>
            <a:pPr algn="just">
              <a:buFont typeface="Arial" panose="020B0604020202020204" pitchFamily="34" charset="0"/>
              <a:buChar char="•"/>
            </a:pPr>
            <a:endParaRPr lang="en-US" sz="1600" dirty="0"/>
          </a:p>
          <a:p>
            <a:pPr marL="0" indent="0" algn="just">
              <a:buNone/>
            </a:pPr>
            <a:r>
              <a:rPr lang="en-US" sz="1800" b="1" u="sng" dirty="0"/>
              <a:t>Resilient Distributed Datasets (RDD)</a:t>
            </a:r>
          </a:p>
          <a:p>
            <a:pPr marL="0" indent="0" algn="just">
              <a:buNone/>
            </a:pPr>
            <a:r>
              <a:rPr lang="en-US" sz="1600" dirty="0"/>
              <a:t>The Resilient Distributed Datasets are the group of data items that can be stored in-memory on worker nodes. Here,</a:t>
            </a:r>
          </a:p>
          <a:p>
            <a:pPr marL="0" indent="0" algn="just">
              <a:buNone/>
            </a:pPr>
            <a:r>
              <a:rPr lang="en-US" sz="1600" dirty="0"/>
              <a:t>Resilient: Restore the data on failure.</a:t>
            </a:r>
          </a:p>
          <a:p>
            <a:pPr marL="0" indent="0" algn="just">
              <a:buNone/>
            </a:pPr>
            <a:r>
              <a:rPr lang="en-US" sz="1600" dirty="0"/>
              <a:t>Distributed: Data is distributed among different nodes.</a:t>
            </a:r>
          </a:p>
          <a:p>
            <a:pPr marL="0" indent="0" algn="just">
              <a:buNone/>
            </a:pPr>
            <a:r>
              <a:rPr lang="en-US" sz="1600" dirty="0"/>
              <a:t>Dataset: Group of data.</a:t>
            </a:r>
          </a:p>
          <a:p>
            <a:pPr marL="0" indent="0" algn="just">
              <a:buNone/>
            </a:pPr>
            <a:endParaRPr lang="en-US" sz="1600" dirty="0"/>
          </a:p>
          <a:p>
            <a:pPr marL="0" indent="0" algn="just">
              <a:buNone/>
            </a:pPr>
            <a:r>
              <a:rPr lang="en-US" sz="1800" b="1" u="sng" dirty="0"/>
              <a:t>Directed Acyclic Graph (DAG)</a:t>
            </a:r>
          </a:p>
          <a:p>
            <a:pPr marL="0" indent="0" algn="just">
              <a:buNone/>
            </a:pPr>
            <a:r>
              <a:rPr lang="en-US" sz="1600" dirty="0"/>
              <a:t>Directed Acyclic Graph is a finite direct graph that performs a sequence of computations on data. Each node is an RDD partition, and the edge is a transformation on top of data. Here, the graph refers the navigation whereas directed and acyclic refers to how it is done.</a:t>
            </a:r>
          </a:p>
          <a:p>
            <a:pPr marL="0" indent="0">
              <a:buNone/>
            </a:pPr>
            <a:br>
              <a:rPr lang="en-US" sz="1600" dirty="0"/>
            </a:br>
            <a:endParaRPr lang="en-US" sz="1600" dirty="0"/>
          </a:p>
        </p:txBody>
      </p:sp>
    </p:spTree>
    <p:extLst>
      <p:ext uri="{BB962C8B-B14F-4D97-AF65-F5344CB8AC3E}">
        <p14:creationId xmlns:p14="http://schemas.microsoft.com/office/powerpoint/2010/main" val="25327500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23ED76-0B5C-12FE-6D48-194332125FFF}"/>
              </a:ext>
            </a:extLst>
          </p:cNvPr>
          <p:cNvSpPr>
            <a:spLocks noGrp="1"/>
          </p:cNvSpPr>
          <p:nvPr>
            <p:ph idx="1"/>
          </p:nvPr>
        </p:nvSpPr>
        <p:spPr>
          <a:xfrm>
            <a:off x="818635" y="373830"/>
            <a:ext cx="10554730" cy="6110339"/>
          </a:xfrm>
        </p:spPr>
        <p:txBody>
          <a:bodyPr>
            <a:noAutofit/>
          </a:bodyPr>
          <a:lstStyle/>
          <a:p>
            <a:pPr marL="0" indent="0" algn="just">
              <a:buNone/>
            </a:pPr>
            <a:r>
              <a:rPr lang="en-US" sz="1600" b="1" u="sng" dirty="0"/>
              <a:t>Driver Program</a:t>
            </a:r>
          </a:p>
          <a:p>
            <a:pPr marL="0" indent="0" algn="just">
              <a:buNone/>
            </a:pPr>
            <a:r>
              <a:rPr lang="en-US" sz="1600" dirty="0"/>
              <a:t>The Driver Program is a process that runs the main() function of the application and creates the </a:t>
            </a:r>
            <a:r>
              <a:rPr lang="en-US" sz="1600" dirty="0" err="1"/>
              <a:t>SparkContext</a:t>
            </a:r>
            <a:r>
              <a:rPr lang="en-US" sz="1600" dirty="0"/>
              <a:t> object. The purpose of </a:t>
            </a:r>
            <a:r>
              <a:rPr lang="en-US" sz="1600" dirty="0" err="1"/>
              <a:t>SparkContext</a:t>
            </a:r>
            <a:r>
              <a:rPr lang="en-US" sz="1600" dirty="0"/>
              <a:t> is to coordinate the spark applications, running as independent sets of processes on a cluster.</a:t>
            </a:r>
          </a:p>
          <a:p>
            <a:pPr marL="0" indent="0">
              <a:buNone/>
            </a:pPr>
            <a:endParaRPr lang="en-US" sz="1600" dirty="0"/>
          </a:p>
          <a:p>
            <a:pPr marL="0" indent="0" algn="just">
              <a:buNone/>
            </a:pPr>
            <a:r>
              <a:rPr lang="en-US" sz="1600" b="1" u="sng" dirty="0"/>
              <a:t>Cluster Manager</a:t>
            </a:r>
          </a:p>
          <a:p>
            <a:pPr marL="0" indent="0" algn="just">
              <a:buNone/>
            </a:pPr>
            <a:r>
              <a:rPr lang="en-US" sz="1600" dirty="0"/>
              <a:t>The role of the cluster manager is to allocate resources across applications. The Spark is capable enough of running on a large number of clusters.</a:t>
            </a:r>
          </a:p>
          <a:p>
            <a:pPr marL="0" indent="0" algn="just">
              <a:buNone/>
            </a:pPr>
            <a:r>
              <a:rPr lang="en-US" sz="1600" dirty="0"/>
              <a:t>It consists of various types of cluster managers such as Hadoop YARN, Apache Mesos and Standalone Scheduler.</a:t>
            </a:r>
          </a:p>
          <a:p>
            <a:pPr marL="0" indent="0" algn="just">
              <a:buNone/>
            </a:pPr>
            <a:endParaRPr lang="en-US" sz="1600" dirty="0"/>
          </a:p>
          <a:p>
            <a:pPr marL="0" indent="0" algn="just">
              <a:buNone/>
            </a:pPr>
            <a:r>
              <a:rPr lang="en-US" sz="1600" b="1" u="sng" dirty="0"/>
              <a:t>Worker Node</a:t>
            </a:r>
          </a:p>
          <a:p>
            <a:pPr marL="0" indent="0" algn="just">
              <a:buNone/>
            </a:pPr>
            <a:r>
              <a:rPr lang="en-US" sz="1600" dirty="0"/>
              <a:t>The worker node is a slave node</a:t>
            </a:r>
          </a:p>
          <a:p>
            <a:pPr marL="0" indent="0" algn="just">
              <a:buNone/>
            </a:pPr>
            <a:r>
              <a:rPr lang="en-US" sz="1600" dirty="0"/>
              <a:t>It’s role is to run the application code in the cluster.</a:t>
            </a:r>
          </a:p>
          <a:p>
            <a:pPr marL="0" indent="0" algn="just">
              <a:buNone/>
            </a:pPr>
            <a:br>
              <a:rPr lang="en-US" sz="1600" dirty="0"/>
            </a:br>
            <a:r>
              <a:rPr lang="en-US" sz="1600" b="1" u="sng" dirty="0"/>
              <a:t>Executor</a:t>
            </a:r>
          </a:p>
          <a:p>
            <a:pPr marL="0" indent="0" algn="just">
              <a:buNone/>
            </a:pPr>
            <a:r>
              <a:rPr lang="en-US" sz="1600" dirty="0"/>
              <a:t>An executor is a process launched for an application on a worker node.</a:t>
            </a:r>
          </a:p>
          <a:p>
            <a:pPr marL="0" indent="0" algn="just">
              <a:buNone/>
            </a:pPr>
            <a:r>
              <a:rPr lang="en-US" sz="1600" dirty="0"/>
              <a:t>It runs tasks and keeps data in memory or disk storage across them.</a:t>
            </a:r>
          </a:p>
          <a:p>
            <a:pPr marL="0" indent="0">
              <a:buNone/>
            </a:pPr>
            <a:endParaRPr lang="en-US" sz="1600" dirty="0"/>
          </a:p>
        </p:txBody>
      </p:sp>
    </p:spTree>
    <p:extLst>
      <p:ext uri="{BB962C8B-B14F-4D97-AF65-F5344CB8AC3E}">
        <p14:creationId xmlns:p14="http://schemas.microsoft.com/office/powerpoint/2010/main" val="8823075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33E6A-0BCB-5BBD-4F87-9B2BC16397EF}"/>
              </a:ext>
            </a:extLst>
          </p:cNvPr>
          <p:cNvSpPr>
            <a:spLocks noGrp="1"/>
          </p:cNvSpPr>
          <p:nvPr>
            <p:ph type="title"/>
          </p:nvPr>
        </p:nvSpPr>
        <p:spPr/>
        <p:txBody>
          <a:bodyPr>
            <a:normAutofit/>
          </a:bodyPr>
          <a:lstStyle/>
          <a:p>
            <a:r>
              <a:rPr lang="en-US" sz="2400" b="1" u="sng" dirty="0"/>
              <a:t>Python and Scala</a:t>
            </a:r>
          </a:p>
        </p:txBody>
      </p:sp>
      <p:sp>
        <p:nvSpPr>
          <p:cNvPr id="3" name="Content Placeholder 2">
            <a:extLst>
              <a:ext uri="{FF2B5EF4-FFF2-40B4-BE49-F238E27FC236}">
                <a16:creationId xmlns:a16="http://schemas.microsoft.com/office/drawing/2014/main" id="{F941E9AF-C656-7400-F981-B10C636B123C}"/>
              </a:ext>
            </a:extLst>
          </p:cNvPr>
          <p:cNvSpPr>
            <a:spLocks noGrp="1"/>
          </p:cNvSpPr>
          <p:nvPr>
            <p:ph idx="1"/>
          </p:nvPr>
        </p:nvSpPr>
        <p:spPr>
          <a:xfrm>
            <a:off x="1371600" y="1294935"/>
            <a:ext cx="10041038" cy="5150733"/>
          </a:xfrm>
        </p:spPr>
        <p:txBody>
          <a:bodyPr>
            <a:normAutofit/>
          </a:bodyPr>
          <a:lstStyle/>
          <a:p>
            <a:pPr algn="just">
              <a:buFont typeface="Arial" panose="020B0604020202020204" pitchFamily="34" charset="0"/>
              <a:buChar char="•"/>
            </a:pPr>
            <a:r>
              <a:rPr lang="en-US" sz="1800" dirty="0"/>
              <a:t>Python language is a high-level, interpreted object-oriented programming language widely used for developing applications in various domains. It was created by Guido van Rossum in the late 1980s and has since become one of the most popular languages in the world. Python’s syntax is easy to read and learn, making it an excellent language for beginners. It has a vast standard library and many third-party modules that make it useful for a wide range of tasks, including web development, scientific computing, data engineering, and artificial intelligence. Python language is open-source and runs on multiple platforms, including Windows, macOS, and Linux.</a:t>
            </a:r>
          </a:p>
          <a:p>
            <a:pPr algn="just">
              <a:buFont typeface="Arial" panose="020B0604020202020204" pitchFamily="34" charset="0"/>
              <a:buChar char="•"/>
            </a:pPr>
            <a:endParaRPr lang="en-US" sz="1800" dirty="0"/>
          </a:p>
          <a:p>
            <a:pPr algn="just">
              <a:buFont typeface="Arial" panose="020B0604020202020204" pitchFamily="34" charset="0"/>
              <a:buChar char="•"/>
            </a:pPr>
            <a:r>
              <a:rPr lang="en-US" sz="1800" dirty="0"/>
              <a:t>Scala is a modern, multi-paradigm programming language designed to run on the Java Virtual Machine (JVM). It was created in 2003 by Martin </a:t>
            </a:r>
            <a:r>
              <a:rPr lang="en-US" sz="1800" dirty="0" err="1"/>
              <a:t>Odersky</a:t>
            </a:r>
            <a:r>
              <a:rPr lang="en-US" sz="1800" dirty="0"/>
              <a:t> and has gained popularity in recent years due to its functional programming capabilities, concise syntax, and powerful type system. Scala combines object-oriented and functional programming paradigms, allowing developers to write concise, expressive, highly scalable, and performant code. It is commonly used for building large-scale, distributed systems, web applications, and data processing applications. Scala also has interoperability with Java, allowing developers to use existing Java libraries and tools within Scala applications.</a:t>
            </a:r>
          </a:p>
          <a:p>
            <a:pPr marL="0" indent="0" algn="just">
              <a:buNone/>
            </a:pPr>
            <a:endParaRPr lang="en-US" sz="1800" dirty="0"/>
          </a:p>
          <a:p>
            <a:pPr marL="0" indent="0" algn="just">
              <a:buNone/>
            </a:pPr>
            <a:endParaRPr lang="en-US" sz="1800" dirty="0"/>
          </a:p>
        </p:txBody>
      </p:sp>
    </p:spTree>
    <p:extLst>
      <p:ext uri="{BB962C8B-B14F-4D97-AF65-F5344CB8AC3E}">
        <p14:creationId xmlns:p14="http://schemas.microsoft.com/office/powerpoint/2010/main" val="38586725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33E6A-0BCB-5BBD-4F87-9B2BC16397EF}"/>
              </a:ext>
            </a:extLst>
          </p:cNvPr>
          <p:cNvSpPr>
            <a:spLocks noGrp="1"/>
          </p:cNvSpPr>
          <p:nvPr>
            <p:ph type="title"/>
          </p:nvPr>
        </p:nvSpPr>
        <p:spPr/>
        <p:txBody>
          <a:bodyPr>
            <a:normAutofit/>
          </a:bodyPr>
          <a:lstStyle/>
          <a:p>
            <a:r>
              <a:rPr lang="en-US" sz="2400" b="1" u="sng" dirty="0"/>
              <a:t>Basic Spark Commands</a:t>
            </a:r>
          </a:p>
        </p:txBody>
      </p:sp>
      <p:sp>
        <p:nvSpPr>
          <p:cNvPr id="3" name="Content Placeholder 2">
            <a:extLst>
              <a:ext uri="{FF2B5EF4-FFF2-40B4-BE49-F238E27FC236}">
                <a16:creationId xmlns:a16="http://schemas.microsoft.com/office/drawing/2014/main" id="{F941E9AF-C656-7400-F981-B10C636B123C}"/>
              </a:ext>
            </a:extLst>
          </p:cNvPr>
          <p:cNvSpPr>
            <a:spLocks noGrp="1"/>
          </p:cNvSpPr>
          <p:nvPr>
            <p:ph idx="1"/>
          </p:nvPr>
        </p:nvSpPr>
        <p:spPr>
          <a:xfrm>
            <a:off x="1371600" y="1428750"/>
            <a:ext cx="10041038" cy="5150733"/>
          </a:xfrm>
        </p:spPr>
        <p:txBody>
          <a:bodyPr>
            <a:normAutofit/>
          </a:bodyPr>
          <a:lstStyle/>
          <a:p>
            <a:pPr marL="0" indent="0" algn="just">
              <a:buNone/>
            </a:pPr>
            <a:r>
              <a:rPr lang="en-US" sz="1800" b="1" dirty="0"/>
              <a:t>Creation of Array:  </a:t>
            </a:r>
            <a:r>
              <a:rPr lang="en-US" sz="1600" dirty="0"/>
              <a:t>To create an array of values Array() function is used.</a:t>
            </a:r>
            <a:endParaRPr lang="en-US" sz="1800" dirty="0"/>
          </a:p>
          <a:p>
            <a:pPr marL="0" indent="0" algn="just">
              <a:buNone/>
            </a:pPr>
            <a:endParaRPr lang="en-US" sz="1800" dirty="0"/>
          </a:p>
          <a:p>
            <a:pPr marL="0" indent="0" algn="just">
              <a:buNone/>
            </a:pPr>
            <a:endParaRPr lang="en-US" sz="1800" dirty="0"/>
          </a:p>
          <a:p>
            <a:pPr marL="0" indent="0" algn="just">
              <a:buNone/>
            </a:pPr>
            <a:r>
              <a:rPr lang="en-US" sz="1800" b="1" dirty="0"/>
              <a:t>Parallelizing Data: </a:t>
            </a:r>
            <a:r>
              <a:rPr lang="en-US" sz="1600" dirty="0"/>
              <a:t>To distribute a collection of data across nodes of a Spark Cluster. This operation is essential for enabling parallel processing of data in a distributed computing environment.</a:t>
            </a:r>
            <a:endParaRPr lang="en-US" sz="1800" dirty="0"/>
          </a:p>
          <a:p>
            <a:pPr marL="0" indent="0" algn="just">
              <a:buNone/>
            </a:pPr>
            <a:endParaRPr lang="en-US" sz="1800" dirty="0"/>
          </a:p>
          <a:p>
            <a:pPr marL="0" indent="0" algn="just">
              <a:buNone/>
            </a:pPr>
            <a:endParaRPr lang="en-US" sz="1800" dirty="0"/>
          </a:p>
          <a:p>
            <a:pPr marL="0" indent="0" algn="just">
              <a:buNone/>
            </a:pPr>
            <a:r>
              <a:rPr lang="en-US" sz="1800" b="1" dirty="0"/>
              <a:t>Mapping:</a:t>
            </a:r>
            <a:r>
              <a:rPr lang="en-US" sz="1800" dirty="0"/>
              <a:t> </a:t>
            </a:r>
            <a:r>
              <a:rPr lang="en-US" sz="1600" dirty="0"/>
              <a:t>To apply specified function to each and every element of an RDD.</a:t>
            </a:r>
            <a:endParaRPr lang="en-US" sz="1800" dirty="0"/>
          </a:p>
          <a:p>
            <a:pPr marL="0" indent="0" algn="just">
              <a:buNone/>
            </a:pPr>
            <a:endParaRPr lang="en-US" sz="1800" dirty="0"/>
          </a:p>
          <a:p>
            <a:pPr marL="0" indent="0" algn="just">
              <a:buNone/>
            </a:pPr>
            <a:endParaRPr lang="en-US" sz="1800" dirty="0"/>
          </a:p>
        </p:txBody>
      </p:sp>
      <p:pic>
        <p:nvPicPr>
          <p:cNvPr id="5" name="Picture 4" descr="A black background with white text&#10;&#10;Description automatically generated">
            <a:extLst>
              <a:ext uri="{FF2B5EF4-FFF2-40B4-BE49-F238E27FC236}">
                <a16:creationId xmlns:a16="http://schemas.microsoft.com/office/drawing/2014/main" id="{85942D1A-7EB4-3A6A-8CB4-ED6A6CE333E1}"/>
              </a:ext>
            </a:extLst>
          </p:cNvPr>
          <p:cNvPicPr>
            <a:picLocks noChangeAspect="1"/>
          </p:cNvPicPr>
          <p:nvPr/>
        </p:nvPicPr>
        <p:blipFill>
          <a:blip r:embed="rId2"/>
          <a:stretch>
            <a:fillRect/>
          </a:stretch>
        </p:blipFill>
        <p:spPr>
          <a:xfrm>
            <a:off x="1490702" y="1946972"/>
            <a:ext cx="3746500" cy="622300"/>
          </a:xfrm>
          <a:prstGeom prst="rect">
            <a:avLst/>
          </a:prstGeom>
        </p:spPr>
      </p:pic>
      <p:pic>
        <p:nvPicPr>
          <p:cNvPr id="7" name="Picture 6">
            <a:extLst>
              <a:ext uri="{FF2B5EF4-FFF2-40B4-BE49-F238E27FC236}">
                <a16:creationId xmlns:a16="http://schemas.microsoft.com/office/drawing/2014/main" id="{204CA1FA-1DDA-65CC-4A26-0A39A81AED0B}"/>
              </a:ext>
            </a:extLst>
          </p:cNvPr>
          <p:cNvPicPr>
            <a:picLocks noChangeAspect="1"/>
          </p:cNvPicPr>
          <p:nvPr/>
        </p:nvPicPr>
        <p:blipFill>
          <a:blip r:embed="rId3"/>
          <a:stretch>
            <a:fillRect/>
          </a:stretch>
        </p:blipFill>
        <p:spPr>
          <a:xfrm>
            <a:off x="1490702" y="3513965"/>
            <a:ext cx="7772400" cy="490151"/>
          </a:xfrm>
          <a:prstGeom prst="rect">
            <a:avLst/>
          </a:prstGeom>
        </p:spPr>
      </p:pic>
      <p:pic>
        <p:nvPicPr>
          <p:cNvPr id="9" name="Picture 8">
            <a:extLst>
              <a:ext uri="{FF2B5EF4-FFF2-40B4-BE49-F238E27FC236}">
                <a16:creationId xmlns:a16="http://schemas.microsoft.com/office/drawing/2014/main" id="{8730BA70-7B4B-BC6C-EE28-4921631CBA9A}"/>
              </a:ext>
            </a:extLst>
          </p:cNvPr>
          <p:cNvPicPr>
            <a:picLocks noChangeAspect="1"/>
          </p:cNvPicPr>
          <p:nvPr/>
        </p:nvPicPr>
        <p:blipFill>
          <a:blip r:embed="rId4"/>
          <a:stretch>
            <a:fillRect/>
          </a:stretch>
        </p:blipFill>
        <p:spPr>
          <a:xfrm>
            <a:off x="1490702" y="4795023"/>
            <a:ext cx="7772400" cy="634227"/>
          </a:xfrm>
          <a:prstGeom prst="rect">
            <a:avLst/>
          </a:prstGeom>
        </p:spPr>
      </p:pic>
    </p:spTree>
    <p:extLst>
      <p:ext uri="{BB962C8B-B14F-4D97-AF65-F5344CB8AC3E}">
        <p14:creationId xmlns:p14="http://schemas.microsoft.com/office/powerpoint/2010/main" val="21619688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33E6A-0BCB-5BBD-4F87-9B2BC16397EF}"/>
              </a:ext>
            </a:extLst>
          </p:cNvPr>
          <p:cNvSpPr>
            <a:spLocks noGrp="1"/>
          </p:cNvSpPr>
          <p:nvPr>
            <p:ph type="title"/>
          </p:nvPr>
        </p:nvSpPr>
        <p:spPr/>
        <p:txBody>
          <a:bodyPr>
            <a:normAutofit/>
          </a:bodyPr>
          <a:lstStyle/>
          <a:p>
            <a:r>
              <a:rPr lang="en-US" sz="2400" b="1" u="sng" dirty="0"/>
              <a:t>Basic Spark Commands</a:t>
            </a:r>
          </a:p>
        </p:txBody>
      </p:sp>
      <p:sp>
        <p:nvSpPr>
          <p:cNvPr id="3" name="Content Placeholder 2">
            <a:extLst>
              <a:ext uri="{FF2B5EF4-FFF2-40B4-BE49-F238E27FC236}">
                <a16:creationId xmlns:a16="http://schemas.microsoft.com/office/drawing/2014/main" id="{F941E9AF-C656-7400-F981-B10C636B123C}"/>
              </a:ext>
            </a:extLst>
          </p:cNvPr>
          <p:cNvSpPr>
            <a:spLocks noGrp="1"/>
          </p:cNvSpPr>
          <p:nvPr>
            <p:ph idx="1"/>
          </p:nvPr>
        </p:nvSpPr>
        <p:spPr>
          <a:xfrm>
            <a:off x="1371600" y="1428750"/>
            <a:ext cx="10041038" cy="5150733"/>
          </a:xfrm>
        </p:spPr>
        <p:txBody>
          <a:bodyPr>
            <a:normAutofit/>
          </a:bodyPr>
          <a:lstStyle/>
          <a:p>
            <a:pPr marL="0" indent="0" algn="just">
              <a:buNone/>
            </a:pPr>
            <a:r>
              <a:rPr lang="en-US" sz="1800" b="1" dirty="0"/>
              <a:t>Filter Command: </a:t>
            </a:r>
            <a:r>
              <a:rPr lang="en-US" sz="1600" dirty="0"/>
              <a:t>To selectively retain elements of an RDD based on a specified condition. To narrow down the dataset this command is used.</a:t>
            </a:r>
            <a:endParaRPr lang="en-US" sz="1800" b="1" dirty="0"/>
          </a:p>
          <a:p>
            <a:pPr marL="0" indent="0" algn="just">
              <a:buNone/>
            </a:pPr>
            <a:endParaRPr lang="en-US" sz="1800" b="1" dirty="0"/>
          </a:p>
          <a:p>
            <a:pPr marL="0" indent="0" algn="just">
              <a:buNone/>
            </a:pPr>
            <a:endParaRPr lang="en-US" sz="1800" dirty="0"/>
          </a:p>
          <a:p>
            <a:pPr marL="0" indent="0" algn="just">
              <a:buNone/>
            </a:pPr>
            <a:r>
              <a:rPr lang="en-US" sz="1800" b="1" dirty="0"/>
              <a:t>Collect Function: </a:t>
            </a:r>
            <a:r>
              <a:rPr lang="en-US" sz="1600" dirty="0"/>
              <a:t>To retrieve all the elements of an RDD or a Distributed collection and bring them to the Driver program. It returns the elements as an array in the Drivers memory.</a:t>
            </a:r>
            <a:endParaRPr lang="en-US" sz="1800" b="1" dirty="0"/>
          </a:p>
          <a:p>
            <a:pPr marL="0" indent="0" algn="just">
              <a:buNone/>
            </a:pPr>
            <a:endParaRPr lang="en-US" sz="1800" dirty="0"/>
          </a:p>
          <a:p>
            <a:pPr marL="0" indent="0" algn="just">
              <a:buNone/>
            </a:pPr>
            <a:endParaRPr lang="en-US" sz="1800" dirty="0"/>
          </a:p>
          <a:p>
            <a:pPr marL="0" indent="0" algn="just">
              <a:buNone/>
            </a:pPr>
            <a:r>
              <a:rPr lang="en-US" sz="1800" b="1" dirty="0"/>
              <a:t>Foreach(): </a:t>
            </a:r>
            <a:r>
              <a:rPr lang="en-US" sz="1600" dirty="0"/>
              <a:t>Applies specific function to each and every element in RDD. And this is often used for Printing, Saving to an external storage system.</a:t>
            </a:r>
            <a:endParaRPr lang="en-US" sz="1800" b="1" dirty="0"/>
          </a:p>
          <a:p>
            <a:pPr marL="0" indent="0" algn="just">
              <a:buNone/>
            </a:pPr>
            <a:endParaRPr lang="en-US" sz="1800" dirty="0"/>
          </a:p>
        </p:txBody>
      </p:sp>
      <p:pic>
        <p:nvPicPr>
          <p:cNvPr id="6" name="Picture 5">
            <a:extLst>
              <a:ext uri="{FF2B5EF4-FFF2-40B4-BE49-F238E27FC236}">
                <a16:creationId xmlns:a16="http://schemas.microsoft.com/office/drawing/2014/main" id="{A8D76412-3BD3-87F9-38F5-5A37396F7EE7}"/>
              </a:ext>
            </a:extLst>
          </p:cNvPr>
          <p:cNvPicPr>
            <a:picLocks noChangeAspect="1"/>
          </p:cNvPicPr>
          <p:nvPr/>
        </p:nvPicPr>
        <p:blipFill>
          <a:blip r:embed="rId2"/>
          <a:stretch>
            <a:fillRect/>
          </a:stretch>
        </p:blipFill>
        <p:spPr>
          <a:xfrm>
            <a:off x="1483577" y="2171700"/>
            <a:ext cx="7772400" cy="452298"/>
          </a:xfrm>
          <a:prstGeom prst="rect">
            <a:avLst/>
          </a:prstGeom>
        </p:spPr>
      </p:pic>
      <p:pic>
        <p:nvPicPr>
          <p:cNvPr id="10" name="Picture 9" descr="A black background with white text&#10;&#10;Description automatically generated">
            <a:extLst>
              <a:ext uri="{FF2B5EF4-FFF2-40B4-BE49-F238E27FC236}">
                <a16:creationId xmlns:a16="http://schemas.microsoft.com/office/drawing/2014/main" id="{5495A095-215D-1E38-655E-8A185BB1C10B}"/>
              </a:ext>
            </a:extLst>
          </p:cNvPr>
          <p:cNvPicPr>
            <a:picLocks noChangeAspect="1"/>
          </p:cNvPicPr>
          <p:nvPr/>
        </p:nvPicPr>
        <p:blipFill>
          <a:blip r:embed="rId3"/>
          <a:stretch>
            <a:fillRect/>
          </a:stretch>
        </p:blipFill>
        <p:spPr>
          <a:xfrm>
            <a:off x="1511300" y="3642719"/>
            <a:ext cx="3746500" cy="571500"/>
          </a:xfrm>
          <a:prstGeom prst="rect">
            <a:avLst/>
          </a:prstGeom>
        </p:spPr>
      </p:pic>
      <p:pic>
        <p:nvPicPr>
          <p:cNvPr id="12" name="Picture 11" descr="A computer screen with white text&#10;&#10;Description automatically generated">
            <a:extLst>
              <a:ext uri="{FF2B5EF4-FFF2-40B4-BE49-F238E27FC236}">
                <a16:creationId xmlns:a16="http://schemas.microsoft.com/office/drawing/2014/main" id="{2EBC3171-2B01-47B1-1277-3147AA9430F2}"/>
              </a:ext>
            </a:extLst>
          </p:cNvPr>
          <p:cNvPicPr>
            <a:picLocks noChangeAspect="1"/>
          </p:cNvPicPr>
          <p:nvPr/>
        </p:nvPicPr>
        <p:blipFill>
          <a:blip r:embed="rId4"/>
          <a:stretch>
            <a:fillRect/>
          </a:stretch>
        </p:blipFill>
        <p:spPr>
          <a:xfrm>
            <a:off x="1483577" y="5221944"/>
            <a:ext cx="2717800" cy="1244600"/>
          </a:xfrm>
          <a:prstGeom prst="rect">
            <a:avLst/>
          </a:prstGeom>
        </p:spPr>
      </p:pic>
    </p:spTree>
    <p:extLst>
      <p:ext uri="{BB962C8B-B14F-4D97-AF65-F5344CB8AC3E}">
        <p14:creationId xmlns:p14="http://schemas.microsoft.com/office/powerpoint/2010/main" val="41297496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33E6A-0BCB-5BBD-4F87-9B2BC16397EF}"/>
              </a:ext>
            </a:extLst>
          </p:cNvPr>
          <p:cNvSpPr>
            <a:spLocks noGrp="1"/>
          </p:cNvSpPr>
          <p:nvPr>
            <p:ph type="title"/>
          </p:nvPr>
        </p:nvSpPr>
        <p:spPr/>
        <p:txBody>
          <a:bodyPr>
            <a:normAutofit/>
          </a:bodyPr>
          <a:lstStyle/>
          <a:p>
            <a:r>
              <a:rPr lang="en-US" sz="2400" b="1" u="sng" dirty="0"/>
              <a:t>Basic Spark Commands</a:t>
            </a:r>
          </a:p>
        </p:txBody>
      </p:sp>
      <p:sp>
        <p:nvSpPr>
          <p:cNvPr id="3" name="Content Placeholder 2">
            <a:extLst>
              <a:ext uri="{FF2B5EF4-FFF2-40B4-BE49-F238E27FC236}">
                <a16:creationId xmlns:a16="http://schemas.microsoft.com/office/drawing/2014/main" id="{F941E9AF-C656-7400-F981-B10C636B123C}"/>
              </a:ext>
            </a:extLst>
          </p:cNvPr>
          <p:cNvSpPr>
            <a:spLocks noGrp="1"/>
          </p:cNvSpPr>
          <p:nvPr>
            <p:ph idx="1"/>
          </p:nvPr>
        </p:nvSpPr>
        <p:spPr>
          <a:xfrm>
            <a:off x="1371600" y="1428750"/>
            <a:ext cx="10041038" cy="5150733"/>
          </a:xfrm>
        </p:spPr>
        <p:txBody>
          <a:bodyPr>
            <a:normAutofit/>
          </a:bodyPr>
          <a:lstStyle/>
          <a:p>
            <a:pPr marL="0" indent="0" algn="just">
              <a:buNone/>
            </a:pPr>
            <a:r>
              <a:rPr lang="en-US" sz="1800" b="1" dirty="0"/>
              <a:t>Count Command: </a:t>
            </a:r>
            <a:r>
              <a:rPr lang="en-US" sz="1600" dirty="0"/>
              <a:t>To fetch the number of elements in RDD count() function is used.</a:t>
            </a:r>
            <a:r>
              <a:rPr lang="en-US" sz="1800" b="1" dirty="0"/>
              <a:t> </a:t>
            </a:r>
          </a:p>
          <a:p>
            <a:pPr marL="0" indent="0" algn="just">
              <a:buNone/>
            </a:pPr>
            <a:endParaRPr lang="en-US" sz="1800" dirty="0"/>
          </a:p>
          <a:p>
            <a:pPr marL="0" indent="0" algn="just">
              <a:buNone/>
            </a:pPr>
            <a:endParaRPr lang="en-US" sz="1800" dirty="0"/>
          </a:p>
          <a:p>
            <a:pPr marL="0" indent="0" algn="just">
              <a:buNone/>
            </a:pPr>
            <a:endParaRPr lang="en-US" sz="1800" dirty="0"/>
          </a:p>
          <a:p>
            <a:pPr marL="0" indent="0" algn="just">
              <a:buNone/>
            </a:pPr>
            <a:r>
              <a:rPr lang="en-US" sz="1800" b="1" dirty="0"/>
              <a:t>Cache Command: </a:t>
            </a:r>
            <a:r>
              <a:rPr lang="en-US" sz="1400" dirty="0">
                <a:solidFill>
                  <a:srgbClr val="222222"/>
                </a:solidFill>
                <a:latin typeface="Lato" panose="020F0502020204030203" pitchFamily="34" charset="0"/>
              </a:rPr>
              <a:t>F</a:t>
            </a:r>
            <a:r>
              <a:rPr lang="en-US" sz="1400" b="0" i="0" dirty="0">
                <a:solidFill>
                  <a:srgbClr val="222222"/>
                </a:solidFill>
                <a:effectLst/>
                <a:latin typeface="Lato" panose="020F0502020204030203" pitchFamily="34" charset="0"/>
              </a:rPr>
              <a:t>or faster access to the data across multiple Spark actions or transformations. Caching an RDD is particularly useful when the RDD is reused multiple times in your Spark application, as it avoids recomputing the RDD's content each time it is needed.</a:t>
            </a:r>
            <a:endParaRPr lang="en-US" sz="1600" b="1" dirty="0"/>
          </a:p>
          <a:p>
            <a:pPr marL="0" indent="0" algn="just">
              <a:buNone/>
            </a:pPr>
            <a:endParaRPr lang="en-US" sz="1800" dirty="0"/>
          </a:p>
          <a:p>
            <a:pPr marL="0" indent="0" algn="just">
              <a:buNone/>
            </a:pPr>
            <a:endParaRPr lang="en-US" sz="1800" dirty="0"/>
          </a:p>
          <a:p>
            <a:pPr marL="0" indent="0" algn="just">
              <a:buNone/>
            </a:pPr>
            <a:r>
              <a:rPr lang="en-US" sz="1800" b="1" dirty="0"/>
              <a:t>Printing First Element: </a:t>
            </a:r>
            <a:r>
              <a:rPr lang="en-US" sz="1600" dirty="0"/>
              <a:t>first() function is used to fetch the initial element of RDD.</a:t>
            </a:r>
            <a:endParaRPr lang="en-US" sz="1800" b="1" dirty="0"/>
          </a:p>
          <a:p>
            <a:pPr marL="0" indent="0" algn="just">
              <a:buNone/>
            </a:pPr>
            <a:endParaRPr lang="en-US" sz="1800" dirty="0"/>
          </a:p>
          <a:p>
            <a:pPr marL="0" indent="0" algn="just">
              <a:buNone/>
            </a:pPr>
            <a:endParaRPr lang="en-US" sz="1800" dirty="0"/>
          </a:p>
        </p:txBody>
      </p:sp>
      <p:pic>
        <p:nvPicPr>
          <p:cNvPr id="5" name="Picture 4" descr="A black background with white text and green text&#10;&#10;Description automatically generated">
            <a:extLst>
              <a:ext uri="{FF2B5EF4-FFF2-40B4-BE49-F238E27FC236}">
                <a16:creationId xmlns:a16="http://schemas.microsoft.com/office/drawing/2014/main" id="{46DAE8F3-DC1E-8273-DDA8-434DA9EE968F}"/>
              </a:ext>
            </a:extLst>
          </p:cNvPr>
          <p:cNvPicPr>
            <a:picLocks noChangeAspect="1"/>
          </p:cNvPicPr>
          <p:nvPr/>
        </p:nvPicPr>
        <p:blipFill>
          <a:blip r:embed="rId2"/>
          <a:stretch>
            <a:fillRect/>
          </a:stretch>
        </p:blipFill>
        <p:spPr>
          <a:xfrm>
            <a:off x="1460809" y="1936749"/>
            <a:ext cx="2565400" cy="1016000"/>
          </a:xfrm>
          <a:prstGeom prst="rect">
            <a:avLst/>
          </a:prstGeom>
        </p:spPr>
      </p:pic>
      <p:pic>
        <p:nvPicPr>
          <p:cNvPr id="8" name="Picture 7">
            <a:extLst>
              <a:ext uri="{FF2B5EF4-FFF2-40B4-BE49-F238E27FC236}">
                <a16:creationId xmlns:a16="http://schemas.microsoft.com/office/drawing/2014/main" id="{F738D0E9-289F-E27F-CCA2-262B58F4B7F0}"/>
              </a:ext>
            </a:extLst>
          </p:cNvPr>
          <p:cNvPicPr>
            <a:picLocks noChangeAspect="1"/>
          </p:cNvPicPr>
          <p:nvPr/>
        </p:nvPicPr>
        <p:blipFill>
          <a:blip r:embed="rId3"/>
          <a:stretch>
            <a:fillRect/>
          </a:stretch>
        </p:blipFill>
        <p:spPr>
          <a:xfrm>
            <a:off x="1460809" y="3985065"/>
            <a:ext cx="6629400" cy="508000"/>
          </a:xfrm>
          <a:prstGeom prst="rect">
            <a:avLst/>
          </a:prstGeom>
        </p:spPr>
      </p:pic>
      <p:pic>
        <p:nvPicPr>
          <p:cNvPr id="11" name="Picture 10" descr="A black background with white text&#10;&#10;Description automatically generated">
            <a:extLst>
              <a:ext uri="{FF2B5EF4-FFF2-40B4-BE49-F238E27FC236}">
                <a16:creationId xmlns:a16="http://schemas.microsoft.com/office/drawing/2014/main" id="{08279FD9-A1DF-0AF1-A760-7AF8333FE440}"/>
              </a:ext>
            </a:extLst>
          </p:cNvPr>
          <p:cNvPicPr>
            <a:picLocks noChangeAspect="1"/>
          </p:cNvPicPr>
          <p:nvPr/>
        </p:nvPicPr>
        <p:blipFill>
          <a:blip r:embed="rId4"/>
          <a:stretch>
            <a:fillRect/>
          </a:stretch>
        </p:blipFill>
        <p:spPr>
          <a:xfrm>
            <a:off x="1460809" y="5236015"/>
            <a:ext cx="3149600" cy="622300"/>
          </a:xfrm>
          <a:prstGeom prst="rect">
            <a:avLst/>
          </a:prstGeom>
        </p:spPr>
      </p:pic>
    </p:spTree>
    <p:extLst>
      <p:ext uri="{BB962C8B-B14F-4D97-AF65-F5344CB8AC3E}">
        <p14:creationId xmlns:p14="http://schemas.microsoft.com/office/powerpoint/2010/main" val="32945642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33E6A-0BCB-5BBD-4F87-9B2BC16397EF}"/>
              </a:ext>
            </a:extLst>
          </p:cNvPr>
          <p:cNvSpPr>
            <a:spLocks noGrp="1"/>
          </p:cNvSpPr>
          <p:nvPr>
            <p:ph type="title"/>
          </p:nvPr>
        </p:nvSpPr>
        <p:spPr/>
        <p:txBody>
          <a:bodyPr>
            <a:normAutofit/>
          </a:bodyPr>
          <a:lstStyle/>
          <a:p>
            <a:r>
              <a:rPr lang="en-US" sz="2400" b="1" u="sng" dirty="0"/>
              <a:t>Basic Spark Commands</a:t>
            </a:r>
          </a:p>
        </p:txBody>
      </p:sp>
      <p:sp>
        <p:nvSpPr>
          <p:cNvPr id="3" name="Content Placeholder 2">
            <a:extLst>
              <a:ext uri="{FF2B5EF4-FFF2-40B4-BE49-F238E27FC236}">
                <a16:creationId xmlns:a16="http://schemas.microsoft.com/office/drawing/2014/main" id="{F941E9AF-C656-7400-F981-B10C636B123C}"/>
              </a:ext>
            </a:extLst>
          </p:cNvPr>
          <p:cNvSpPr>
            <a:spLocks noGrp="1"/>
          </p:cNvSpPr>
          <p:nvPr>
            <p:ph idx="1"/>
          </p:nvPr>
        </p:nvSpPr>
        <p:spPr>
          <a:xfrm>
            <a:off x="1371600" y="1428750"/>
            <a:ext cx="10041038" cy="5150733"/>
          </a:xfrm>
        </p:spPr>
        <p:txBody>
          <a:bodyPr>
            <a:normAutofit/>
          </a:bodyPr>
          <a:lstStyle/>
          <a:p>
            <a:pPr marL="0" indent="0" algn="just">
              <a:buNone/>
            </a:pPr>
            <a:r>
              <a:rPr lang="en-US" sz="1800" b="1" dirty="0"/>
              <a:t>Print First N elements: </a:t>
            </a:r>
            <a:r>
              <a:rPr lang="en-US" sz="1600" dirty="0"/>
              <a:t>take(N) function used to print first specified number of  elements from an RDD. Returns them as an array to the driver program. </a:t>
            </a:r>
            <a:endParaRPr lang="en-US" sz="1800" b="1" dirty="0"/>
          </a:p>
          <a:p>
            <a:pPr marL="0" indent="0" algn="just">
              <a:buNone/>
            </a:pPr>
            <a:endParaRPr lang="en-US" sz="1800" dirty="0"/>
          </a:p>
          <a:p>
            <a:pPr marL="0" indent="0" algn="just">
              <a:buNone/>
            </a:pPr>
            <a:endParaRPr lang="en-US" sz="1800" dirty="0"/>
          </a:p>
          <a:p>
            <a:pPr marL="0" indent="0" algn="just">
              <a:buNone/>
            </a:pPr>
            <a:endParaRPr lang="en-US" sz="1800" dirty="0"/>
          </a:p>
        </p:txBody>
      </p:sp>
      <p:pic>
        <p:nvPicPr>
          <p:cNvPr id="6" name="Picture 5" descr="A black background with white text and green text&#10;&#10;Description automatically generated">
            <a:extLst>
              <a:ext uri="{FF2B5EF4-FFF2-40B4-BE49-F238E27FC236}">
                <a16:creationId xmlns:a16="http://schemas.microsoft.com/office/drawing/2014/main" id="{37A33A1C-E489-52B3-50CA-BAE04F07740D}"/>
              </a:ext>
            </a:extLst>
          </p:cNvPr>
          <p:cNvPicPr>
            <a:picLocks noChangeAspect="1"/>
          </p:cNvPicPr>
          <p:nvPr/>
        </p:nvPicPr>
        <p:blipFill>
          <a:blip r:embed="rId2"/>
          <a:stretch>
            <a:fillRect/>
          </a:stretch>
        </p:blipFill>
        <p:spPr>
          <a:xfrm>
            <a:off x="1468398" y="2266950"/>
            <a:ext cx="3746500" cy="647700"/>
          </a:xfrm>
          <a:prstGeom prst="rect">
            <a:avLst/>
          </a:prstGeom>
        </p:spPr>
      </p:pic>
    </p:spTree>
    <p:extLst>
      <p:ext uri="{BB962C8B-B14F-4D97-AF65-F5344CB8AC3E}">
        <p14:creationId xmlns:p14="http://schemas.microsoft.com/office/powerpoint/2010/main" val="1255441507"/>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Crop</Template>
  <TotalTime>1948</TotalTime>
  <Words>2384</Words>
  <Application>Microsoft Macintosh PowerPoint</Application>
  <PresentationFormat>Widescreen</PresentationFormat>
  <Paragraphs>138</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DM Sans</vt:lpstr>
      <vt:lpstr>Franklin Gothic Book</vt:lpstr>
      <vt:lpstr>Lato</vt:lpstr>
      <vt:lpstr>Söhne</vt:lpstr>
      <vt:lpstr>unset</vt:lpstr>
      <vt:lpstr>Crop</vt:lpstr>
      <vt:lpstr>Elementary aspects</vt:lpstr>
      <vt:lpstr>Agenda:</vt:lpstr>
      <vt:lpstr>What is Spark?</vt:lpstr>
      <vt:lpstr>Features of Spark:</vt:lpstr>
      <vt:lpstr>Features</vt:lpstr>
      <vt:lpstr>Features</vt:lpstr>
      <vt:lpstr>Features</vt:lpstr>
      <vt:lpstr>Components of Spark:</vt:lpstr>
      <vt:lpstr>Spark Core</vt:lpstr>
      <vt:lpstr>Spark SQL</vt:lpstr>
      <vt:lpstr>Spark Streaming</vt:lpstr>
      <vt:lpstr>MLlib</vt:lpstr>
      <vt:lpstr>GraphX</vt:lpstr>
      <vt:lpstr>Apache Spark Architecture </vt:lpstr>
      <vt:lpstr>PowerPoint Presentation</vt:lpstr>
      <vt:lpstr>PowerPoint Presentation</vt:lpstr>
      <vt:lpstr>Python and Scala</vt:lpstr>
      <vt:lpstr>Basic Spark Commands</vt:lpstr>
      <vt:lpstr>Basic Spark Commands</vt:lpstr>
      <vt:lpstr>Basic Spark Commands</vt:lpstr>
      <vt:lpstr>Basic Spark Commands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Apache Spark</dc:title>
  <dc:creator>VALLAMKONDA ADARSH 20071A1259</dc:creator>
  <cp:lastModifiedBy>VALLAMKONDA ADARSH 20071A1259</cp:lastModifiedBy>
  <cp:revision>11</cp:revision>
  <dcterms:created xsi:type="dcterms:W3CDTF">2024-01-03T06:04:02Z</dcterms:created>
  <dcterms:modified xsi:type="dcterms:W3CDTF">2024-01-04T14:33:06Z</dcterms:modified>
</cp:coreProperties>
</file>