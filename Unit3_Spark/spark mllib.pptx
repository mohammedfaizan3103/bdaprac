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76" r:id="rId4"/>
    <p:sldId id="259" r:id="rId5"/>
    <p:sldId id="260" r:id="rId6"/>
    <p:sldId id="261" r:id="rId7"/>
    <p:sldId id="262" r:id="rId8"/>
    <p:sldId id="263" r:id="rId9"/>
    <p:sldId id="264" r:id="rId10"/>
    <p:sldId id="265" r:id="rId11"/>
    <p:sldId id="266" r:id="rId12"/>
    <p:sldId id="267" r:id="rId13"/>
    <p:sldId id="268" r:id="rId14"/>
    <p:sldId id="270" r:id="rId15"/>
    <p:sldId id="279" r:id="rId16"/>
    <p:sldId id="280" r:id="rId17"/>
    <p:sldId id="281" r:id="rId18"/>
    <p:sldId id="271" r:id="rId19"/>
    <p:sldId id="282" r:id="rId20"/>
    <p:sldId id="283" r:id="rId21"/>
    <p:sldId id="284" r:id="rId22"/>
    <p:sldId id="269" r:id="rId23"/>
    <p:sldId id="285" r:id="rId24"/>
    <p:sldId id="286" r:id="rId25"/>
    <p:sldId id="287" r:id="rId26"/>
    <p:sldId id="277" r:id="rId27"/>
    <p:sldId id="272" r:id="rId28"/>
    <p:sldId id="291" r:id="rId29"/>
    <p:sldId id="292" r:id="rId30"/>
    <p:sldId id="293" r:id="rId31"/>
    <p:sldId id="300" r:id="rId32"/>
    <p:sldId id="273" r:id="rId33"/>
    <p:sldId id="294" r:id="rId34"/>
    <p:sldId id="295" r:id="rId35"/>
    <p:sldId id="296" r:id="rId36"/>
    <p:sldId id="275" r:id="rId37"/>
    <p:sldId id="288" r:id="rId38"/>
    <p:sldId id="289" r:id="rId39"/>
    <p:sldId id="290" r:id="rId40"/>
    <p:sldId id="278" r:id="rId41"/>
    <p:sldId id="274" r:id="rId42"/>
    <p:sldId id="297" r:id="rId43"/>
    <p:sldId id="298" r:id="rId44"/>
    <p:sldId id="299"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autoAdjust="0"/>
    <p:restoredTop sz="94660"/>
  </p:normalViewPr>
  <p:slideViewPr>
    <p:cSldViewPr snapToGrid="0">
      <p:cViewPr varScale="1">
        <p:scale>
          <a:sx n="83" d="100"/>
          <a:sy n="83" d="100"/>
        </p:scale>
        <p:origin x="86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smtClean="0"/>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BCF19AF-E87A-439C-ACD0-35E183EC6247}"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1482504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CF19AF-E87A-439C-ACD0-35E183EC6247}"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24464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BCF19AF-E87A-439C-ACD0-35E183EC6247}" type="datetimeFigureOut">
              <a:rPr lang="en-US" smtClean="0"/>
              <a:t>1/18/2024</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1AC5F04-792F-4132-ADB3-FFEA233CB3E8}" type="slidenum">
              <a:rPr lang="en-US" smtClean="0"/>
              <a:t>‹#›</a:t>
            </a:fld>
            <a:endParaRPr lang="en-US"/>
          </a:p>
        </p:txBody>
      </p:sp>
    </p:spTree>
    <p:extLst>
      <p:ext uri="{BB962C8B-B14F-4D97-AF65-F5344CB8AC3E}">
        <p14:creationId xmlns:p14="http://schemas.microsoft.com/office/powerpoint/2010/main" val="306011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CF19AF-E87A-439C-ACD0-35E183EC6247}"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3871619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BCF19AF-E87A-439C-ACD0-35E183EC6247}" type="datetimeFigureOut">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3422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BCF19AF-E87A-439C-ACD0-35E183EC6247}" type="datetimeFigureOut">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3228485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F19AF-E87A-439C-ACD0-35E183EC6247}" type="datetimeFigureOut">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1610983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F19AF-E87A-439C-ACD0-35E183EC6247}"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2757021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F19AF-E87A-439C-ACD0-35E183EC6247}"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4154459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CF19AF-E87A-439C-ACD0-35E183EC6247}"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2958988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0BCF19AF-E87A-439C-ACD0-35E183EC6247}" type="datetimeFigureOut">
              <a:rPr lang="en-US" smtClean="0"/>
              <a:t>1/18/2024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21AC5F04-792F-4132-ADB3-FFEA233CB3E8}" type="slidenum">
              <a:rPr lang="en-US" smtClean="0"/>
              <a:t>‹#›</a:t>
            </a:fld>
            <a:endParaRPr lang="en-US"/>
          </a:p>
        </p:txBody>
      </p:sp>
    </p:spTree>
    <p:extLst>
      <p:ext uri="{BB962C8B-B14F-4D97-AF65-F5344CB8AC3E}">
        <p14:creationId xmlns:p14="http://schemas.microsoft.com/office/powerpoint/2010/main" val="1432798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0BCF19AF-E87A-439C-ACD0-35E183EC6247}" type="datetimeFigureOut">
              <a:rPr lang="en-US" smtClean="0"/>
              <a:t>1/18/2024</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21AC5F04-792F-4132-ADB3-FFEA233CB3E8}" type="slidenum">
              <a:rPr lang="en-US" smtClean="0"/>
              <a:t>‹#›</a:t>
            </a:fld>
            <a:endParaRPr lang="en-US"/>
          </a:p>
        </p:txBody>
      </p:sp>
    </p:spTree>
    <p:extLst>
      <p:ext uri="{BB962C8B-B14F-4D97-AF65-F5344CB8AC3E}">
        <p14:creationId xmlns:p14="http://schemas.microsoft.com/office/powerpoint/2010/main" val="315028257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52945" y="2050473"/>
            <a:ext cx="10021455" cy="1631216"/>
          </a:xfrm>
          <a:prstGeom prst="rect">
            <a:avLst/>
          </a:prstGeom>
          <a:noFill/>
        </p:spPr>
        <p:txBody>
          <a:bodyPr wrap="square" rtlCol="0">
            <a:spAutoFit/>
          </a:bodyPr>
          <a:lstStyle/>
          <a:p>
            <a:pPr algn="ctr"/>
            <a:r>
              <a:rPr lang="en-US" sz="10000" dirty="0" smtClean="0">
                <a:solidFill>
                  <a:schemeClr val="bg2"/>
                </a:solidFill>
                <a:latin typeface="Arial" panose="020B0604020202020204" pitchFamily="34" charset="0"/>
                <a:cs typeface="Arial" panose="020B0604020202020204" pitchFamily="34" charset="0"/>
              </a:rPr>
              <a:t>SPARK MLlib</a:t>
            </a:r>
            <a:endParaRPr lang="en-US" sz="10000" dirty="0">
              <a:solidFill>
                <a:schemeClr val="bg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21792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8073" y="341745"/>
            <a:ext cx="10935854" cy="5909310"/>
          </a:xfrm>
          <a:prstGeom prst="rect">
            <a:avLst/>
          </a:prstGeom>
          <a:noFill/>
        </p:spPr>
        <p:txBody>
          <a:bodyPr wrap="square" rtlCol="0">
            <a:spAutoFit/>
          </a:bodyPr>
          <a:lstStyle/>
          <a:p>
            <a:pPr algn="just"/>
            <a:r>
              <a:rPr lang="en-US" b="1" dirty="0" smtClean="0"/>
              <a:t>What is Spark MLlib?</a:t>
            </a:r>
          </a:p>
          <a:p>
            <a:pPr marL="285750" indent="-285750" algn="just">
              <a:buFont typeface="Arial" panose="020B0604020202020204" pitchFamily="34" charset="0"/>
              <a:buChar char="•"/>
            </a:pPr>
            <a:r>
              <a:rPr lang="en-US" dirty="0" smtClean="0"/>
              <a:t>Spark Mllib is a component of Apache Spark. It is a Machine Learning library that focuses in doing classification, regression and clustering in apache spark framework.</a:t>
            </a:r>
            <a:endParaRPr lang="en-US" dirty="0"/>
          </a:p>
          <a:p>
            <a:pPr marL="285750" indent="-285750" algn="just">
              <a:buFont typeface="Arial" panose="020B0604020202020204" pitchFamily="34" charset="0"/>
              <a:buChar char="•"/>
            </a:pPr>
            <a:r>
              <a:rPr lang="en-US" dirty="0" smtClean="0"/>
              <a:t>Support for Multiple Algorithms: MLlib includes a variety of machine learning algorithms, such as linear regression, logistic regression, decision trees, random forests, k-means clustering, and more.</a:t>
            </a:r>
          </a:p>
          <a:p>
            <a:pPr marL="285750" indent="-285750" algn="just">
              <a:buFont typeface="Arial" panose="020B0604020202020204" pitchFamily="34" charset="0"/>
              <a:buChar char="•"/>
            </a:pPr>
            <a:r>
              <a:rPr lang="en-US" dirty="0" smtClean="0"/>
              <a:t>Pipelines: Spark MLlib uses a concept called Pipelines to streamline the process of building, tuning, and deploying machine learning models. A pipeline consists of a sequence of stages, including data preparation, feature extraction, and model training.</a:t>
            </a:r>
          </a:p>
          <a:p>
            <a:pPr marL="285750" indent="-285750" algn="just">
              <a:buFont typeface="Arial" panose="020B0604020202020204" pitchFamily="34" charset="0"/>
              <a:buChar char="•"/>
            </a:pPr>
            <a:r>
              <a:rPr lang="en-US" dirty="0" smtClean="0"/>
              <a:t>Integration with Spark Ecosystem: MLlib is tightly integrated with the broader Spark ecosystem, which includes components like Spark SQL, Spark Streaming, and Spark </a:t>
            </a:r>
            <a:r>
              <a:rPr lang="en-US" dirty="0" err="1" smtClean="0"/>
              <a:t>GraphX</a:t>
            </a:r>
            <a:r>
              <a:rPr lang="en-US" dirty="0" smtClean="0"/>
              <a:t>. This integration allows users to seamlessly incorporate machine learning into their Spark-based data processing workflows.</a:t>
            </a:r>
          </a:p>
          <a:p>
            <a:pPr marL="285750" indent="-285750" algn="just">
              <a:buFont typeface="Arial" panose="020B0604020202020204" pitchFamily="34" charset="0"/>
              <a:buChar char="•"/>
            </a:pPr>
            <a:r>
              <a:rPr lang="en-US" dirty="0" smtClean="0"/>
              <a:t>It provides the API to incorporate the algorithms in languages like </a:t>
            </a:r>
          </a:p>
          <a:p>
            <a:pPr marL="742950" lvl="1" indent="-285750" algn="just">
              <a:buFont typeface="Arial" panose="020B0604020202020204" pitchFamily="34" charset="0"/>
              <a:buChar char="•"/>
            </a:pPr>
            <a:r>
              <a:rPr lang="en-US" dirty="0" smtClean="0"/>
              <a:t>Java</a:t>
            </a:r>
          </a:p>
          <a:p>
            <a:pPr marL="742950" lvl="1" indent="-285750" algn="just">
              <a:buFont typeface="Arial" panose="020B0604020202020204" pitchFamily="34" charset="0"/>
              <a:buChar char="•"/>
            </a:pPr>
            <a:r>
              <a:rPr lang="en-US" dirty="0" smtClean="0"/>
              <a:t>Python</a:t>
            </a:r>
          </a:p>
          <a:p>
            <a:pPr marL="742950" lvl="1" indent="-285750" algn="just">
              <a:buFont typeface="Arial" panose="020B0604020202020204" pitchFamily="34" charset="0"/>
              <a:buChar char="•"/>
            </a:pPr>
            <a:r>
              <a:rPr lang="en-US" dirty="0" smtClean="0"/>
              <a:t>R</a:t>
            </a:r>
          </a:p>
          <a:p>
            <a:pPr marL="742950" lvl="1" indent="-285750" algn="just">
              <a:buFont typeface="Arial" panose="020B0604020202020204" pitchFamily="34" charset="0"/>
              <a:buChar char="•"/>
            </a:pPr>
            <a:r>
              <a:rPr lang="en-US" dirty="0" smtClean="0"/>
              <a:t>Scala</a:t>
            </a:r>
            <a:endParaRPr lang="en-US" dirty="0"/>
          </a:p>
          <a:p>
            <a:pPr marL="285750" indent="-285750" algn="just">
              <a:buFont typeface="Arial" panose="020B0604020202020204" pitchFamily="34" charset="0"/>
              <a:buChar char="•"/>
            </a:pPr>
            <a:r>
              <a:rPr lang="en-US" dirty="0" smtClean="0"/>
              <a:t>It takes the data from different sources like</a:t>
            </a:r>
          </a:p>
          <a:p>
            <a:pPr marL="742950" lvl="1" indent="-285750" algn="just">
              <a:buFont typeface="Arial" panose="020B0604020202020204" pitchFamily="34" charset="0"/>
              <a:buChar char="•"/>
            </a:pPr>
            <a:r>
              <a:rPr lang="en-US" dirty="0" smtClean="0"/>
              <a:t>HDFS</a:t>
            </a:r>
          </a:p>
          <a:p>
            <a:pPr marL="742950" lvl="1" indent="-285750" algn="just">
              <a:buFont typeface="Arial" panose="020B0604020202020204" pitchFamily="34" charset="0"/>
              <a:buChar char="•"/>
            </a:pPr>
            <a:r>
              <a:rPr lang="en-US" dirty="0" smtClean="0"/>
              <a:t>Hive</a:t>
            </a:r>
          </a:p>
          <a:p>
            <a:pPr marL="742950" lvl="1" indent="-285750" algn="just">
              <a:buFont typeface="Arial" panose="020B0604020202020204" pitchFamily="34" charset="0"/>
              <a:buChar char="•"/>
            </a:pPr>
            <a:r>
              <a:rPr lang="en-US" dirty="0" smtClean="0"/>
              <a:t>HBase</a:t>
            </a:r>
          </a:p>
          <a:p>
            <a:pPr marL="742950" lvl="1" indent="-285750" algn="just">
              <a:buFont typeface="Arial" panose="020B0604020202020204" pitchFamily="34" charset="0"/>
              <a:buChar char="•"/>
            </a:pPr>
            <a:r>
              <a:rPr lang="en-US" dirty="0" smtClean="0"/>
              <a:t>Local System</a:t>
            </a:r>
            <a:endParaRPr lang="en-US" dirty="0"/>
          </a:p>
        </p:txBody>
      </p:sp>
    </p:spTree>
    <p:extLst>
      <p:ext uri="{BB962C8B-B14F-4D97-AF65-F5344CB8AC3E}">
        <p14:creationId xmlns:p14="http://schemas.microsoft.com/office/powerpoint/2010/main" val="4690467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TextBox 2"/>
          <p:cNvSpPr txBox="1"/>
          <p:nvPr/>
        </p:nvSpPr>
        <p:spPr>
          <a:xfrm>
            <a:off x="175491" y="1939636"/>
            <a:ext cx="11822545" cy="2031325"/>
          </a:xfrm>
          <a:prstGeom prst="rect">
            <a:avLst/>
          </a:prstGeom>
          <a:noFill/>
        </p:spPr>
        <p:txBody>
          <a:bodyPr wrap="square" rtlCol="0">
            <a:spAutoFit/>
          </a:bodyPr>
          <a:lstStyle/>
          <a:p>
            <a:pPr algn="just" fontAlgn="base"/>
            <a:r>
              <a:rPr lang="en-US" dirty="0"/>
              <a:t>Classification is a process of categorizing data or objects into predefined classes or categories based on their features or attributes. In machine learning, classification is a type of supervised learning technique where an algorithm is trained on a labeled dataset to predict the class or category of new, unseen data.</a:t>
            </a:r>
          </a:p>
          <a:p>
            <a:pPr algn="just" fontAlgn="base"/>
            <a:r>
              <a:rPr lang="en-US" dirty="0"/>
              <a:t>The main objective of classification is to build a model that can accurately assign a label or category to a new observation based on its features. For example, a classification model might be trained on a dataset of images labeled as either dogs or cats and then used to predict the class of new, unseen images of dogs or cats based on their features such as color, texture, and shape</a:t>
            </a:r>
            <a:r>
              <a:rPr lang="en-US" dirty="0" smtClean="0"/>
              <a:t>.</a:t>
            </a:r>
            <a:endParaRPr lang="en-US" dirty="0"/>
          </a:p>
        </p:txBody>
      </p:sp>
      <p:pic>
        <p:nvPicPr>
          <p:cNvPr id="5" name="Picture 4"/>
          <p:cNvPicPr>
            <a:picLocks noChangeAspect="1"/>
          </p:cNvPicPr>
          <p:nvPr/>
        </p:nvPicPr>
        <p:blipFill>
          <a:blip r:embed="rId2"/>
          <a:stretch>
            <a:fillRect/>
          </a:stretch>
        </p:blipFill>
        <p:spPr>
          <a:xfrm>
            <a:off x="5218544" y="3754576"/>
            <a:ext cx="3114531" cy="2758792"/>
          </a:xfrm>
          <a:prstGeom prst="rect">
            <a:avLst/>
          </a:prstGeom>
        </p:spPr>
      </p:pic>
    </p:spTree>
    <p:extLst>
      <p:ext uri="{BB962C8B-B14F-4D97-AF65-F5344CB8AC3E}">
        <p14:creationId xmlns:p14="http://schemas.microsoft.com/office/powerpoint/2010/main" val="11759332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a:t>
            </a:r>
            <a:endParaRPr lang="en-US" dirty="0"/>
          </a:p>
        </p:txBody>
      </p:sp>
      <p:sp>
        <p:nvSpPr>
          <p:cNvPr id="3" name="TextBox 2"/>
          <p:cNvSpPr txBox="1"/>
          <p:nvPr/>
        </p:nvSpPr>
        <p:spPr>
          <a:xfrm>
            <a:off x="175491" y="1939636"/>
            <a:ext cx="11822545" cy="2585323"/>
          </a:xfrm>
          <a:prstGeom prst="rect">
            <a:avLst/>
          </a:prstGeom>
          <a:noFill/>
        </p:spPr>
        <p:txBody>
          <a:bodyPr wrap="square" rtlCol="0">
            <a:spAutoFit/>
          </a:bodyPr>
          <a:lstStyle/>
          <a:p>
            <a:pPr algn="just" fontAlgn="base"/>
            <a:r>
              <a:rPr lang="en-US" dirty="0"/>
              <a:t>A decision tree is one of the most powerful tools of supervised learning algorithms used for both classification and regression tasks. It builds a flowchart-like tree structure where each internal node denotes a test on an attribute, each branch represents an outcome of the test, and each leaf node (terminal node) holds a class label. It is constructed by recursively splitting the training data into subsets based on the values of the attributes until a stopping criterion is met, such as the maximum depth of the tree or the minimum number of samples required to split a node.</a:t>
            </a:r>
          </a:p>
          <a:p>
            <a:pPr algn="just" fontAlgn="base"/>
            <a:r>
              <a:rPr lang="en-US" dirty="0"/>
              <a:t>During training, the Decision Tree algorithm selects the best attribute to split the data based on a metric such as entropy or Gini impurity, which measures the level of impurity or randomness in the subsets. The goal is to find the attribute that maximizes the information gain or the reduction in impurity after the split.</a:t>
            </a:r>
          </a:p>
          <a:p>
            <a:pPr algn="just"/>
            <a:endParaRPr lang="en-US" dirty="0"/>
          </a:p>
        </p:txBody>
      </p:sp>
      <p:pic>
        <p:nvPicPr>
          <p:cNvPr id="4" name="Picture 3"/>
          <p:cNvPicPr>
            <a:picLocks noChangeAspect="1"/>
          </p:cNvPicPr>
          <p:nvPr/>
        </p:nvPicPr>
        <p:blipFill>
          <a:blip r:embed="rId2"/>
          <a:stretch>
            <a:fillRect/>
          </a:stretch>
        </p:blipFill>
        <p:spPr>
          <a:xfrm>
            <a:off x="7499928" y="4016753"/>
            <a:ext cx="4378036" cy="2670195"/>
          </a:xfrm>
          <a:prstGeom prst="rect">
            <a:avLst/>
          </a:prstGeom>
        </p:spPr>
      </p:pic>
    </p:spTree>
    <p:extLst>
      <p:ext uri="{BB962C8B-B14F-4D97-AF65-F5344CB8AC3E}">
        <p14:creationId xmlns:p14="http://schemas.microsoft.com/office/powerpoint/2010/main" val="7292020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6186309"/>
          </a:xfrm>
          <a:prstGeom prst="rect">
            <a:avLst/>
          </a:prstGeom>
          <a:noFill/>
        </p:spPr>
        <p:txBody>
          <a:bodyPr wrap="square" rtlCol="0">
            <a:spAutoFit/>
          </a:bodyPr>
          <a:lstStyle/>
          <a:p>
            <a:pPr algn="just"/>
            <a:r>
              <a:rPr lang="en-US" b="1" i="1" u="sng" dirty="0" smtClean="0"/>
              <a:t>Steps in Decision tree implementation</a:t>
            </a:r>
          </a:p>
          <a:p>
            <a:pPr algn="just"/>
            <a:endParaRPr lang="en-US" dirty="0" smtClean="0"/>
          </a:p>
          <a:p>
            <a:pPr algn="just"/>
            <a:endParaRPr lang="en-US" dirty="0"/>
          </a:p>
          <a:p>
            <a:pPr algn="just"/>
            <a:endParaRPr lang="en-US" dirty="0" smtClean="0"/>
          </a:p>
          <a:p>
            <a:pPr algn="just"/>
            <a:endParaRPr lang="en-US" dirty="0" smtClean="0"/>
          </a:p>
          <a:p>
            <a:pPr algn="just"/>
            <a:endParaRPr lang="en-US" dirty="0" smtClean="0"/>
          </a:p>
          <a:p>
            <a:pPr algn="just"/>
            <a:r>
              <a:rPr lang="en-US" dirty="0" err="1" smtClean="0"/>
              <a:t>findspark</a:t>
            </a:r>
            <a:r>
              <a:rPr lang="en-US" dirty="0" smtClean="0"/>
              <a:t> is used in locating and initializing the spark runtime in the python script which is </a:t>
            </a:r>
            <a:r>
              <a:rPr lang="en-US" dirty="0" err="1" smtClean="0"/>
              <a:t>jupyter</a:t>
            </a:r>
            <a:r>
              <a:rPr lang="en-US" dirty="0" smtClean="0"/>
              <a:t> notebook here.</a:t>
            </a:r>
          </a:p>
          <a:p>
            <a:pPr algn="just"/>
            <a:r>
              <a:rPr lang="en-US" dirty="0" smtClean="0"/>
              <a:t>When you use </a:t>
            </a:r>
            <a:r>
              <a:rPr lang="en-US" dirty="0" err="1" smtClean="0"/>
              <a:t>findspark.init</a:t>
            </a:r>
            <a:r>
              <a:rPr lang="en-US" dirty="0" smtClean="0"/>
              <a:t>(), it performs the following tasks:</a:t>
            </a:r>
          </a:p>
          <a:p>
            <a:pPr marL="285750" indent="-285750" algn="just">
              <a:buFont typeface="Arial" panose="020B0604020202020204" pitchFamily="34" charset="0"/>
              <a:buChar char="•"/>
            </a:pPr>
            <a:r>
              <a:rPr lang="en-US" dirty="0" smtClean="0"/>
              <a:t>Locate Spark: It searches for the Spark installation on your system by looking for the SPARK_HOME environment variable. If the variable is not set, it will look for Spark in common installation locations.</a:t>
            </a:r>
          </a:p>
          <a:p>
            <a:pPr marL="285750" indent="-285750" algn="just">
              <a:buFont typeface="Arial" panose="020B0604020202020204" pitchFamily="34" charset="0"/>
              <a:buChar char="•"/>
            </a:pPr>
            <a:r>
              <a:rPr lang="en-US" dirty="0" smtClean="0"/>
              <a:t>Set Spark Home: Once it finds the Spark installation, it sets the SPARK_HOME environment variable to point to the Spark installation directory. This is necessary for Spark to function correctly.</a:t>
            </a:r>
          </a:p>
          <a:p>
            <a:pPr marL="285750" indent="-285750" algn="just">
              <a:buFont typeface="Arial" panose="020B0604020202020204" pitchFamily="34" charset="0"/>
              <a:buChar char="•"/>
            </a:pPr>
            <a:r>
              <a:rPr lang="en-US" dirty="0" smtClean="0"/>
              <a:t>Add Spark to </a:t>
            </a:r>
            <a:r>
              <a:rPr lang="en-US" dirty="0" err="1" smtClean="0"/>
              <a:t>sys.path</a:t>
            </a:r>
            <a:r>
              <a:rPr lang="en-US" dirty="0" smtClean="0"/>
              <a:t>: It appends the Spark Python libraries to the </a:t>
            </a:r>
            <a:r>
              <a:rPr lang="en-US" dirty="0" err="1" smtClean="0"/>
              <a:t>sys.path</a:t>
            </a:r>
            <a:r>
              <a:rPr lang="en-US" dirty="0" smtClean="0"/>
              <a:t>. This ensures that when you import the </a:t>
            </a:r>
            <a:r>
              <a:rPr lang="en-US" dirty="0" err="1" smtClean="0"/>
              <a:t>pyspark</a:t>
            </a:r>
            <a:r>
              <a:rPr lang="en-US" dirty="0" smtClean="0"/>
              <a:t> library in your script, Python can find the necessary modules.</a:t>
            </a:r>
          </a:p>
          <a:p>
            <a:pPr algn="just"/>
            <a:endParaRPr lang="en-US" dirty="0" smtClean="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r>
              <a:rPr lang="en-US" dirty="0" smtClean="0"/>
              <a:t>Importing the required libraries.</a:t>
            </a:r>
          </a:p>
        </p:txBody>
      </p:sp>
      <p:pic>
        <p:nvPicPr>
          <p:cNvPr id="3" name="Picture 2"/>
          <p:cNvPicPr>
            <a:picLocks noChangeAspect="1"/>
          </p:cNvPicPr>
          <p:nvPr/>
        </p:nvPicPr>
        <p:blipFill>
          <a:blip r:embed="rId2"/>
          <a:stretch>
            <a:fillRect/>
          </a:stretch>
        </p:blipFill>
        <p:spPr>
          <a:xfrm>
            <a:off x="401254" y="1145537"/>
            <a:ext cx="2400821" cy="649202"/>
          </a:xfrm>
          <a:prstGeom prst="rect">
            <a:avLst/>
          </a:prstGeom>
        </p:spPr>
      </p:pic>
      <p:pic>
        <p:nvPicPr>
          <p:cNvPr id="4" name="Picture 3"/>
          <p:cNvPicPr>
            <a:picLocks noChangeAspect="1"/>
          </p:cNvPicPr>
          <p:nvPr/>
        </p:nvPicPr>
        <p:blipFill>
          <a:blip r:embed="rId3"/>
          <a:stretch>
            <a:fillRect/>
          </a:stretch>
        </p:blipFill>
        <p:spPr>
          <a:xfrm>
            <a:off x="401254" y="4738692"/>
            <a:ext cx="11221360" cy="1279809"/>
          </a:xfrm>
          <a:prstGeom prst="rect">
            <a:avLst/>
          </a:prstGeom>
        </p:spPr>
      </p:pic>
    </p:spTree>
    <p:extLst>
      <p:ext uri="{BB962C8B-B14F-4D97-AF65-F5344CB8AC3E}">
        <p14:creationId xmlns:p14="http://schemas.microsoft.com/office/powerpoint/2010/main" val="5644266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5909310"/>
          </a:xfrm>
          <a:prstGeom prst="rect">
            <a:avLst/>
          </a:prstGeom>
          <a:noFill/>
        </p:spPr>
        <p:txBody>
          <a:bodyPr wrap="square" rtlCol="0">
            <a:spAutoFit/>
          </a:bodyPr>
          <a:lstStyle/>
          <a:p>
            <a:pPr algn="just"/>
            <a:endParaRPr lang="en-US" dirty="0"/>
          </a:p>
          <a:p>
            <a:pPr algn="just"/>
            <a:endParaRPr lang="en-US" dirty="0" smtClean="0"/>
          </a:p>
          <a:p>
            <a:pPr algn="just"/>
            <a:endParaRPr lang="en-US" dirty="0"/>
          </a:p>
          <a:p>
            <a:pPr algn="just"/>
            <a:endParaRPr lang="en-US" dirty="0" smtClean="0"/>
          </a:p>
          <a:p>
            <a:pPr algn="just"/>
            <a:r>
              <a:rPr lang="en-US" dirty="0" smtClean="0"/>
              <a:t>Creating a spark session</a:t>
            </a:r>
            <a:r>
              <a:rPr lang="en-US" dirty="0"/>
              <a:t> </a:t>
            </a:r>
            <a:r>
              <a:rPr lang="en-US" dirty="0" smtClean="0"/>
              <a:t>using the </a:t>
            </a:r>
            <a:r>
              <a:rPr lang="en-US" dirty="0" err="1" smtClean="0"/>
              <a:t>SparkSession.builder</a:t>
            </a:r>
            <a:r>
              <a:rPr lang="en-US" dirty="0" smtClean="0"/>
              <a:t>. This session is used as the entry point to any spark functionality. The name for this session can be given by the </a:t>
            </a:r>
            <a:r>
              <a:rPr lang="en-US" dirty="0" err="1" smtClean="0"/>
              <a:t>appName</a:t>
            </a:r>
            <a:r>
              <a:rPr lang="en-US" dirty="0" smtClean="0"/>
              <a:t> method and this name is displayed in spark UI to help identify our application. .</a:t>
            </a:r>
            <a:r>
              <a:rPr lang="en-US" dirty="0" err="1" smtClean="0"/>
              <a:t>getOrCreate</a:t>
            </a:r>
            <a:r>
              <a:rPr lang="en-US" dirty="0" smtClean="0"/>
              <a:t>() method is used in obtaining an existing or creating a new spark session, it ensures that only one session is active at a time, if it already exists, that session will be used otherwise a new one will be created.</a:t>
            </a:r>
          </a:p>
          <a:p>
            <a:pPr algn="just"/>
            <a:endParaRPr lang="en-US" dirty="0"/>
          </a:p>
          <a:p>
            <a:pPr algn="just"/>
            <a:endParaRPr lang="en-US" dirty="0" smtClean="0"/>
          </a:p>
          <a:p>
            <a:pPr algn="just"/>
            <a:endParaRPr lang="en-US" dirty="0"/>
          </a:p>
          <a:p>
            <a:pPr algn="just"/>
            <a:endParaRPr lang="en-US" dirty="0" smtClean="0"/>
          </a:p>
          <a:p>
            <a:pPr algn="just"/>
            <a:r>
              <a:rPr lang="en-US" dirty="0" smtClean="0"/>
              <a:t>The dataset is saved as a csv file in the HDFS in Hadoop. A variable </a:t>
            </a:r>
            <a:r>
              <a:rPr lang="en-US" dirty="0" err="1" smtClean="0"/>
              <a:t>data_path</a:t>
            </a:r>
            <a:r>
              <a:rPr lang="en-US" dirty="0" smtClean="0"/>
              <a:t> that represents the path to a CSV file in HDFS. In this case, the file is located at "/</a:t>
            </a:r>
            <a:r>
              <a:rPr lang="en-US" dirty="0" err="1" smtClean="0"/>
              <a:t>SparkInputSpam</a:t>
            </a:r>
            <a:r>
              <a:rPr lang="en-US" dirty="0" smtClean="0"/>
              <a:t>/creditcard_2023.csv".</a:t>
            </a:r>
          </a:p>
          <a:p>
            <a:pPr algn="just"/>
            <a:r>
              <a:rPr lang="en-US" dirty="0" smtClean="0"/>
              <a:t>The spark.read.csv method is used to read data from a CSV file and create a </a:t>
            </a:r>
            <a:r>
              <a:rPr lang="en-US" dirty="0" err="1" smtClean="0"/>
              <a:t>DataFrame</a:t>
            </a:r>
            <a:r>
              <a:rPr lang="en-US" dirty="0" smtClean="0"/>
              <a:t>.</a:t>
            </a:r>
          </a:p>
          <a:p>
            <a:pPr marL="285750" indent="-285750" algn="just">
              <a:buFont typeface="Arial" panose="020B0604020202020204" pitchFamily="34" charset="0"/>
              <a:buChar char="•"/>
            </a:pPr>
            <a:r>
              <a:rPr lang="en-US" dirty="0" err="1" smtClean="0"/>
              <a:t>data_path</a:t>
            </a:r>
            <a:r>
              <a:rPr lang="en-US" dirty="0" smtClean="0"/>
              <a:t>: The first parameter is the path to the CSV file you want to read, which you've specified using the </a:t>
            </a:r>
            <a:r>
              <a:rPr lang="en-US" dirty="0" err="1" smtClean="0"/>
              <a:t>data_path</a:t>
            </a:r>
            <a:r>
              <a:rPr lang="en-US" dirty="0" smtClean="0"/>
              <a:t> variable.</a:t>
            </a:r>
          </a:p>
          <a:p>
            <a:pPr marL="285750" indent="-285750" algn="just">
              <a:buFont typeface="Arial" panose="020B0604020202020204" pitchFamily="34" charset="0"/>
              <a:buChar char="•"/>
            </a:pPr>
            <a:r>
              <a:rPr lang="en-US" dirty="0" smtClean="0"/>
              <a:t>header=True: This indicates that the first row of the CSV file contains the header, which will be used as column names in the </a:t>
            </a:r>
            <a:r>
              <a:rPr lang="en-US" dirty="0" err="1" smtClean="0"/>
              <a:t>DataFrame</a:t>
            </a:r>
            <a:r>
              <a:rPr lang="en-US" dirty="0" smtClean="0"/>
              <a:t>.</a:t>
            </a:r>
          </a:p>
          <a:p>
            <a:pPr marL="285750" indent="-285750" algn="just">
              <a:buFont typeface="Arial" panose="020B0604020202020204" pitchFamily="34" charset="0"/>
              <a:buChar char="•"/>
            </a:pPr>
            <a:r>
              <a:rPr lang="en-US" dirty="0" err="1" smtClean="0"/>
              <a:t>inferSchema</a:t>
            </a:r>
            <a:r>
              <a:rPr lang="en-US" dirty="0" smtClean="0"/>
              <a:t>=True: This option enables Spark to infer the data types of each column in the </a:t>
            </a:r>
            <a:r>
              <a:rPr lang="en-US" dirty="0" err="1" smtClean="0"/>
              <a:t>DataFrame</a:t>
            </a:r>
            <a:r>
              <a:rPr lang="en-US" dirty="0" smtClean="0"/>
              <a:t> based on the content of the CSV file. If set to False, all columns would be treated as strings by default.</a:t>
            </a:r>
            <a:endParaRPr lang="en-US" dirty="0"/>
          </a:p>
        </p:txBody>
      </p:sp>
      <p:pic>
        <p:nvPicPr>
          <p:cNvPr id="4" name="Picture 3"/>
          <p:cNvPicPr>
            <a:picLocks noChangeAspect="1"/>
          </p:cNvPicPr>
          <p:nvPr/>
        </p:nvPicPr>
        <p:blipFill>
          <a:blip r:embed="rId2"/>
          <a:stretch>
            <a:fillRect/>
          </a:stretch>
        </p:blipFill>
        <p:spPr>
          <a:xfrm>
            <a:off x="383426" y="267855"/>
            <a:ext cx="4344527" cy="914638"/>
          </a:xfrm>
          <a:prstGeom prst="rect">
            <a:avLst/>
          </a:prstGeom>
        </p:spPr>
      </p:pic>
      <p:pic>
        <p:nvPicPr>
          <p:cNvPr id="5" name="Picture 4"/>
          <p:cNvPicPr>
            <a:picLocks noChangeAspect="1"/>
          </p:cNvPicPr>
          <p:nvPr/>
        </p:nvPicPr>
        <p:blipFill>
          <a:blip r:embed="rId3"/>
          <a:stretch>
            <a:fillRect/>
          </a:stretch>
        </p:blipFill>
        <p:spPr>
          <a:xfrm>
            <a:off x="383426" y="2848212"/>
            <a:ext cx="8562454" cy="588867"/>
          </a:xfrm>
          <a:prstGeom prst="rect">
            <a:avLst/>
          </a:prstGeom>
        </p:spPr>
      </p:pic>
    </p:spTree>
    <p:extLst>
      <p:ext uri="{BB962C8B-B14F-4D97-AF65-F5344CB8AC3E}">
        <p14:creationId xmlns:p14="http://schemas.microsoft.com/office/powerpoint/2010/main" val="557502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720" y="1325880"/>
            <a:ext cx="11231880" cy="2585323"/>
          </a:xfrm>
          <a:prstGeom prst="rect">
            <a:avLst/>
          </a:prstGeom>
          <a:noFill/>
        </p:spPr>
        <p:txBody>
          <a:bodyPr wrap="square" rtlCol="0">
            <a:spAutoFit/>
          </a:bodyPr>
          <a:lstStyle/>
          <a:p>
            <a:pPr algn="just"/>
            <a:r>
              <a:rPr lang="en-US" dirty="0" smtClean="0"/>
              <a:t>In the code other features can also be used based on the dataset.</a:t>
            </a:r>
          </a:p>
          <a:p>
            <a:pPr marL="285750" indent="-285750" algn="just">
              <a:buFont typeface="Arial" panose="020B0604020202020204" pitchFamily="34" charset="0"/>
              <a:buChar char="•"/>
            </a:pPr>
            <a:r>
              <a:rPr lang="en-US" b="1" dirty="0" err="1" smtClean="0"/>
              <a:t>StringIndexer</a:t>
            </a:r>
            <a:r>
              <a:rPr lang="en-US" dirty="0" smtClean="0"/>
              <a:t> is used for indexing categorical columns, i.e., converting categorical values into numerical indices. This is often necessary because many machine learning algorithms require numerical input.</a:t>
            </a:r>
          </a:p>
          <a:p>
            <a:pPr marL="285750" indent="-285750" algn="just">
              <a:buFont typeface="Arial" panose="020B0604020202020204" pitchFamily="34" charset="0"/>
              <a:buChar char="•"/>
            </a:pPr>
            <a:r>
              <a:rPr lang="en-US" b="1" dirty="0" err="1" smtClean="0"/>
              <a:t>VectorIndexer</a:t>
            </a:r>
            <a:r>
              <a:rPr lang="en-US" dirty="0" smtClean="0"/>
              <a:t> is used for automatically identifying categorical features in a feature vector and indexing them. It is especially useful when you have a feature vector with both categorical and numerical features.</a:t>
            </a:r>
          </a:p>
          <a:p>
            <a:pPr marL="285750" indent="-285750" algn="just">
              <a:buFont typeface="Arial" panose="020B0604020202020204" pitchFamily="34" charset="0"/>
              <a:buChar char="•"/>
            </a:pPr>
            <a:r>
              <a:rPr lang="en-US" dirty="0" smtClean="0"/>
              <a:t>A </a:t>
            </a:r>
            <a:r>
              <a:rPr lang="en-US" b="1" dirty="0" smtClean="0"/>
              <a:t>Pipeline</a:t>
            </a:r>
            <a:r>
              <a:rPr lang="en-US" dirty="0" smtClean="0"/>
              <a:t> is used to chain multiple stages of machine learning transformations and algorithms together. It helps streamline the process of building, training, and deploying machine learning workflows.</a:t>
            </a:r>
          </a:p>
          <a:p>
            <a:pPr marL="285750" indent="-285750" algn="just">
              <a:buFont typeface="Arial" panose="020B0604020202020204" pitchFamily="34" charset="0"/>
              <a:buChar char="•"/>
            </a:pPr>
            <a:endParaRPr lang="en-US" dirty="0"/>
          </a:p>
          <a:p>
            <a:pPr algn="just"/>
            <a:endParaRPr lang="en-US" dirty="0"/>
          </a:p>
        </p:txBody>
      </p:sp>
    </p:spTree>
    <p:extLst>
      <p:ext uri="{BB962C8B-B14F-4D97-AF65-F5344CB8AC3E}">
        <p14:creationId xmlns:p14="http://schemas.microsoft.com/office/powerpoint/2010/main" val="3319825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5632311"/>
          </a:xfrm>
          <a:prstGeom prst="rect">
            <a:avLst/>
          </a:prstGeom>
          <a:noFill/>
        </p:spPr>
        <p:txBody>
          <a:bodyPr wrap="square" rtlCol="0">
            <a:spAutoFit/>
          </a:bodyPr>
          <a:lstStyle/>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r>
              <a:rPr lang="en-US" dirty="0" err="1" smtClean="0"/>
              <a:t>VectorAssembler</a:t>
            </a:r>
            <a:r>
              <a:rPr lang="en-US" dirty="0" smtClean="0"/>
              <a:t> is used to assemble multiple columns into a vector. Here the various columns from “V1“ to “V28” along with “amount” will be transformed into a single vector named “features”. And all this is done using the transform() method. The result is a </a:t>
            </a:r>
            <a:r>
              <a:rPr lang="en-US" dirty="0" err="1" smtClean="0"/>
              <a:t>dataframe</a:t>
            </a:r>
            <a:r>
              <a:rPr lang="en-US" dirty="0" smtClean="0"/>
              <a:t> named as “dataset”  and will be given as an input to the machine learning algorithm.</a:t>
            </a:r>
          </a:p>
          <a:p>
            <a:pPr algn="just"/>
            <a:endParaRPr lang="en-US" dirty="0"/>
          </a:p>
          <a:p>
            <a:pPr algn="just"/>
            <a:endParaRPr lang="en-US" dirty="0" smtClean="0"/>
          </a:p>
          <a:p>
            <a:pPr algn="just"/>
            <a:endParaRPr lang="en-US" dirty="0"/>
          </a:p>
          <a:p>
            <a:pPr algn="just"/>
            <a:endParaRPr lang="en-US" dirty="0" smtClean="0"/>
          </a:p>
          <a:p>
            <a:pPr algn="just"/>
            <a:endParaRPr lang="en-US" dirty="0" smtClean="0"/>
          </a:p>
          <a:p>
            <a:pPr algn="just"/>
            <a:endParaRPr lang="en-US" dirty="0"/>
          </a:p>
          <a:p>
            <a:pPr algn="just"/>
            <a:endParaRPr lang="en-US" dirty="0" smtClean="0"/>
          </a:p>
          <a:p>
            <a:pPr algn="just"/>
            <a:r>
              <a:rPr lang="en-US" dirty="0" smtClean="0"/>
              <a:t>The dataset will be divided into </a:t>
            </a:r>
            <a:r>
              <a:rPr lang="en-US" dirty="0" err="1" smtClean="0"/>
              <a:t>trainingData</a:t>
            </a:r>
            <a:r>
              <a:rPr lang="en-US" dirty="0" smtClean="0"/>
              <a:t> and </a:t>
            </a:r>
            <a:r>
              <a:rPr lang="en-US" dirty="0" err="1" smtClean="0"/>
              <a:t>testData</a:t>
            </a:r>
            <a:r>
              <a:rPr lang="en-US" dirty="0" smtClean="0"/>
              <a:t> using a </a:t>
            </a:r>
            <a:r>
              <a:rPr lang="en-US" dirty="0" err="1" smtClean="0"/>
              <a:t>randomSplit</a:t>
            </a:r>
            <a:r>
              <a:rPr lang="en-US" dirty="0" smtClean="0"/>
              <a:t>() method based on the weights given. 70% randomly from the whole dataset would be given to training and other 30% would be given to test.</a:t>
            </a:r>
          </a:p>
          <a:p>
            <a:pPr algn="just"/>
            <a:endParaRPr lang="en-US" dirty="0"/>
          </a:p>
        </p:txBody>
      </p:sp>
      <p:pic>
        <p:nvPicPr>
          <p:cNvPr id="3" name="Picture 2"/>
          <p:cNvPicPr>
            <a:picLocks noChangeAspect="1"/>
          </p:cNvPicPr>
          <p:nvPr/>
        </p:nvPicPr>
        <p:blipFill>
          <a:blip r:embed="rId2"/>
          <a:stretch>
            <a:fillRect/>
          </a:stretch>
        </p:blipFill>
        <p:spPr>
          <a:xfrm>
            <a:off x="304800" y="332631"/>
            <a:ext cx="7559040" cy="991138"/>
          </a:xfrm>
          <a:prstGeom prst="rect">
            <a:avLst/>
          </a:prstGeom>
        </p:spPr>
      </p:pic>
      <p:pic>
        <p:nvPicPr>
          <p:cNvPr id="4" name="Picture 3"/>
          <p:cNvPicPr>
            <a:picLocks noChangeAspect="1"/>
          </p:cNvPicPr>
          <p:nvPr/>
        </p:nvPicPr>
        <p:blipFill>
          <a:blip r:embed="rId3"/>
          <a:stretch>
            <a:fillRect/>
          </a:stretch>
        </p:blipFill>
        <p:spPr>
          <a:xfrm>
            <a:off x="8107679" y="360482"/>
            <a:ext cx="3535681" cy="963287"/>
          </a:xfrm>
          <a:prstGeom prst="rect">
            <a:avLst/>
          </a:prstGeom>
        </p:spPr>
      </p:pic>
      <p:pic>
        <p:nvPicPr>
          <p:cNvPr id="5" name="Picture 4"/>
          <p:cNvPicPr>
            <a:picLocks noChangeAspect="1"/>
          </p:cNvPicPr>
          <p:nvPr/>
        </p:nvPicPr>
        <p:blipFill>
          <a:blip r:embed="rId4"/>
          <a:stretch>
            <a:fillRect/>
          </a:stretch>
        </p:blipFill>
        <p:spPr>
          <a:xfrm>
            <a:off x="304800" y="1394483"/>
            <a:ext cx="5160750" cy="685813"/>
          </a:xfrm>
          <a:prstGeom prst="rect">
            <a:avLst/>
          </a:prstGeom>
        </p:spPr>
      </p:pic>
      <p:pic>
        <p:nvPicPr>
          <p:cNvPr id="6" name="Picture 5"/>
          <p:cNvPicPr>
            <a:picLocks noChangeAspect="1"/>
          </p:cNvPicPr>
          <p:nvPr/>
        </p:nvPicPr>
        <p:blipFill>
          <a:blip r:embed="rId5"/>
          <a:stretch>
            <a:fillRect/>
          </a:stretch>
        </p:blipFill>
        <p:spPr>
          <a:xfrm>
            <a:off x="304800" y="4457694"/>
            <a:ext cx="10600004" cy="373386"/>
          </a:xfrm>
          <a:prstGeom prst="rect">
            <a:avLst/>
          </a:prstGeom>
        </p:spPr>
      </p:pic>
    </p:spTree>
    <p:extLst>
      <p:ext uri="{BB962C8B-B14F-4D97-AF65-F5344CB8AC3E}">
        <p14:creationId xmlns:p14="http://schemas.microsoft.com/office/powerpoint/2010/main" val="2953958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6186309"/>
          </a:xfrm>
          <a:prstGeom prst="rect">
            <a:avLst/>
          </a:prstGeom>
          <a:noFill/>
        </p:spPr>
        <p:txBody>
          <a:bodyPr wrap="square" rtlCol="0">
            <a:spAutoFit/>
          </a:bodyPr>
          <a:lstStyle/>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r>
              <a:rPr lang="en-US" dirty="0" smtClean="0"/>
              <a:t>The </a:t>
            </a:r>
            <a:r>
              <a:rPr lang="en-US" dirty="0" err="1" smtClean="0"/>
              <a:t>DecisionTreeClassifier</a:t>
            </a:r>
            <a:r>
              <a:rPr lang="en-US" dirty="0" smtClean="0"/>
              <a:t> is a pipeline which is imported from pyspark.ml library and is being implemented here for Decision Tree algorithm. </a:t>
            </a:r>
          </a:p>
          <a:p>
            <a:pPr marL="285750" indent="-285750" algn="just">
              <a:buFont typeface="Arial" panose="020B0604020202020204" pitchFamily="34" charset="0"/>
              <a:buChar char="•"/>
            </a:pPr>
            <a:r>
              <a:rPr lang="en-US" dirty="0" err="1" smtClean="0"/>
              <a:t>DecisionTreeClassifier</a:t>
            </a:r>
            <a:r>
              <a:rPr lang="en-US" dirty="0" smtClean="0"/>
              <a:t> is a machine learning algorithm for classification. It is used to build a decision tree model based on the provided labeled data.</a:t>
            </a:r>
          </a:p>
          <a:p>
            <a:pPr marL="285750" indent="-285750" algn="just">
              <a:buFont typeface="Arial" panose="020B0604020202020204" pitchFamily="34" charset="0"/>
              <a:buChar char="•"/>
            </a:pPr>
            <a:r>
              <a:rPr lang="en-US" dirty="0" err="1" smtClean="0"/>
              <a:t>labelCol</a:t>
            </a:r>
            <a:r>
              <a:rPr lang="en-US" dirty="0" smtClean="0"/>
              <a:t>="Class": Specifies the name of the column in the </a:t>
            </a:r>
            <a:r>
              <a:rPr lang="en-US" dirty="0" err="1" smtClean="0"/>
              <a:t>DataFrame</a:t>
            </a:r>
            <a:r>
              <a:rPr lang="en-US" dirty="0" smtClean="0"/>
              <a:t> (</a:t>
            </a:r>
            <a:r>
              <a:rPr lang="en-US" dirty="0" err="1" smtClean="0"/>
              <a:t>trainingData</a:t>
            </a:r>
            <a:r>
              <a:rPr lang="en-US" dirty="0" smtClean="0"/>
              <a:t> and </a:t>
            </a:r>
            <a:r>
              <a:rPr lang="en-US" dirty="0" err="1" smtClean="0"/>
              <a:t>testData</a:t>
            </a:r>
            <a:r>
              <a:rPr lang="en-US" dirty="0" smtClean="0"/>
              <a:t>) that contains the labels or classes (i.e., the target variable). In this case, it's assumed that "Class" is the column containing the target labels.</a:t>
            </a:r>
          </a:p>
          <a:p>
            <a:pPr marL="285750" indent="-285750" algn="just">
              <a:buFont typeface="Arial" panose="020B0604020202020204" pitchFamily="34" charset="0"/>
              <a:buChar char="•"/>
            </a:pPr>
            <a:r>
              <a:rPr lang="en-US" dirty="0" err="1" smtClean="0"/>
              <a:t>featuresCol</a:t>
            </a:r>
            <a:r>
              <a:rPr lang="en-US" dirty="0" smtClean="0"/>
              <a:t>="features": Specifies the name of the column in the </a:t>
            </a:r>
            <a:r>
              <a:rPr lang="en-US" dirty="0" err="1" smtClean="0"/>
              <a:t>DataFrame</a:t>
            </a:r>
            <a:r>
              <a:rPr lang="en-US" dirty="0" smtClean="0"/>
              <a:t> that contains the feature vectors. This should match the output column name from the </a:t>
            </a:r>
            <a:r>
              <a:rPr lang="en-US" dirty="0" err="1" smtClean="0"/>
              <a:t>VectorAssembler</a:t>
            </a:r>
            <a:r>
              <a:rPr lang="en-US" dirty="0" smtClean="0"/>
              <a:t> step in our pipeline.</a:t>
            </a:r>
          </a:p>
          <a:p>
            <a:pPr marL="285750" indent="-285750" algn="just">
              <a:buFont typeface="Arial" panose="020B0604020202020204" pitchFamily="34" charset="0"/>
              <a:buChar char="•"/>
            </a:pPr>
            <a:endParaRPr lang="en-US" dirty="0"/>
          </a:p>
          <a:p>
            <a:pPr algn="just"/>
            <a:endParaRPr lang="en-US" dirty="0" smtClean="0"/>
          </a:p>
          <a:p>
            <a:pPr algn="just"/>
            <a:r>
              <a:rPr lang="en-US" dirty="0" smtClean="0"/>
              <a:t>Fitting in the model</a:t>
            </a:r>
          </a:p>
          <a:p>
            <a:pPr marL="285750" indent="-285750" algn="just">
              <a:buFont typeface="Arial" panose="020B0604020202020204" pitchFamily="34" charset="0"/>
              <a:buChar char="•"/>
            </a:pPr>
            <a:r>
              <a:rPr lang="en-US" dirty="0" smtClean="0"/>
              <a:t>The fit method is called on the </a:t>
            </a:r>
            <a:r>
              <a:rPr lang="en-US" dirty="0" err="1" smtClean="0"/>
              <a:t>DecisionTreeClassifier</a:t>
            </a:r>
            <a:r>
              <a:rPr lang="en-US" dirty="0" smtClean="0"/>
              <a:t> instance (</a:t>
            </a:r>
            <a:r>
              <a:rPr lang="en-US" dirty="0" err="1" smtClean="0"/>
              <a:t>dtree</a:t>
            </a:r>
            <a:r>
              <a:rPr lang="en-US" dirty="0" smtClean="0"/>
              <a:t>) with the training dataset (</a:t>
            </a:r>
            <a:r>
              <a:rPr lang="en-US" dirty="0" err="1" smtClean="0"/>
              <a:t>trainingData</a:t>
            </a:r>
            <a:r>
              <a:rPr lang="en-US" dirty="0" smtClean="0"/>
              <a:t>) as its argument.</a:t>
            </a:r>
          </a:p>
          <a:p>
            <a:pPr marL="285750" indent="-285750" algn="just">
              <a:buFont typeface="Arial" panose="020B0604020202020204" pitchFamily="34" charset="0"/>
              <a:buChar char="•"/>
            </a:pPr>
            <a:r>
              <a:rPr lang="en-US" dirty="0" smtClean="0"/>
              <a:t>The fit method trains the Decision Tree model on the labeled training data and returns a fitted model (model). The model now contains the learned patterns from the training data.</a:t>
            </a:r>
            <a:endParaRPr lang="en-US" dirty="0"/>
          </a:p>
        </p:txBody>
      </p:sp>
      <p:pic>
        <p:nvPicPr>
          <p:cNvPr id="3" name="Picture 2"/>
          <p:cNvPicPr>
            <a:picLocks noChangeAspect="1"/>
          </p:cNvPicPr>
          <p:nvPr/>
        </p:nvPicPr>
        <p:blipFill>
          <a:blip r:embed="rId2"/>
          <a:stretch>
            <a:fillRect/>
          </a:stretch>
        </p:blipFill>
        <p:spPr>
          <a:xfrm>
            <a:off x="311919" y="267854"/>
            <a:ext cx="9292037" cy="509386"/>
          </a:xfrm>
          <a:prstGeom prst="rect">
            <a:avLst/>
          </a:prstGeom>
        </p:spPr>
      </p:pic>
      <p:pic>
        <p:nvPicPr>
          <p:cNvPr id="4" name="Picture 3"/>
          <p:cNvPicPr>
            <a:picLocks noChangeAspect="1"/>
          </p:cNvPicPr>
          <p:nvPr/>
        </p:nvPicPr>
        <p:blipFill>
          <a:blip r:embed="rId3"/>
          <a:stretch>
            <a:fillRect/>
          </a:stretch>
        </p:blipFill>
        <p:spPr>
          <a:xfrm>
            <a:off x="304800" y="777240"/>
            <a:ext cx="6111240" cy="540068"/>
          </a:xfrm>
          <a:prstGeom prst="rect">
            <a:avLst/>
          </a:prstGeom>
        </p:spPr>
      </p:pic>
      <p:pic>
        <p:nvPicPr>
          <p:cNvPr id="5" name="Picture 4"/>
          <p:cNvPicPr>
            <a:picLocks noChangeAspect="1"/>
          </p:cNvPicPr>
          <p:nvPr/>
        </p:nvPicPr>
        <p:blipFill>
          <a:blip r:embed="rId4"/>
          <a:stretch>
            <a:fillRect/>
          </a:stretch>
        </p:blipFill>
        <p:spPr>
          <a:xfrm>
            <a:off x="304800" y="1286625"/>
            <a:ext cx="7482840" cy="426720"/>
          </a:xfrm>
          <a:prstGeom prst="rect">
            <a:avLst/>
          </a:prstGeom>
        </p:spPr>
      </p:pic>
    </p:spTree>
    <p:extLst>
      <p:ext uri="{BB962C8B-B14F-4D97-AF65-F5344CB8AC3E}">
        <p14:creationId xmlns:p14="http://schemas.microsoft.com/office/powerpoint/2010/main" val="11603241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1754326"/>
          </a:xfrm>
          <a:prstGeom prst="rect">
            <a:avLst/>
          </a:prstGeom>
          <a:noFill/>
        </p:spPr>
        <p:txBody>
          <a:bodyPr wrap="square" rtlCol="0">
            <a:spAutoFit/>
          </a:bodyPr>
          <a:lstStyle/>
          <a:p>
            <a:pPr algn="just"/>
            <a:r>
              <a:rPr lang="en-US" dirty="0" smtClean="0"/>
              <a:t>Make predictions</a:t>
            </a:r>
          </a:p>
          <a:p>
            <a:pPr marL="285750" indent="-285750" algn="just">
              <a:buFont typeface="Arial" panose="020B0604020202020204" pitchFamily="34" charset="0"/>
              <a:buChar char="•"/>
            </a:pPr>
            <a:r>
              <a:rPr lang="en-US" dirty="0" smtClean="0"/>
              <a:t>The transform method is called on the fitted model (model) with the testing dataset (</a:t>
            </a:r>
            <a:r>
              <a:rPr lang="en-US" dirty="0" err="1" smtClean="0"/>
              <a:t>testData</a:t>
            </a:r>
            <a:r>
              <a:rPr lang="en-US" dirty="0" smtClean="0"/>
              <a:t>) as its argument.</a:t>
            </a:r>
          </a:p>
          <a:p>
            <a:pPr marL="285750" indent="-285750" algn="just">
              <a:buFont typeface="Arial" panose="020B0604020202020204" pitchFamily="34" charset="0"/>
              <a:buChar char="•"/>
            </a:pPr>
            <a:r>
              <a:rPr lang="en-US" dirty="0" smtClean="0"/>
              <a:t>The transform method applies the trained model to the testing data, making predictions on the target variable ("Class"). The result is a </a:t>
            </a:r>
            <a:r>
              <a:rPr lang="en-US" dirty="0" err="1" smtClean="0"/>
              <a:t>DataFrame</a:t>
            </a:r>
            <a:r>
              <a:rPr lang="en-US" dirty="0" smtClean="0"/>
              <a:t> (predictions) that includes the original columns along with additional columns containing predicted labels and probabilities.</a:t>
            </a:r>
          </a:p>
          <a:p>
            <a:pPr algn="just"/>
            <a:endParaRPr lang="en-US" dirty="0"/>
          </a:p>
        </p:txBody>
      </p:sp>
    </p:spTree>
    <p:extLst>
      <p:ext uri="{BB962C8B-B14F-4D97-AF65-F5344CB8AC3E}">
        <p14:creationId xmlns:p14="http://schemas.microsoft.com/office/powerpoint/2010/main" val="451687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3970318"/>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err="1" smtClean="0"/>
              <a:t>BinaryClassificationEvaluator</a:t>
            </a:r>
            <a:r>
              <a:rPr lang="en-US" dirty="0" smtClean="0"/>
              <a:t> is an evaluator for binary classification models. It is used to evaluate the performance of models that predict binary outcomes (e.g., 0 or 1).</a:t>
            </a:r>
          </a:p>
          <a:p>
            <a:pPr marL="285750" indent="-285750" algn="just">
              <a:buFont typeface="Arial" panose="020B0604020202020204" pitchFamily="34" charset="0"/>
              <a:buChar char="•"/>
            </a:pPr>
            <a:r>
              <a:rPr lang="en-US" dirty="0" err="1" smtClean="0"/>
              <a:t>rawPredictionCol</a:t>
            </a:r>
            <a:r>
              <a:rPr lang="en-US" dirty="0" smtClean="0"/>
              <a:t>="</a:t>
            </a:r>
            <a:r>
              <a:rPr lang="en-US" dirty="0" err="1" smtClean="0"/>
              <a:t>rawPrediction</a:t>
            </a:r>
            <a:r>
              <a:rPr lang="en-US" dirty="0" smtClean="0"/>
              <a:t>": Specifies the name of the column in the </a:t>
            </a:r>
            <a:r>
              <a:rPr lang="en-US" dirty="0" err="1" smtClean="0"/>
              <a:t>DataFrame</a:t>
            </a:r>
            <a:r>
              <a:rPr lang="en-US" dirty="0" smtClean="0"/>
              <a:t> containing the raw predictions (scores) produced by the model. The raw predictions are often the output of a binary classification algorithm before applying a threshold to determine the final predicted class.</a:t>
            </a:r>
          </a:p>
          <a:p>
            <a:pPr marL="285750" indent="-285750" algn="just">
              <a:buFont typeface="Arial" panose="020B0604020202020204" pitchFamily="34" charset="0"/>
              <a:buChar char="•"/>
            </a:pPr>
            <a:r>
              <a:rPr lang="en-US" dirty="0" err="1" smtClean="0"/>
              <a:t>labelCol</a:t>
            </a:r>
            <a:r>
              <a:rPr lang="en-US" dirty="0" smtClean="0"/>
              <a:t>="Class": Specifies the name of the column in the </a:t>
            </a:r>
            <a:r>
              <a:rPr lang="en-US" dirty="0" err="1" smtClean="0"/>
              <a:t>DataFrame</a:t>
            </a:r>
            <a:r>
              <a:rPr lang="en-US" dirty="0" smtClean="0"/>
              <a:t> that contains the true labels or classes. In this case, it's assumed that "Class" is the column containing the true binary labels.</a:t>
            </a:r>
          </a:p>
          <a:p>
            <a:pPr marL="285750" indent="-285750" algn="just">
              <a:buFont typeface="Arial" panose="020B0604020202020204" pitchFamily="34" charset="0"/>
              <a:buChar char="•"/>
            </a:pPr>
            <a:r>
              <a:rPr lang="en-US" dirty="0" err="1" smtClean="0"/>
              <a:t>metricName</a:t>
            </a:r>
            <a:r>
              <a:rPr lang="en-US" dirty="0" smtClean="0"/>
              <a:t>="</a:t>
            </a:r>
            <a:r>
              <a:rPr lang="en-US" dirty="0" err="1" smtClean="0"/>
              <a:t>areaUnderROC</a:t>
            </a:r>
            <a:r>
              <a:rPr lang="en-US" dirty="0" smtClean="0"/>
              <a:t>": Specifies the evaluation metric to be computed. In this case, it's the area under the ROC curve (AUC-ROC). The ROC curve is a graphical representation of the trade-off between true positive rate (sensitivity) and false positive rate (1 - specificity), and AUC-ROC provides a scalar value summarizing the overall performance.</a:t>
            </a:r>
            <a:endParaRPr lang="en-US" dirty="0"/>
          </a:p>
        </p:txBody>
      </p:sp>
      <p:pic>
        <p:nvPicPr>
          <p:cNvPr id="4" name="Picture 3"/>
          <p:cNvPicPr>
            <a:picLocks noChangeAspect="1"/>
          </p:cNvPicPr>
          <p:nvPr/>
        </p:nvPicPr>
        <p:blipFill>
          <a:blip r:embed="rId2"/>
          <a:stretch>
            <a:fillRect/>
          </a:stretch>
        </p:blipFill>
        <p:spPr>
          <a:xfrm>
            <a:off x="304799" y="533393"/>
            <a:ext cx="11308081" cy="381007"/>
          </a:xfrm>
          <a:prstGeom prst="rect">
            <a:avLst/>
          </a:prstGeom>
        </p:spPr>
      </p:pic>
    </p:spTree>
    <p:extLst>
      <p:ext uri="{BB962C8B-B14F-4D97-AF65-F5344CB8AC3E}">
        <p14:creationId xmlns:p14="http://schemas.microsoft.com/office/powerpoint/2010/main" val="30667669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67855"/>
            <a:ext cx="11582400" cy="4801314"/>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err="1" smtClean="0"/>
              <a:t>MulticlassClassificationEvaluator</a:t>
            </a:r>
            <a:r>
              <a:rPr lang="en-US" dirty="0" smtClean="0"/>
              <a:t> is an evaluator for multiclass classification models. It is used to evaluate the performance of models that predict multiple classes.</a:t>
            </a:r>
          </a:p>
          <a:p>
            <a:pPr marL="285750" indent="-285750" algn="just">
              <a:buFont typeface="Arial" panose="020B0604020202020204" pitchFamily="34" charset="0"/>
              <a:buChar char="•"/>
            </a:pPr>
            <a:r>
              <a:rPr lang="en-US" dirty="0" err="1" smtClean="0"/>
              <a:t>labelCol</a:t>
            </a:r>
            <a:r>
              <a:rPr lang="en-US" dirty="0" smtClean="0"/>
              <a:t>="Class": Specifies the name of the column in the </a:t>
            </a:r>
            <a:r>
              <a:rPr lang="en-US" dirty="0" err="1" smtClean="0"/>
              <a:t>DataFrame</a:t>
            </a:r>
            <a:r>
              <a:rPr lang="en-US" dirty="0" smtClean="0"/>
              <a:t> that contains the true class labels.</a:t>
            </a:r>
          </a:p>
          <a:p>
            <a:pPr marL="285750" indent="-285750" algn="just">
              <a:buFont typeface="Arial" panose="020B0604020202020204" pitchFamily="34" charset="0"/>
              <a:buChar char="•"/>
            </a:pPr>
            <a:r>
              <a:rPr lang="en-US" dirty="0" err="1" smtClean="0"/>
              <a:t>predictionCol</a:t>
            </a:r>
            <a:r>
              <a:rPr lang="en-US" dirty="0" smtClean="0"/>
              <a:t>="prediction": Specifies the name of the column in the </a:t>
            </a:r>
            <a:r>
              <a:rPr lang="en-US" dirty="0" err="1" smtClean="0"/>
              <a:t>DataFrame</a:t>
            </a:r>
            <a:r>
              <a:rPr lang="en-US" dirty="0" smtClean="0"/>
              <a:t> that contains the predicted class labels. This is typically generated by the multiclass classification model.</a:t>
            </a:r>
          </a:p>
          <a:p>
            <a:pPr marL="285750" indent="-285750" algn="just">
              <a:buFont typeface="Arial" panose="020B0604020202020204" pitchFamily="34" charset="0"/>
              <a:buChar char="•"/>
            </a:pPr>
            <a:r>
              <a:rPr lang="en-US" dirty="0" err="1" smtClean="0"/>
              <a:t>metricName</a:t>
            </a:r>
            <a:r>
              <a:rPr lang="en-US" dirty="0" smtClean="0"/>
              <a:t>: Specifies the evaluation metric to be computed. The examples provided include:</a:t>
            </a:r>
          </a:p>
          <a:p>
            <a:pPr marL="742950" lvl="1" indent="-285750" algn="just">
              <a:buFont typeface="Arial" panose="020B0604020202020204" pitchFamily="34" charset="0"/>
              <a:buChar char="•"/>
            </a:pPr>
            <a:r>
              <a:rPr lang="en-US" dirty="0" smtClean="0"/>
              <a:t>"accuracy": Measures the accuracy of the model.</a:t>
            </a:r>
          </a:p>
          <a:p>
            <a:pPr marL="742950" lvl="1" indent="-285750" algn="just">
              <a:buFont typeface="Arial" panose="020B0604020202020204" pitchFamily="34" charset="0"/>
              <a:buChar char="•"/>
            </a:pPr>
            <a:r>
              <a:rPr lang="en-US" dirty="0" smtClean="0"/>
              <a:t>"</a:t>
            </a:r>
            <a:r>
              <a:rPr lang="en-US" dirty="0" err="1" smtClean="0"/>
              <a:t>weightedPrecision</a:t>
            </a:r>
            <a:r>
              <a:rPr lang="en-US" dirty="0" smtClean="0"/>
              <a:t>": Measures the weighted precision of the model, which considers the imbalance in class frequencies.</a:t>
            </a:r>
          </a:p>
          <a:p>
            <a:pPr marL="742950" lvl="1" indent="-285750" algn="just">
              <a:buFont typeface="Arial" panose="020B0604020202020204" pitchFamily="34" charset="0"/>
              <a:buChar char="•"/>
            </a:pPr>
            <a:r>
              <a:rPr lang="en-US" dirty="0" smtClean="0"/>
              <a:t>"</a:t>
            </a:r>
            <a:r>
              <a:rPr lang="en-US" dirty="0" err="1" smtClean="0"/>
              <a:t>weightedRecall</a:t>
            </a:r>
            <a:r>
              <a:rPr lang="en-US" dirty="0" smtClean="0"/>
              <a:t>": Measures the weighted recall of the model, which considers the imbalance in class frequencies.</a:t>
            </a:r>
          </a:p>
          <a:p>
            <a:pPr marL="742950" lvl="1" indent="-285750" algn="just">
              <a:buFont typeface="Arial" panose="020B0604020202020204" pitchFamily="34" charset="0"/>
              <a:buChar char="•"/>
            </a:pPr>
            <a:r>
              <a:rPr lang="en-US" dirty="0" smtClean="0"/>
              <a:t>"f1": Measures the F1 score, which is the harmonic mean of precision and recall.</a:t>
            </a:r>
          </a:p>
        </p:txBody>
      </p:sp>
      <p:pic>
        <p:nvPicPr>
          <p:cNvPr id="4" name="Picture 3"/>
          <p:cNvPicPr>
            <a:picLocks noChangeAspect="1"/>
          </p:cNvPicPr>
          <p:nvPr/>
        </p:nvPicPr>
        <p:blipFill>
          <a:blip r:embed="rId2"/>
          <a:stretch>
            <a:fillRect/>
          </a:stretch>
        </p:blipFill>
        <p:spPr>
          <a:xfrm>
            <a:off x="304800" y="267855"/>
            <a:ext cx="11363945" cy="1530466"/>
          </a:xfrm>
          <a:prstGeom prst="rect">
            <a:avLst/>
          </a:prstGeom>
        </p:spPr>
      </p:pic>
    </p:spTree>
    <p:extLst>
      <p:ext uri="{BB962C8B-B14F-4D97-AF65-F5344CB8AC3E}">
        <p14:creationId xmlns:p14="http://schemas.microsoft.com/office/powerpoint/2010/main" val="2598165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08436" y="267855"/>
            <a:ext cx="5578764" cy="5355312"/>
          </a:xfrm>
          <a:prstGeom prst="rect">
            <a:avLst/>
          </a:prstGeom>
          <a:noFill/>
        </p:spPr>
        <p:txBody>
          <a:bodyPr wrap="square" rtlCol="0">
            <a:spAutoFit/>
          </a:bodyPr>
          <a:lstStyle/>
          <a:p>
            <a:pPr algn="just"/>
            <a:r>
              <a:rPr lang="en-US" dirty="0" smtClean="0"/>
              <a:t>This code allows you to assess the performance of your classification models using various metrics. Each printed line shows the corresponding evaluation metric for the specified aspect of the model's performance. It is a common practice to use multiple metrics to gain a comprehensive understanding of how well a model is performing on different aspects of classification.</a:t>
            </a:r>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r>
              <a:rPr lang="en-US" dirty="0" smtClean="0"/>
              <a:t>The </a:t>
            </a:r>
            <a:r>
              <a:rPr lang="en-US" dirty="0" err="1" smtClean="0"/>
              <a:t>spark.stop</a:t>
            </a:r>
            <a:r>
              <a:rPr lang="en-US" dirty="0" smtClean="0"/>
              <a:t>() method is used to stop the </a:t>
            </a:r>
            <a:r>
              <a:rPr lang="en-US" dirty="0" err="1" smtClean="0"/>
              <a:t>SparkSession</a:t>
            </a:r>
            <a:r>
              <a:rPr lang="en-US" dirty="0" smtClean="0"/>
              <a:t> and release associated resources.</a:t>
            </a:r>
          </a:p>
          <a:p>
            <a:pPr algn="just"/>
            <a:endParaRPr lang="en-US" dirty="0" smtClean="0"/>
          </a:p>
        </p:txBody>
      </p:sp>
      <p:pic>
        <p:nvPicPr>
          <p:cNvPr id="3" name="Picture 2"/>
          <p:cNvPicPr>
            <a:picLocks noChangeAspect="1"/>
          </p:cNvPicPr>
          <p:nvPr/>
        </p:nvPicPr>
        <p:blipFill>
          <a:blip r:embed="rId2"/>
          <a:stretch>
            <a:fillRect/>
          </a:stretch>
        </p:blipFill>
        <p:spPr>
          <a:xfrm>
            <a:off x="436335" y="267855"/>
            <a:ext cx="5768973" cy="3814618"/>
          </a:xfrm>
          <a:prstGeom prst="rect">
            <a:avLst/>
          </a:prstGeom>
        </p:spPr>
      </p:pic>
      <p:pic>
        <p:nvPicPr>
          <p:cNvPr id="4" name="Picture 3"/>
          <p:cNvPicPr>
            <a:picLocks noChangeAspect="1"/>
          </p:cNvPicPr>
          <p:nvPr/>
        </p:nvPicPr>
        <p:blipFill>
          <a:blip r:embed="rId3"/>
          <a:stretch>
            <a:fillRect/>
          </a:stretch>
        </p:blipFill>
        <p:spPr>
          <a:xfrm>
            <a:off x="436335" y="4690543"/>
            <a:ext cx="1441381" cy="601893"/>
          </a:xfrm>
          <a:prstGeom prst="rect">
            <a:avLst/>
          </a:prstGeom>
        </p:spPr>
      </p:pic>
    </p:spTree>
    <p:extLst>
      <p:ext uri="{BB962C8B-B14F-4D97-AF65-F5344CB8AC3E}">
        <p14:creationId xmlns:p14="http://schemas.microsoft.com/office/powerpoint/2010/main" val="23437009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Logistic regression</a:t>
            </a:r>
            <a:endParaRPr lang="en-US" dirty="0"/>
          </a:p>
        </p:txBody>
      </p:sp>
      <p:sp>
        <p:nvSpPr>
          <p:cNvPr id="3" name="TextBox 2"/>
          <p:cNvSpPr txBox="1"/>
          <p:nvPr/>
        </p:nvSpPr>
        <p:spPr>
          <a:xfrm>
            <a:off x="175491" y="1939636"/>
            <a:ext cx="11822545" cy="2031325"/>
          </a:xfrm>
          <a:prstGeom prst="rect">
            <a:avLst/>
          </a:prstGeom>
          <a:noFill/>
        </p:spPr>
        <p:txBody>
          <a:bodyPr wrap="square" rtlCol="0">
            <a:spAutoFit/>
          </a:bodyPr>
          <a:lstStyle/>
          <a:p>
            <a:pPr algn="just" fontAlgn="base"/>
            <a:r>
              <a:rPr lang="en-US" dirty="0"/>
              <a:t>Logistic regression is a supervised machine learning algorithm mainly used for binary classification where we use a logistic function, also known as a sigmoid function that takes input as independent variables and produces a probability value between 0 and 1. For example, we have two classes Class 0 and Class 1 if the value of the logistic function for an input is greater than 0.5 (threshold value) then it belongs to Class 1 it belongs to Class 0. It’s referred to as regression because it is the extension of linear regression but is mainly used for classification problems. The difference between linear</a:t>
            </a:r>
            <a:r>
              <a:rPr lang="en-US" u="sng" dirty="0"/>
              <a:t> </a:t>
            </a:r>
            <a:r>
              <a:rPr lang="en-US" dirty="0"/>
              <a:t>regression and logistic regression is that linear regression output is the continuous value that can be anything while logistic regression predicts the probability that an instance belongs to a given class or not.</a:t>
            </a:r>
          </a:p>
        </p:txBody>
      </p:sp>
      <p:pic>
        <p:nvPicPr>
          <p:cNvPr id="4" name="Picture 3"/>
          <p:cNvPicPr>
            <a:picLocks noChangeAspect="1"/>
          </p:cNvPicPr>
          <p:nvPr/>
        </p:nvPicPr>
        <p:blipFill>
          <a:blip r:embed="rId2"/>
          <a:stretch>
            <a:fillRect/>
          </a:stretch>
        </p:blipFill>
        <p:spPr>
          <a:xfrm>
            <a:off x="8091055" y="3730815"/>
            <a:ext cx="3676072" cy="2995318"/>
          </a:xfrm>
          <a:prstGeom prst="rect">
            <a:avLst/>
          </a:prstGeom>
        </p:spPr>
      </p:pic>
    </p:spTree>
    <p:extLst>
      <p:ext uri="{BB962C8B-B14F-4D97-AF65-F5344CB8AC3E}">
        <p14:creationId xmlns:p14="http://schemas.microsoft.com/office/powerpoint/2010/main" val="33039371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6472" y="508371"/>
            <a:ext cx="8997340" cy="2825955"/>
          </a:xfrm>
          <a:prstGeom prst="rect">
            <a:avLst/>
          </a:prstGeom>
        </p:spPr>
      </p:pic>
      <p:pic>
        <p:nvPicPr>
          <p:cNvPr id="3" name="Picture 2"/>
          <p:cNvPicPr>
            <a:picLocks noChangeAspect="1"/>
          </p:cNvPicPr>
          <p:nvPr/>
        </p:nvPicPr>
        <p:blipFill>
          <a:blip r:embed="rId3"/>
          <a:stretch>
            <a:fillRect/>
          </a:stretch>
        </p:blipFill>
        <p:spPr>
          <a:xfrm>
            <a:off x="616472" y="3565237"/>
            <a:ext cx="8333564" cy="2996114"/>
          </a:xfrm>
          <a:prstGeom prst="rect">
            <a:avLst/>
          </a:prstGeom>
        </p:spPr>
      </p:pic>
    </p:spTree>
    <p:extLst>
      <p:ext uri="{BB962C8B-B14F-4D97-AF65-F5344CB8AC3E}">
        <p14:creationId xmlns:p14="http://schemas.microsoft.com/office/powerpoint/2010/main" val="19973265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6505" y="610540"/>
            <a:ext cx="9410367" cy="5622002"/>
          </a:xfrm>
          <a:prstGeom prst="rect">
            <a:avLst/>
          </a:prstGeom>
        </p:spPr>
      </p:pic>
    </p:spTree>
    <p:extLst>
      <p:ext uri="{BB962C8B-B14F-4D97-AF65-F5344CB8AC3E}">
        <p14:creationId xmlns:p14="http://schemas.microsoft.com/office/powerpoint/2010/main" val="1439575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4915" y="880091"/>
            <a:ext cx="6174101" cy="4939280"/>
          </a:xfrm>
          <a:prstGeom prst="rect">
            <a:avLst/>
          </a:prstGeom>
        </p:spPr>
      </p:pic>
    </p:spTree>
    <p:extLst>
      <p:ext uri="{BB962C8B-B14F-4D97-AF65-F5344CB8AC3E}">
        <p14:creationId xmlns:p14="http://schemas.microsoft.com/office/powerpoint/2010/main" val="1512401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 vector machine</a:t>
            </a:r>
            <a:endParaRPr lang="en-US" dirty="0"/>
          </a:p>
        </p:txBody>
      </p:sp>
      <p:sp>
        <p:nvSpPr>
          <p:cNvPr id="3" name="TextBox 2"/>
          <p:cNvSpPr txBox="1"/>
          <p:nvPr/>
        </p:nvSpPr>
        <p:spPr>
          <a:xfrm>
            <a:off x="175491" y="1939636"/>
            <a:ext cx="11822545" cy="1754326"/>
          </a:xfrm>
          <a:prstGeom prst="rect">
            <a:avLst/>
          </a:prstGeom>
          <a:noFill/>
        </p:spPr>
        <p:txBody>
          <a:bodyPr wrap="square" rtlCol="0">
            <a:spAutoFit/>
          </a:bodyPr>
          <a:lstStyle/>
          <a:p>
            <a:pPr algn="just" fontAlgn="base"/>
            <a:r>
              <a:rPr lang="en-US" dirty="0"/>
              <a:t>Support Vector Machine (SVM) is a supervised machine learning algorithm used for both classification and regression</a:t>
            </a:r>
            <a:r>
              <a:rPr lang="en-US" dirty="0" smtClean="0"/>
              <a:t>. </a:t>
            </a:r>
            <a:r>
              <a:rPr lang="en-US" dirty="0"/>
              <a:t>The main objective of the SVM algorithm is to find the optimal hyperplane in an N-dimensional space that can separate the data points in different classes in the feature space. The hyperplane tries that the margin between the closest points of different classes should be as maximum as possible. The dimension of the hyperplane depends upon the number of features. If the number of input features is two, then the hyperplane is just a line. If the number of input features is three, then the hyperplane becomes a 2-D plane.</a:t>
            </a:r>
          </a:p>
        </p:txBody>
      </p:sp>
      <p:pic>
        <p:nvPicPr>
          <p:cNvPr id="4" name="Picture 3"/>
          <p:cNvPicPr>
            <a:picLocks noChangeAspect="1"/>
          </p:cNvPicPr>
          <p:nvPr/>
        </p:nvPicPr>
        <p:blipFill>
          <a:blip r:embed="rId2"/>
          <a:stretch>
            <a:fillRect/>
          </a:stretch>
        </p:blipFill>
        <p:spPr>
          <a:xfrm>
            <a:off x="5551053" y="3580048"/>
            <a:ext cx="4904509" cy="2691732"/>
          </a:xfrm>
          <a:prstGeom prst="rect">
            <a:avLst/>
          </a:prstGeom>
        </p:spPr>
      </p:pic>
    </p:spTree>
    <p:extLst>
      <p:ext uri="{BB962C8B-B14F-4D97-AF65-F5344CB8AC3E}">
        <p14:creationId xmlns:p14="http://schemas.microsoft.com/office/powerpoint/2010/main" val="42908375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7140" y="469505"/>
            <a:ext cx="8968678" cy="2670858"/>
          </a:xfrm>
          <a:prstGeom prst="rect">
            <a:avLst/>
          </a:prstGeom>
        </p:spPr>
      </p:pic>
      <p:pic>
        <p:nvPicPr>
          <p:cNvPr id="3" name="Picture 2"/>
          <p:cNvPicPr>
            <a:picLocks noChangeAspect="1"/>
          </p:cNvPicPr>
          <p:nvPr/>
        </p:nvPicPr>
        <p:blipFill>
          <a:blip r:embed="rId3"/>
          <a:stretch>
            <a:fillRect/>
          </a:stretch>
        </p:blipFill>
        <p:spPr>
          <a:xfrm>
            <a:off x="637140" y="3352135"/>
            <a:ext cx="8411708" cy="2679210"/>
          </a:xfrm>
          <a:prstGeom prst="rect">
            <a:avLst/>
          </a:prstGeom>
        </p:spPr>
      </p:pic>
    </p:spTree>
    <p:extLst>
      <p:ext uri="{BB962C8B-B14F-4D97-AF65-F5344CB8AC3E}">
        <p14:creationId xmlns:p14="http://schemas.microsoft.com/office/powerpoint/2010/main" val="2957378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2672" y="623370"/>
            <a:ext cx="10022525" cy="5564993"/>
          </a:xfrm>
          <a:prstGeom prst="rect">
            <a:avLst/>
          </a:prstGeom>
        </p:spPr>
      </p:pic>
    </p:spTree>
    <p:extLst>
      <p:ext uri="{BB962C8B-B14F-4D97-AF65-F5344CB8AC3E}">
        <p14:creationId xmlns:p14="http://schemas.microsoft.com/office/powerpoint/2010/main" val="3466771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9908" y="794328"/>
            <a:ext cx="6310338" cy="5065696"/>
          </a:xfrm>
          <a:prstGeom prst="rect">
            <a:avLst/>
          </a:prstGeom>
        </p:spPr>
      </p:pic>
    </p:spTree>
    <p:extLst>
      <p:ext uri="{BB962C8B-B14F-4D97-AF65-F5344CB8AC3E}">
        <p14:creationId xmlns:p14="http://schemas.microsoft.com/office/powerpoint/2010/main" val="19328346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a:t>
            </a:r>
            <a:endParaRPr lang="en-US" dirty="0"/>
          </a:p>
        </p:txBody>
      </p:sp>
      <p:sp>
        <p:nvSpPr>
          <p:cNvPr id="3" name="TextBox 2"/>
          <p:cNvSpPr txBox="1"/>
          <p:nvPr/>
        </p:nvSpPr>
        <p:spPr>
          <a:xfrm>
            <a:off x="175491" y="1939636"/>
            <a:ext cx="11822545" cy="1754326"/>
          </a:xfrm>
          <a:prstGeom prst="rect">
            <a:avLst/>
          </a:prstGeom>
          <a:noFill/>
        </p:spPr>
        <p:txBody>
          <a:bodyPr wrap="square" rtlCol="0">
            <a:spAutoFit/>
          </a:bodyPr>
          <a:lstStyle/>
          <a:p>
            <a:pPr algn="just" fontAlgn="base"/>
            <a:r>
              <a:rPr lang="en-US" dirty="0"/>
              <a:t>Random Forest is an ensemble learning algorithm that operates by constructing a multitude of decision trees during training and outputs the mode of the classes (classification) or mean prediction (regression) of the individual trees for input instances. It is a powerful and widely used machine learning algorithm known for its high accuracy, versatility, and robustness</a:t>
            </a:r>
            <a:r>
              <a:rPr lang="en-US" dirty="0" smtClean="0"/>
              <a:t>. </a:t>
            </a:r>
            <a:r>
              <a:rPr lang="en-US" dirty="0"/>
              <a:t>Random Forest builds multiple decision trees during the training phase. Each tree is trained on a different subset of the dataset (bootstrap samples), and the features considered for splitting at each node are also randomly selected.</a:t>
            </a:r>
          </a:p>
        </p:txBody>
      </p:sp>
      <p:pic>
        <p:nvPicPr>
          <p:cNvPr id="4" name="Picture 3"/>
          <p:cNvPicPr>
            <a:picLocks noChangeAspect="1"/>
          </p:cNvPicPr>
          <p:nvPr/>
        </p:nvPicPr>
        <p:blipFill>
          <a:blip r:embed="rId2"/>
          <a:stretch>
            <a:fillRect/>
          </a:stretch>
        </p:blipFill>
        <p:spPr>
          <a:xfrm>
            <a:off x="4423064" y="3693962"/>
            <a:ext cx="4336472" cy="2890981"/>
          </a:xfrm>
          <a:prstGeom prst="rect">
            <a:avLst/>
          </a:prstGeom>
        </p:spPr>
      </p:pic>
    </p:spTree>
    <p:extLst>
      <p:ext uri="{BB962C8B-B14F-4D97-AF65-F5344CB8AC3E}">
        <p14:creationId xmlns:p14="http://schemas.microsoft.com/office/powerpoint/2010/main" val="38599402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4077" y="577078"/>
            <a:ext cx="8852690" cy="2433977"/>
          </a:xfrm>
          <a:prstGeom prst="rect">
            <a:avLst/>
          </a:prstGeom>
        </p:spPr>
      </p:pic>
      <p:pic>
        <p:nvPicPr>
          <p:cNvPr id="3" name="Picture 2"/>
          <p:cNvPicPr>
            <a:picLocks noChangeAspect="1"/>
          </p:cNvPicPr>
          <p:nvPr/>
        </p:nvPicPr>
        <p:blipFill>
          <a:blip r:embed="rId3"/>
          <a:stretch>
            <a:fillRect/>
          </a:stretch>
        </p:blipFill>
        <p:spPr>
          <a:xfrm>
            <a:off x="724077" y="3342898"/>
            <a:ext cx="8707055" cy="2790048"/>
          </a:xfrm>
          <a:prstGeom prst="rect">
            <a:avLst/>
          </a:prstGeom>
        </p:spPr>
      </p:pic>
    </p:spTree>
    <p:extLst>
      <p:ext uri="{BB962C8B-B14F-4D97-AF65-F5344CB8AC3E}">
        <p14:creationId xmlns:p14="http://schemas.microsoft.com/office/powerpoint/2010/main" val="34417671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1828" y="867932"/>
            <a:ext cx="10409735" cy="4960214"/>
          </a:xfrm>
          <a:prstGeom prst="rect">
            <a:avLst/>
          </a:prstGeom>
        </p:spPr>
      </p:pic>
    </p:spTree>
    <p:extLst>
      <p:ext uri="{BB962C8B-B14F-4D97-AF65-F5344CB8AC3E}">
        <p14:creationId xmlns:p14="http://schemas.microsoft.com/office/powerpoint/2010/main" val="28110745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7241" y="728617"/>
            <a:ext cx="5815595" cy="5117725"/>
          </a:xfrm>
          <a:prstGeom prst="rect">
            <a:avLst/>
          </a:prstGeom>
        </p:spPr>
      </p:pic>
    </p:spTree>
    <p:extLst>
      <p:ext uri="{BB962C8B-B14F-4D97-AF65-F5344CB8AC3E}">
        <p14:creationId xmlns:p14="http://schemas.microsoft.com/office/powerpoint/2010/main" val="27180990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a:t>
            </a:r>
            <a:endParaRPr lang="en-US" dirty="0"/>
          </a:p>
        </p:txBody>
      </p:sp>
      <p:sp>
        <p:nvSpPr>
          <p:cNvPr id="3" name="TextBox 2"/>
          <p:cNvSpPr txBox="1"/>
          <p:nvPr/>
        </p:nvSpPr>
        <p:spPr>
          <a:xfrm>
            <a:off x="175491" y="1939636"/>
            <a:ext cx="11822545" cy="2308324"/>
          </a:xfrm>
          <a:prstGeom prst="rect">
            <a:avLst/>
          </a:prstGeom>
          <a:noFill/>
        </p:spPr>
        <p:txBody>
          <a:bodyPr wrap="square" rtlCol="0">
            <a:spAutoFit/>
          </a:bodyPr>
          <a:lstStyle/>
          <a:p>
            <a:pPr algn="just"/>
            <a:r>
              <a:rPr lang="en-US" dirty="0"/>
              <a:t>Regression is a supervised learning technique which helps in finding the correlation between variables and enables us to predict the continuous output variable based on the one or more predictor variables. It is mainly used for </a:t>
            </a:r>
            <a:r>
              <a:rPr lang="en-US" b="1" dirty="0"/>
              <a:t>prediction, forecasting, time series modeling, and determining the causal-effect relationship between variables</a:t>
            </a:r>
            <a:r>
              <a:rPr lang="en-US" dirty="0"/>
              <a:t>.</a:t>
            </a:r>
          </a:p>
          <a:p>
            <a:pPr algn="just"/>
            <a:r>
              <a:rPr lang="en-US" dirty="0"/>
              <a:t>In Regression, we plot a graph between the variables which best fits the given </a:t>
            </a:r>
            <a:r>
              <a:rPr lang="en-US" dirty="0" err="1"/>
              <a:t>datapoints</a:t>
            </a:r>
            <a:r>
              <a:rPr lang="en-US" dirty="0"/>
              <a:t>, using this plot, the machine learning model can make predictions about the data. In simple words, </a:t>
            </a:r>
            <a:r>
              <a:rPr lang="en-US" b="1" i="1" dirty="0"/>
              <a:t>"Regression shows a line or curve that passes through all the </a:t>
            </a:r>
            <a:r>
              <a:rPr lang="en-US" b="1" i="1" dirty="0" err="1"/>
              <a:t>datapoints</a:t>
            </a:r>
            <a:r>
              <a:rPr lang="en-US" b="1" i="1" dirty="0"/>
              <a:t> on target-predictor graph in such a way that the vertical distance between the </a:t>
            </a:r>
            <a:r>
              <a:rPr lang="en-US" b="1" i="1" dirty="0" err="1"/>
              <a:t>datapoints</a:t>
            </a:r>
            <a:r>
              <a:rPr lang="en-US" b="1" i="1" dirty="0"/>
              <a:t> and the regression line is minimum."</a:t>
            </a:r>
            <a:r>
              <a:rPr lang="en-US" dirty="0"/>
              <a:t> The distance between </a:t>
            </a:r>
            <a:r>
              <a:rPr lang="en-US" dirty="0" err="1"/>
              <a:t>datapoints</a:t>
            </a:r>
            <a:r>
              <a:rPr lang="en-US" dirty="0"/>
              <a:t> and line tells whether a model has captured a strong relationship or not.</a:t>
            </a:r>
          </a:p>
        </p:txBody>
      </p:sp>
      <p:pic>
        <p:nvPicPr>
          <p:cNvPr id="2050" name="Picture 2" descr="Regression Analysis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1341" y="4155595"/>
            <a:ext cx="3077824" cy="2462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8761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regression</a:t>
            </a:r>
            <a:endParaRPr lang="en-US" dirty="0"/>
          </a:p>
        </p:txBody>
      </p:sp>
      <p:sp>
        <p:nvSpPr>
          <p:cNvPr id="3" name="TextBox 2"/>
          <p:cNvSpPr txBox="1"/>
          <p:nvPr/>
        </p:nvSpPr>
        <p:spPr>
          <a:xfrm>
            <a:off x="175491" y="1939636"/>
            <a:ext cx="11822545" cy="2031325"/>
          </a:xfrm>
          <a:prstGeom prst="rect">
            <a:avLst/>
          </a:prstGeom>
          <a:noFill/>
        </p:spPr>
        <p:txBody>
          <a:bodyPr wrap="square" rtlCol="0">
            <a:spAutoFit/>
          </a:bodyPr>
          <a:lstStyle/>
          <a:p>
            <a:pPr algn="just"/>
            <a:r>
              <a:rPr lang="en-US" dirty="0"/>
              <a:t>Linear regression is one of the easiest and most popular Machine Learning algorithms. It is a statistical method that is used for predictive analysis. Linear regression makes predictions for continuous/real or numeric variables such as </a:t>
            </a:r>
            <a:r>
              <a:rPr lang="en-US" b="1" dirty="0"/>
              <a:t>sales, salary, age, product price,</a:t>
            </a:r>
            <a:r>
              <a:rPr lang="en-US" dirty="0"/>
              <a:t> etc.</a:t>
            </a:r>
          </a:p>
          <a:p>
            <a:pPr algn="just"/>
            <a:r>
              <a:rPr lang="en-US" dirty="0"/>
              <a:t>Linear regression algorithm shows a linear relationship between a dependent (y) and one or more independent (y) variables, hence called as linear regression. Since linear regression shows the linear relationship, which means it finds how the value of the dependent variable is changing according to the value of the independent variable.</a:t>
            </a:r>
          </a:p>
          <a:p>
            <a:pPr algn="just"/>
            <a:r>
              <a:rPr lang="en-US" dirty="0"/>
              <a:t>The linear regression model provides a sloped straight line representing the relationship between the variables.</a:t>
            </a:r>
          </a:p>
        </p:txBody>
      </p:sp>
      <p:pic>
        <p:nvPicPr>
          <p:cNvPr id="3074"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5526" y="3970961"/>
            <a:ext cx="2669310" cy="2669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4567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4183" y="576499"/>
            <a:ext cx="5382483" cy="2702409"/>
          </a:xfrm>
          <a:prstGeom prst="rect">
            <a:avLst/>
          </a:prstGeom>
        </p:spPr>
      </p:pic>
      <p:pic>
        <p:nvPicPr>
          <p:cNvPr id="3" name="Picture 2"/>
          <p:cNvPicPr>
            <a:picLocks noChangeAspect="1"/>
          </p:cNvPicPr>
          <p:nvPr/>
        </p:nvPicPr>
        <p:blipFill>
          <a:blip r:embed="rId3"/>
          <a:stretch>
            <a:fillRect/>
          </a:stretch>
        </p:blipFill>
        <p:spPr>
          <a:xfrm>
            <a:off x="694182" y="3532473"/>
            <a:ext cx="8190853" cy="2674363"/>
          </a:xfrm>
          <a:prstGeom prst="rect">
            <a:avLst/>
          </a:prstGeom>
        </p:spPr>
      </p:pic>
    </p:spTree>
    <p:extLst>
      <p:ext uri="{BB962C8B-B14F-4D97-AF65-F5344CB8AC3E}">
        <p14:creationId xmlns:p14="http://schemas.microsoft.com/office/powerpoint/2010/main" val="23446400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6180" y="1090503"/>
            <a:ext cx="9893472" cy="3814005"/>
          </a:xfrm>
          <a:prstGeom prst="rect">
            <a:avLst/>
          </a:prstGeom>
        </p:spPr>
      </p:pic>
    </p:spTree>
    <p:extLst>
      <p:ext uri="{BB962C8B-B14F-4D97-AF65-F5344CB8AC3E}">
        <p14:creationId xmlns:p14="http://schemas.microsoft.com/office/powerpoint/2010/main" val="34759677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0903" y="720436"/>
            <a:ext cx="8535140" cy="5255491"/>
          </a:xfrm>
          <a:prstGeom prst="rect">
            <a:avLst/>
          </a:prstGeom>
        </p:spPr>
      </p:pic>
    </p:spTree>
    <p:extLst>
      <p:ext uri="{BB962C8B-B14F-4D97-AF65-F5344CB8AC3E}">
        <p14:creationId xmlns:p14="http://schemas.microsoft.com/office/powerpoint/2010/main" val="13527051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9527" y="387927"/>
            <a:ext cx="11157528" cy="5586145"/>
          </a:xfrm>
          <a:prstGeom prst="rect">
            <a:avLst/>
          </a:prstGeom>
          <a:noFill/>
        </p:spPr>
        <p:txBody>
          <a:bodyPr wrap="square" rtlCol="0">
            <a:spAutoFit/>
          </a:bodyPr>
          <a:lstStyle/>
          <a:p>
            <a:pPr algn="just"/>
            <a:r>
              <a:rPr lang="en-US" sz="1500" dirty="0" smtClean="0"/>
              <a:t>RMSE (Root Mean Squared Error) and MSE (Mean Squared Error) are both metrics commonly used to evaluate the performance of regression models. They are measures of the average squared difference between the predicted values and the actual values.</a:t>
            </a:r>
          </a:p>
          <a:p>
            <a:pPr algn="just"/>
            <a:r>
              <a:rPr lang="en-US" sz="1500" b="1" dirty="0" smtClean="0"/>
              <a:t>MSE (Mean Squared Error):</a:t>
            </a:r>
            <a:endParaRPr lang="en-US" sz="1500" dirty="0" smtClean="0"/>
          </a:p>
          <a:p>
            <a:pPr lvl="1" algn="just"/>
            <a:r>
              <a:rPr lang="en-US" sz="1500" dirty="0" smtClean="0"/>
              <a:t>MSE is calculated by taking the average of the squared differences between predicted and actual values.</a:t>
            </a:r>
          </a:p>
          <a:p>
            <a:pPr lvl="1" algn="just"/>
            <a:r>
              <a:rPr lang="en-US" sz="1500" dirty="0" smtClean="0"/>
              <a:t>It is defined as the sum of squared errors divided by the number of observations.</a:t>
            </a:r>
          </a:p>
          <a:p>
            <a:pPr algn="just"/>
            <a:endParaRPr lang="en-US" b="1" dirty="0" smtClean="0"/>
          </a:p>
          <a:p>
            <a:pPr algn="just"/>
            <a:endParaRPr lang="en-US" b="1" dirty="0"/>
          </a:p>
          <a:p>
            <a:pPr algn="just"/>
            <a:endParaRPr lang="en-US" b="1" dirty="0" smtClean="0"/>
          </a:p>
          <a:p>
            <a:pPr algn="just"/>
            <a:endParaRPr lang="en-US" b="1" dirty="0"/>
          </a:p>
          <a:p>
            <a:pPr algn="just"/>
            <a:endParaRPr lang="en-US" b="1" dirty="0" smtClean="0"/>
          </a:p>
          <a:p>
            <a:pPr algn="just"/>
            <a:endParaRPr lang="en-US" b="1" dirty="0" smtClean="0"/>
          </a:p>
          <a:p>
            <a:pPr algn="just"/>
            <a:r>
              <a:rPr lang="en-US" sz="1500" b="1" dirty="0" smtClean="0"/>
              <a:t>RMSE (Root Mean Squared Error):</a:t>
            </a:r>
            <a:endParaRPr lang="en-US" sz="1500" dirty="0" smtClean="0"/>
          </a:p>
          <a:p>
            <a:pPr lvl="1" algn="just"/>
            <a:r>
              <a:rPr lang="en-US" sz="1500" dirty="0" smtClean="0"/>
              <a:t>RMSE is the square root of the MSE. It is often used because it has the same scale as the target variable, making it more interpretable.</a:t>
            </a:r>
          </a:p>
          <a:p>
            <a:pPr lvl="1" algn="just"/>
            <a:r>
              <a:rPr lang="en-US" sz="1500" dirty="0" smtClean="0"/>
              <a:t>It penalizes large errors more than small errors due to the squaring operation in MSE, and the square root in RMSE brings the error back to the original scale.</a:t>
            </a:r>
          </a:p>
          <a:p>
            <a:pPr algn="just"/>
            <a:endParaRPr lang="en-US" dirty="0" smtClean="0"/>
          </a:p>
          <a:p>
            <a:pPr algn="just"/>
            <a:endParaRPr lang="en-US" dirty="0" smtClean="0"/>
          </a:p>
          <a:p>
            <a:pPr algn="just"/>
            <a:endParaRPr lang="en-US" sz="1000" dirty="0" smtClean="0"/>
          </a:p>
          <a:p>
            <a:pPr algn="just"/>
            <a:r>
              <a:rPr lang="en-US" sz="1500" dirty="0" smtClean="0"/>
              <a:t>RMSE is especially useful when the errors are normally distributed. It provides a measure of the spread of errors and can be more intuitive to interpret.</a:t>
            </a:r>
          </a:p>
          <a:p>
            <a:pPr algn="just"/>
            <a:r>
              <a:rPr lang="en-US" sz="1500" dirty="0" smtClean="0"/>
              <a:t>In both cases, lower values of MSE and RMSE indicate better model performance. When interpreting these metrics, it's essential to consider the scale of the target variable, as the absolute values of MSE and RMSE depend on the scale of the variable being predicted.</a:t>
            </a:r>
          </a:p>
        </p:txBody>
      </p:sp>
      <p:pic>
        <p:nvPicPr>
          <p:cNvPr id="4" name="Picture 3"/>
          <p:cNvPicPr>
            <a:picLocks noChangeAspect="1"/>
          </p:cNvPicPr>
          <p:nvPr/>
        </p:nvPicPr>
        <p:blipFill>
          <a:blip r:embed="rId2"/>
          <a:stretch>
            <a:fillRect/>
          </a:stretch>
        </p:blipFill>
        <p:spPr>
          <a:xfrm>
            <a:off x="585663" y="1633161"/>
            <a:ext cx="3520745" cy="1356478"/>
          </a:xfrm>
          <a:prstGeom prst="rect">
            <a:avLst/>
          </a:prstGeom>
        </p:spPr>
      </p:pic>
      <p:pic>
        <p:nvPicPr>
          <p:cNvPr id="5" name="Picture 4"/>
          <p:cNvPicPr>
            <a:picLocks noChangeAspect="1"/>
          </p:cNvPicPr>
          <p:nvPr/>
        </p:nvPicPr>
        <p:blipFill>
          <a:blip r:embed="rId3"/>
          <a:stretch>
            <a:fillRect/>
          </a:stretch>
        </p:blipFill>
        <p:spPr>
          <a:xfrm>
            <a:off x="585663" y="4234873"/>
            <a:ext cx="2611958" cy="411018"/>
          </a:xfrm>
          <a:prstGeom prst="rect">
            <a:avLst/>
          </a:prstGeom>
        </p:spPr>
      </p:pic>
    </p:spTree>
    <p:extLst>
      <p:ext uri="{BB962C8B-B14F-4D97-AF65-F5344CB8AC3E}">
        <p14:creationId xmlns:p14="http://schemas.microsoft.com/office/powerpoint/2010/main" val="37820190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 regression</a:t>
            </a:r>
            <a:endParaRPr lang="en-US" dirty="0"/>
          </a:p>
        </p:txBody>
      </p:sp>
      <p:sp>
        <p:nvSpPr>
          <p:cNvPr id="3" name="TextBox 2"/>
          <p:cNvSpPr txBox="1"/>
          <p:nvPr/>
        </p:nvSpPr>
        <p:spPr>
          <a:xfrm>
            <a:off x="175491" y="1939636"/>
            <a:ext cx="11822545" cy="1200329"/>
          </a:xfrm>
          <a:prstGeom prst="rect">
            <a:avLst/>
          </a:prstGeom>
          <a:noFill/>
        </p:spPr>
        <p:txBody>
          <a:bodyPr wrap="square" rtlCol="0">
            <a:spAutoFit/>
          </a:bodyPr>
          <a:lstStyle/>
          <a:p>
            <a:pPr algn="just" fontAlgn="base"/>
            <a:r>
              <a:rPr lang="en-US" dirty="0"/>
              <a:t>Decision tree regression observes features of an object and trains a model in the structure of a tree to predict data in the future to produce meaningful continuous output. Continuous output means that the output/result is not discrete, i.e., it is not represented just by a discrete, known set of numbers or values.</a:t>
            </a:r>
          </a:p>
          <a:p>
            <a:pPr algn="just" fontAlgn="base"/>
            <a:r>
              <a:rPr lang="en-US" b="1" dirty="0"/>
              <a:t>Discrete output example:</a:t>
            </a:r>
            <a:r>
              <a:rPr lang="en-US" dirty="0"/>
              <a:t> A weather prediction model that predicts whether or not there’ll be rain on a particular day. </a:t>
            </a:r>
          </a:p>
        </p:txBody>
      </p:sp>
      <p:pic>
        <p:nvPicPr>
          <p:cNvPr id="4098" name="Picture 2" descr="1.10. Decision Trees — scikit-learn 1.3.2 documen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2832" y="3471392"/>
            <a:ext cx="3860415" cy="2895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0425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5173" y="579732"/>
            <a:ext cx="5058010" cy="2459032"/>
          </a:xfrm>
          <a:prstGeom prst="rect">
            <a:avLst/>
          </a:prstGeom>
        </p:spPr>
      </p:pic>
      <p:pic>
        <p:nvPicPr>
          <p:cNvPr id="3" name="Picture 2"/>
          <p:cNvPicPr>
            <a:picLocks noChangeAspect="1"/>
          </p:cNvPicPr>
          <p:nvPr/>
        </p:nvPicPr>
        <p:blipFill>
          <a:blip r:embed="rId3"/>
          <a:stretch>
            <a:fillRect/>
          </a:stretch>
        </p:blipFill>
        <p:spPr>
          <a:xfrm>
            <a:off x="815173" y="3247304"/>
            <a:ext cx="8119026" cy="2691678"/>
          </a:xfrm>
          <a:prstGeom prst="rect">
            <a:avLst/>
          </a:prstGeom>
        </p:spPr>
      </p:pic>
    </p:spTree>
    <p:extLst>
      <p:ext uri="{BB962C8B-B14F-4D97-AF65-F5344CB8AC3E}">
        <p14:creationId xmlns:p14="http://schemas.microsoft.com/office/powerpoint/2010/main" val="1401809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1393" y="983142"/>
            <a:ext cx="7290936" cy="3939839"/>
          </a:xfrm>
          <a:prstGeom prst="rect">
            <a:avLst/>
          </a:prstGeom>
        </p:spPr>
      </p:pic>
    </p:spTree>
    <p:extLst>
      <p:ext uri="{BB962C8B-B14F-4D97-AF65-F5344CB8AC3E}">
        <p14:creationId xmlns:p14="http://schemas.microsoft.com/office/powerpoint/2010/main" val="5300469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9777" y="709513"/>
            <a:ext cx="7797855" cy="5164813"/>
          </a:xfrm>
          <a:prstGeom prst="rect">
            <a:avLst/>
          </a:prstGeom>
        </p:spPr>
      </p:pic>
    </p:spTree>
    <p:extLst>
      <p:ext uri="{BB962C8B-B14F-4D97-AF65-F5344CB8AC3E}">
        <p14:creationId xmlns:p14="http://schemas.microsoft.com/office/powerpoint/2010/main" val="198061000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 regression</a:t>
            </a:r>
            <a:endParaRPr lang="en-US" dirty="0"/>
          </a:p>
        </p:txBody>
      </p:sp>
      <p:sp>
        <p:nvSpPr>
          <p:cNvPr id="3" name="TextBox 2"/>
          <p:cNvSpPr txBox="1"/>
          <p:nvPr/>
        </p:nvSpPr>
        <p:spPr>
          <a:xfrm>
            <a:off x="175491" y="1939636"/>
            <a:ext cx="11822545" cy="1754326"/>
          </a:xfrm>
          <a:prstGeom prst="rect">
            <a:avLst/>
          </a:prstGeom>
          <a:noFill/>
        </p:spPr>
        <p:txBody>
          <a:bodyPr wrap="square" rtlCol="0">
            <a:spAutoFit/>
          </a:bodyPr>
          <a:lstStyle/>
          <a:p>
            <a:pPr algn="just" fontAlgn="base"/>
            <a:r>
              <a:rPr lang="en-US" dirty="0"/>
              <a:t>Random Forest Regression in machine learning is an ensemble technique capable of performing both regression and classification tasks with the use of multiple decision trees and a technique called Bootstrap and Aggregation, commonly known as bagging. The basic idea behind this is to combine multiple decision trees in determining the final output rather than relying on individual decision trees. </a:t>
            </a:r>
          </a:p>
          <a:p>
            <a:pPr algn="just" fontAlgn="base"/>
            <a:r>
              <a:rPr lang="en-US" dirty="0"/>
              <a:t>Random Forest has multiple decision trees as base learning models. We randomly perform row sampling and feature sampling from the dataset forming sample datasets for every model. This part is called Bootstrap.</a:t>
            </a:r>
            <a:endParaRPr lang="en-US" dirty="0"/>
          </a:p>
        </p:txBody>
      </p:sp>
      <p:pic>
        <p:nvPicPr>
          <p:cNvPr id="5" name="Picture 4"/>
          <p:cNvPicPr>
            <a:picLocks noChangeAspect="1"/>
          </p:cNvPicPr>
          <p:nvPr/>
        </p:nvPicPr>
        <p:blipFill rotWithShape="1">
          <a:blip r:embed="rId2"/>
          <a:srcRect l="24950" t="32815" r="24546" b="9154"/>
          <a:stretch/>
        </p:blipFill>
        <p:spPr>
          <a:xfrm>
            <a:off x="5735782" y="3840662"/>
            <a:ext cx="4359564" cy="2504133"/>
          </a:xfrm>
          <a:prstGeom prst="rect">
            <a:avLst/>
          </a:prstGeom>
        </p:spPr>
      </p:pic>
    </p:spTree>
    <p:extLst>
      <p:ext uri="{BB962C8B-B14F-4D97-AF65-F5344CB8AC3E}">
        <p14:creationId xmlns:p14="http://schemas.microsoft.com/office/powerpoint/2010/main" val="32789444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0735" y="734097"/>
            <a:ext cx="5061229" cy="2438032"/>
          </a:xfrm>
          <a:prstGeom prst="rect">
            <a:avLst/>
          </a:prstGeom>
        </p:spPr>
      </p:pic>
      <p:pic>
        <p:nvPicPr>
          <p:cNvPr id="3" name="Picture 2"/>
          <p:cNvPicPr>
            <a:picLocks noChangeAspect="1"/>
          </p:cNvPicPr>
          <p:nvPr/>
        </p:nvPicPr>
        <p:blipFill>
          <a:blip r:embed="rId3"/>
          <a:stretch>
            <a:fillRect/>
          </a:stretch>
        </p:blipFill>
        <p:spPr>
          <a:xfrm>
            <a:off x="720735" y="3408589"/>
            <a:ext cx="8285104" cy="2715119"/>
          </a:xfrm>
          <a:prstGeom prst="rect">
            <a:avLst/>
          </a:prstGeom>
        </p:spPr>
      </p:pic>
    </p:spTree>
    <p:extLst>
      <p:ext uri="{BB962C8B-B14F-4D97-AF65-F5344CB8AC3E}">
        <p14:creationId xmlns:p14="http://schemas.microsoft.com/office/powerpoint/2010/main" val="18425043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9440" y="1026954"/>
            <a:ext cx="9025320" cy="4163881"/>
          </a:xfrm>
          <a:prstGeom prst="rect">
            <a:avLst/>
          </a:prstGeom>
        </p:spPr>
      </p:pic>
    </p:spTree>
    <p:extLst>
      <p:ext uri="{BB962C8B-B14F-4D97-AF65-F5344CB8AC3E}">
        <p14:creationId xmlns:p14="http://schemas.microsoft.com/office/powerpoint/2010/main" val="4863599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0613" y="968063"/>
            <a:ext cx="6108657" cy="4379792"/>
          </a:xfrm>
          <a:prstGeom prst="rect">
            <a:avLst/>
          </a:prstGeom>
        </p:spPr>
      </p:pic>
    </p:spTree>
    <p:extLst>
      <p:ext uri="{BB962C8B-B14F-4D97-AF65-F5344CB8AC3E}">
        <p14:creationId xmlns:p14="http://schemas.microsoft.com/office/powerpoint/2010/main" val="19025002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clustering</a:t>
            </a:r>
            <a:endParaRPr lang="en-US" dirty="0"/>
          </a:p>
        </p:txBody>
      </p:sp>
      <p:sp>
        <p:nvSpPr>
          <p:cNvPr id="3" name="TextBox 2"/>
          <p:cNvSpPr txBox="1"/>
          <p:nvPr/>
        </p:nvSpPr>
        <p:spPr>
          <a:xfrm>
            <a:off x="175491" y="1939636"/>
            <a:ext cx="11822545" cy="923330"/>
          </a:xfrm>
          <a:prstGeom prst="rect">
            <a:avLst/>
          </a:prstGeom>
          <a:noFill/>
        </p:spPr>
        <p:txBody>
          <a:bodyPr wrap="square" rtlCol="0">
            <a:spAutoFit/>
          </a:bodyPr>
          <a:lstStyle/>
          <a:p>
            <a:pPr algn="just" fontAlgn="base"/>
            <a:r>
              <a:rPr lang="en-US" b="1" dirty="0"/>
              <a:t>Clustering</a:t>
            </a:r>
            <a:r>
              <a:rPr lang="en-US" dirty="0"/>
              <a:t> is the task of dividing the population or data points into a number of groups such that data points in the same groups are more similar to other data points in the same group and dissimilar to the data points in other groups. It is basically a collection of objects on the basis of similarity and dissimilarity between them. </a:t>
            </a:r>
            <a:endParaRPr lang="en-US" dirty="0"/>
          </a:p>
        </p:txBody>
      </p:sp>
      <p:pic>
        <p:nvPicPr>
          <p:cNvPr id="1026" name="Picture 2" descr="Lightbox"/>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6985" y="3009666"/>
            <a:ext cx="8770980" cy="3377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8938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a:t>
            </a:r>
            <a:endParaRPr lang="en-US" dirty="0"/>
          </a:p>
        </p:txBody>
      </p:sp>
      <p:sp>
        <p:nvSpPr>
          <p:cNvPr id="3" name="TextBox 2"/>
          <p:cNvSpPr txBox="1"/>
          <p:nvPr/>
        </p:nvSpPr>
        <p:spPr>
          <a:xfrm>
            <a:off x="175491" y="1939636"/>
            <a:ext cx="11822545" cy="1754326"/>
          </a:xfrm>
          <a:prstGeom prst="rect">
            <a:avLst/>
          </a:prstGeom>
          <a:noFill/>
        </p:spPr>
        <p:txBody>
          <a:bodyPr wrap="square" rtlCol="0">
            <a:spAutoFit/>
          </a:bodyPr>
          <a:lstStyle/>
          <a:p>
            <a:pPr algn="just" fontAlgn="base"/>
            <a:r>
              <a:rPr lang="en-US" dirty="0"/>
              <a:t>K-means is a popular clustering algorithm in machine learning and data mining. It is an unsupervised learning algorithm that partitions a dataset into K clusters based on similarity. The primary goal of K-means clustering is to group similar data points together and assign them to the same cluster, while keeping different clusters as distinct as possible</a:t>
            </a:r>
            <a:r>
              <a:rPr lang="en-US" dirty="0" smtClean="0"/>
              <a:t>.</a:t>
            </a:r>
          </a:p>
          <a:p>
            <a:pPr algn="just" fontAlgn="base"/>
            <a:r>
              <a:rPr lang="en-US" dirty="0"/>
              <a:t>The algorithm aims to minimize the sum of squared distances between data points and their assigned cluster centroids. It's important to note that the algorithm may converge to a local minimum, and the quality of the clusters can depend on the initial choice of centroids.</a:t>
            </a:r>
            <a:endParaRPr lang="en-US" dirty="0"/>
          </a:p>
        </p:txBody>
      </p:sp>
      <p:pic>
        <p:nvPicPr>
          <p:cNvPr id="5" name="Picture 4"/>
          <p:cNvPicPr>
            <a:picLocks noChangeAspect="1"/>
          </p:cNvPicPr>
          <p:nvPr/>
        </p:nvPicPr>
        <p:blipFill>
          <a:blip r:embed="rId2"/>
          <a:stretch>
            <a:fillRect/>
          </a:stretch>
        </p:blipFill>
        <p:spPr>
          <a:xfrm>
            <a:off x="6096000" y="3551753"/>
            <a:ext cx="4208318" cy="2963923"/>
          </a:xfrm>
          <a:prstGeom prst="rect">
            <a:avLst/>
          </a:prstGeom>
        </p:spPr>
      </p:pic>
    </p:spTree>
    <p:extLst>
      <p:ext uri="{BB962C8B-B14F-4D97-AF65-F5344CB8AC3E}">
        <p14:creationId xmlns:p14="http://schemas.microsoft.com/office/powerpoint/2010/main" val="82821737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07810" y="513003"/>
            <a:ext cx="4575749" cy="2230197"/>
          </a:xfrm>
          <a:prstGeom prst="rect">
            <a:avLst/>
          </a:prstGeom>
        </p:spPr>
      </p:pic>
      <p:pic>
        <p:nvPicPr>
          <p:cNvPr id="3" name="Picture 2"/>
          <p:cNvPicPr>
            <a:picLocks noChangeAspect="1"/>
          </p:cNvPicPr>
          <p:nvPr/>
        </p:nvPicPr>
        <p:blipFill>
          <a:blip r:embed="rId3"/>
          <a:stretch>
            <a:fillRect/>
          </a:stretch>
        </p:blipFill>
        <p:spPr>
          <a:xfrm>
            <a:off x="707809" y="2992711"/>
            <a:ext cx="7776663" cy="2826198"/>
          </a:xfrm>
          <a:prstGeom prst="rect">
            <a:avLst/>
          </a:prstGeom>
        </p:spPr>
      </p:pic>
    </p:spTree>
    <p:extLst>
      <p:ext uri="{BB962C8B-B14F-4D97-AF65-F5344CB8AC3E}">
        <p14:creationId xmlns:p14="http://schemas.microsoft.com/office/powerpoint/2010/main" val="23081948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0011" y="1034817"/>
            <a:ext cx="8084018" cy="4146783"/>
          </a:xfrm>
          <a:prstGeom prst="rect">
            <a:avLst/>
          </a:prstGeom>
        </p:spPr>
      </p:pic>
    </p:spTree>
    <p:extLst>
      <p:ext uri="{BB962C8B-B14F-4D97-AF65-F5344CB8AC3E}">
        <p14:creationId xmlns:p14="http://schemas.microsoft.com/office/powerpoint/2010/main" val="14745323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5468" y="960321"/>
            <a:ext cx="9181331" cy="4910945"/>
          </a:xfrm>
          <a:prstGeom prst="rect">
            <a:avLst/>
          </a:prstGeom>
        </p:spPr>
      </p:pic>
    </p:spTree>
    <p:extLst>
      <p:ext uri="{BB962C8B-B14F-4D97-AF65-F5344CB8AC3E}">
        <p14:creationId xmlns:p14="http://schemas.microsoft.com/office/powerpoint/2010/main" val="30928601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5268" y="382982"/>
            <a:ext cx="6539314" cy="5737899"/>
          </a:xfrm>
          <a:prstGeom prst="rect">
            <a:avLst/>
          </a:prstGeom>
        </p:spPr>
      </p:pic>
    </p:spTree>
    <p:extLst>
      <p:ext uri="{BB962C8B-B14F-4D97-AF65-F5344CB8AC3E}">
        <p14:creationId xmlns:p14="http://schemas.microsoft.com/office/powerpoint/2010/main" val="164133695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638</TotalTime>
  <Words>2327</Words>
  <Application>Microsoft Office PowerPoint</Application>
  <PresentationFormat>Widescreen</PresentationFormat>
  <Paragraphs>167</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Corbel</vt:lpstr>
      <vt:lpstr>Wingdings</vt:lpstr>
      <vt:lpstr>Banded</vt:lpstr>
      <vt:lpstr>PowerPoint Presentation</vt:lpstr>
      <vt:lpstr>PowerPoint Presentation</vt:lpstr>
      <vt:lpstr>classification</vt:lpstr>
      <vt:lpstr>Decision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Logistic regression</vt:lpstr>
      <vt:lpstr>PowerPoint Presentation</vt:lpstr>
      <vt:lpstr>PowerPoint Presentation</vt:lpstr>
      <vt:lpstr>PowerPoint Presentation</vt:lpstr>
      <vt:lpstr>Support vector machine</vt:lpstr>
      <vt:lpstr>PowerPoint Presentation</vt:lpstr>
      <vt:lpstr>PowerPoint Presentation</vt:lpstr>
      <vt:lpstr>PowerPoint Presentation</vt:lpstr>
      <vt:lpstr>Random forest</vt:lpstr>
      <vt:lpstr>PowerPoint Presentation</vt:lpstr>
      <vt:lpstr>PowerPoint Presentation</vt:lpstr>
      <vt:lpstr>PowerPoint Presentation</vt:lpstr>
      <vt:lpstr>regression</vt:lpstr>
      <vt:lpstr>Linear regression</vt:lpstr>
      <vt:lpstr>PowerPoint Presentation</vt:lpstr>
      <vt:lpstr>PowerPoint Presentation</vt:lpstr>
      <vt:lpstr>PowerPoint Presentation</vt:lpstr>
      <vt:lpstr>PowerPoint Presentation</vt:lpstr>
      <vt:lpstr>Decision tree regression</vt:lpstr>
      <vt:lpstr>PowerPoint Presentation</vt:lpstr>
      <vt:lpstr>PowerPoint Presentation</vt:lpstr>
      <vt:lpstr>PowerPoint Presentation</vt:lpstr>
      <vt:lpstr>Random forest regression</vt:lpstr>
      <vt:lpstr>PowerPoint Presentation</vt:lpstr>
      <vt:lpstr>PowerPoint Presentation</vt:lpstr>
      <vt:lpstr>PowerPoint Presentation</vt:lpstr>
      <vt:lpstr>clustering</vt:lpstr>
      <vt:lpstr>K-means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Nayab Rasool Khan</dc:creator>
  <cp:lastModifiedBy>P Nayab Rasool Khan</cp:lastModifiedBy>
  <cp:revision>33</cp:revision>
  <dcterms:created xsi:type="dcterms:W3CDTF">2024-01-17T07:59:51Z</dcterms:created>
  <dcterms:modified xsi:type="dcterms:W3CDTF">2024-01-18T05:36:32Z</dcterms:modified>
</cp:coreProperties>
</file>