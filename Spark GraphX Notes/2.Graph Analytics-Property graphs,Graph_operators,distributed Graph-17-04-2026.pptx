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15C6-AB48-306C-31F8-F92FC864C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47C8C-0E75-996E-FC2D-40D9CB5F6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2A81-CDCA-21E5-9C75-FF7571DE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1DC9F-911A-11C8-1C6C-BB85E38B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3B50-83E4-AED7-ACD9-5C3CF164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F94F-6119-251E-FB10-25689D69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8873-6DA6-AA47-9F34-CF2C170B9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F8734-4104-9AAB-92A7-351C0361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7AA03-A450-8787-E4F6-F59C2B92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4C900-9E0A-14CE-3B28-30BA3299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6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7972-15E7-C17A-6A76-A781C974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23B83-2253-E7BE-BE59-0F4083DA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6C63-1C28-08EE-7C47-7E25B339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48A78-D717-0F31-FE00-8C96C95A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6906-FB64-89EA-34B6-980F5407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5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C255-0057-2805-840B-4AB53466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D441E-AA8E-6DBD-3A5B-A4D8831EF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71F79-1AD9-3DC3-C924-AE162F62A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520A7-62CB-F384-2486-C6222E95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8805-4075-6FCF-2BA6-08BE86E9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E23D7-D71A-9A30-6CE9-563C2A46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FCF4-9F74-1555-8EA2-6D896821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5DD63-7599-03E7-67FB-CC2D32B50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9EF22-B94D-739E-84C6-56D8B31B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42103-F505-D5AD-91C4-89FFFA049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832BE-E1F3-F58F-8A34-75F798E95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03C24-1C9C-FA14-CD5D-43F89D64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0649A-AC9F-E547-E94E-99B439A6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55394A-CA96-7DA7-0343-DC4F889F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5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D3BB-41A1-5D5B-1203-AC46248C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5673D-5525-C37B-9D3C-81E6FB08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D3FFE-E0C8-939B-34D5-8EF74432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9FAFF-0D33-DE51-2E0A-2E3A5726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3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2ADA9-A30E-E2FD-BE6C-91ADB5D8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F76AB-E60C-1EDD-59D7-AC2EF6BD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79C7C-2F82-A13F-A458-AD0DAB6F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2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E8F1-33C4-7655-3421-D140C42E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6F8E-82D0-F74B-67FA-3D05BEBA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98E7F-4F68-5B24-7FDF-018BFD0DA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FD18E-BB30-DD7B-C577-62FA0021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6247E-278D-7206-DA89-32DAEA96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2236F-3573-2E60-4703-AE6F2A2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F762-2916-18E0-D8AD-598720F3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E992C-4097-1A3C-7095-F10766FA5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14820-4B09-0892-9971-31ECBE9CC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76479-F4EF-DA4F-965A-46599186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F72C0-D22E-D0E5-84EE-FE985153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634AB-4433-308D-2F3D-11648AE3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3466-2672-9DE1-E4A2-BD884723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28BB3-CF38-BC64-AB15-C5B6AB64D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FB75C-3550-F919-1D7C-4509D64E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3812E-FCF3-2713-ABAE-0CC1ABD6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93A7-9743-88B7-2DDA-AB9BBDA3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E45C7-9A3C-6B87-29E9-997EEAEC5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7B2C8-D7DD-7AE9-417D-EDA6DBE4B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79E6F-9C00-DC98-0CA2-9E20C054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457E9-9BF1-8085-D32F-D68AE6A3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7571-2997-5C5E-9FBE-A29DDEC8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2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2F325-0575-4636-A2E4-DF47071E5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434C7-E2EE-7F22-8E03-50851D1B8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F866D-D00B-118B-05B7-0C6AC434E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89EC8-B9B9-4920-9A2B-5AC030826DCB}" type="datetimeFigureOut">
              <a:rPr lang="en-US" smtClean="0"/>
              <a:t>17-Apr-26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489FE-5C3B-ABBC-3DF8-A37F5EA08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E6A25-9658-9C8D-BBEC-5ABB3545F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01C46-B9B8-4DDA-A02B-63E231C5C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29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D6F2-CE5E-42DC-2923-A389865232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Graph Analytics-</a:t>
            </a:r>
            <a:br>
              <a:rPr lang="en-US" dirty="0"/>
            </a:br>
            <a:r>
              <a:rPr lang="en-US" dirty="0"/>
              <a:t>Property Graph, Graph Operators, Distributed Graph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C0CD1-9C0C-9539-930D-D01593A89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8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CAD9-4E1D-2F85-F394-9D720B9E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321"/>
          </a:xfrm>
        </p:spPr>
        <p:txBody>
          <a:bodyPr/>
          <a:lstStyle/>
          <a:p>
            <a:r>
              <a:rPr lang="en-US" dirty="0"/>
              <a:t>Property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5B899-4DE9-93D2-227E-AEF059950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159" y="1215342"/>
                <a:ext cx="10786641" cy="496162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</a:t>
                </a: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Property Graph</a:t>
                </a:r>
                <a:r>
                  <a:rPr lang="en-US" dirty="0"/>
                  <a:t> is a graph where:</a:t>
                </a:r>
              </a:p>
              <a:p>
                <a:pPr lvl="1"/>
                <a:r>
                  <a:rPr lang="en-US" b="1" dirty="0"/>
                  <a:t>Vertices (nodes)</a:t>
                </a:r>
                <a:r>
                  <a:rPr lang="en-US" dirty="0"/>
                  <a:t> have properties (attributes) </a:t>
                </a:r>
              </a:p>
              <a:p>
                <a:pPr lvl="1"/>
                <a:r>
                  <a:rPr lang="en-US" b="1" dirty="0"/>
                  <a:t>Edges (connections)</a:t>
                </a:r>
                <a:r>
                  <a:rPr lang="en-US" dirty="0"/>
                  <a:t> have properties </a:t>
                </a:r>
              </a:p>
              <a:p>
                <a:r>
                  <a:rPr lang="en-US" dirty="0"/>
                  <a:t> </a:t>
                </a:r>
                <a:r>
                  <a:rPr lang="en-US" b="1" dirty="0"/>
                  <a:t>Structure</a:t>
                </a:r>
              </a:p>
              <a:p>
                <a:r>
                  <a:rPr lang="en-US" dirty="0"/>
                  <a:t>A property graph is defined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:pPr lvl="1"/>
                <a:r>
                  <a:rPr lang="en-US" b="1" dirty="0"/>
                  <a:t>V</a:t>
                </a:r>
                <a:r>
                  <a:rPr lang="en-US" dirty="0"/>
                  <a:t> → Vertices (with properties) </a:t>
                </a:r>
              </a:p>
              <a:p>
                <a:pPr lvl="1"/>
                <a:r>
                  <a:rPr lang="en-US" b="1" dirty="0"/>
                  <a:t>E</a:t>
                </a:r>
                <a:r>
                  <a:rPr lang="en-US" dirty="0"/>
                  <a:t> → Edges (with properties)</a:t>
                </a:r>
              </a:p>
              <a:p>
                <a:r>
                  <a:rPr lang="en-US" dirty="0"/>
                  <a:t>In </a:t>
                </a:r>
                <a:r>
                  <a:rPr lang="en-US" b="1" dirty="0" err="1"/>
                  <a:t>GraphX</a:t>
                </a:r>
                <a:r>
                  <a:rPr lang="en-US" dirty="0"/>
                  <a:t>, there is actually </a:t>
                </a:r>
                <a:r>
                  <a:rPr lang="en-US" b="1" dirty="0"/>
                  <a:t>NO separate “simple graph” type</a:t>
                </a:r>
                <a:endParaRPr lang="en-US" dirty="0"/>
              </a:p>
              <a:p>
                <a:r>
                  <a:rPr lang="en-US" dirty="0"/>
                  <a:t>✔ Everything in </a:t>
                </a:r>
                <a:r>
                  <a:rPr lang="en-US" dirty="0" err="1"/>
                  <a:t>GraphX</a:t>
                </a:r>
                <a:r>
                  <a:rPr lang="en-US" dirty="0"/>
                  <a:t> is a </a:t>
                </a:r>
                <a:r>
                  <a:rPr lang="en-US" b="1" dirty="0"/>
                  <a:t>Property Graph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5B899-4DE9-93D2-227E-AEF059950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159" y="1215342"/>
                <a:ext cx="10786641" cy="4961621"/>
              </a:xfrm>
              <a:blipFill>
                <a:blip r:embed="rId2"/>
                <a:stretch>
                  <a:fillRect l="-1017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97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AC5D-96E5-D8F5-5BA7-A346DBE6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C997-A1BF-2CBB-AC51-6F10EE419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It is widely used in:</a:t>
            </a:r>
          </a:p>
          <a:p>
            <a:r>
              <a:rPr lang="en-US" dirty="0"/>
              <a:t>Social networks (users, friendships) </a:t>
            </a:r>
          </a:p>
          <a:p>
            <a:r>
              <a:rPr lang="en-US" dirty="0"/>
              <a:t>Recommendation systems </a:t>
            </a:r>
          </a:p>
          <a:p>
            <a:r>
              <a:rPr lang="en-US" dirty="0"/>
              <a:t>Fraud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3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6444-A5BD-177B-F174-2061C69E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37567" cy="61872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EA214-F24B-9F8B-13FC-24CFD03E3F52}"/>
              </a:ext>
            </a:extLst>
          </p:cNvPr>
          <p:cNvSpPr txBox="1"/>
          <p:nvPr/>
        </p:nvSpPr>
        <p:spPr>
          <a:xfrm>
            <a:off x="838200" y="1342656"/>
            <a:ext cx="2032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Vertices (People)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CC7A8A8-D21F-630D-EF14-D8A0FFCEB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237468"/>
              </p:ext>
            </p:extLst>
          </p:nvPr>
        </p:nvGraphicFramePr>
        <p:xfrm>
          <a:off x="838200" y="2096839"/>
          <a:ext cx="4069468" cy="1463040"/>
        </p:xfrm>
        <a:graphic>
          <a:graphicData uri="http://schemas.openxmlformats.org/drawingml/2006/table">
            <a:tbl>
              <a:tblPr/>
              <a:tblGrid>
                <a:gridCol w="446590">
                  <a:extLst>
                    <a:ext uri="{9D8B030D-6E8A-4147-A177-3AD203B41FA5}">
                      <a16:colId xmlns:a16="http://schemas.microsoft.com/office/drawing/2014/main" val="36004468"/>
                    </a:ext>
                  </a:extLst>
                </a:gridCol>
                <a:gridCol w="1588144">
                  <a:extLst>
                    <a:ext uri="{9D8B030D-6E8A-4147-A177-3AD203B41FA5}">
                      <a16:colId xmlns:a16="http://schemas.microsoft.com/office/drawing/2014/main" val="2711597127"/>
                    </a:ext>
                  </a:extLst>
                </a:gridCol>
                <a:gridCol w="1398124">
                  <a:extLst>
                    <a:ext uri="{9D8B030D-6E8A-4147-A177-3AD203B41FA5}">
                      <a16:colId xmlns:a16="http://schemas.microsoft.com/office/drawing/2014/main" val="3045967246"/>
                    </a:ext>
                  </a:extLst>
                </a:gridCol>
                <a:gridCol w="636610">
                  <a:extLst>
                    <a:ext uri="{9D8B030D-6E8A-4147-A177-3AD203B41FA5}">
                      <a16:colId xmlns:a16="http://schemas.microsoft.com/office/drawing/2014/main" val="477020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12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Naren Rao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184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Warangal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862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Ganesh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Nizamabad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80937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08415B9-ADA2-D5CC-62BF-0133B683E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270400"/>
              </p:ext>
            </p:extLst>
          </p:nvPr>
        </p:nvGraphicFramePr>
        <p:xfrm>
          <a:off x="6863786" y="2096839"/>
          <a:ext cx="3889095" cy="1463040"/>
        </p:xfrm>
        <a:graphic>
          <a:graphicData uri="http://schemas.openxmlformats.org/drawingml/2006/table">
            <a:tbl>
              <a:tblPr/>
              <a:tblGrid>
                <a:gridCol w="1296365">
                  <a:extLst>
                    <a:ext uri="{9D8B030D-6E8A-4147-A177-3AD203B41FA5}">
                      <a16:colId xmlns:a16="http://schemas.microsoft.com/office/drawing/2014/main" val="819568674"/>
                    </a:ext>
                  </a:extLst>
                </a:gridCol>
                <a:gridCol w="1296365">
                  <a:extLst>
                    <a:ext uri="{9D8B030D-6E8A-4147-A177-3AD203B41FA5}">
                      <a16:colId xmlns:a16="http://schemas.microsoft.com/office/drawing/2014/main" val="3031893598"/>
                    </a:ext>
                  </a:extLst>
                </a:gridCol>
                <a:gridCol w="1296365">
                  <a:extLst>
                    <a:ext uri="{9D8B030D-6E8A-4147-A177-3AD203B41FA5}">
                      <a16:colId xmlns:a16="http://schemas.microsoft.com/office/drawing/2014/main" val="1760746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From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37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Friend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137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Colleague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288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Relative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079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C6F7102-B697-0F59-1D21-0866CAB53CA9}"/>
              </a:ext>
            </a:extLst>
          </p:cNvPr>
          <p:cNvSpPr txBox="1"/>
          <p:nvPr/>
        </p:nvSpPr>
        <p:spPr>
          <a:xfrm>
            <a:off x="6863785" y="1157990"/>
            <a:ext cx="267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Edges (Relationships)</a:t>
            </a:r>
          </a:p>
        </p:txBody>
      </p:sp>
    </p:spTree>
    <p:extLst>
      <p:ext uri="{BB962C8B-B14F-4D97-AF65-F5344CB8AC3E}">
        <p14:creationId xmlns:p14="http://schemas.microsoft.com/office/powerpoint/2010/main" val="213047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9FC17A-1FCA-3295-1B54-3B30B84E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Property Graph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9BCB-6C15-EA9F-2034-07A692BB3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1170"/>
            <a:ext cx="5181600" cy="53817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org.apache.spark.graphx</a:t>
            </a:r>
            <a:r>
              <a:rPr lang="en-US" b="1" dirty="0"/>
              <a:t>._</a:t>
            </a:r>
          </a:p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org.apache.spark.rdd.RDD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Vertices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pPr marL="0" indent="0">
              <a:buNone/>
            </a:pPr>
            <a:r>
              <a:rPr lang="en-US" b="1" dirty="0"/>
              <a:t>  (1L, ("Naren Rao", "Hyderabad", 27)),</a:t>
            </a:r>
          </a:p>
          <a:p>
            <a:pPr marL="0" indent="0">
              <a:buNone/>
            </a:pPr>
            <a:r>
              <a:rPr lang="en-US" b="1" dirty="0"/>
              <a:t>  (2L, ("Rahul", "Warangal", 30)),</a:t>
            </a:r>
          </a:p>
          <a:p>
            <a:pPr marL="0" indent="0">
              <a:buNone/>
            </a:pPr>
            <a:r>
              <a:rPr lang="en-US" b="1" dirty="0"/>
              <a:t>  (3L, ("Ganesh", "Nizamabad", 28))</a:t>
            </a:r>
          </a:p>
          <a:p>
            <a:pPr marL="0" indent="0">
              <a:buNone/>
            </a:pPr>
            <a:r>
              <a:rPr lang="en-US" b="1" dirty="0"/>
              <a:t>))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Edges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pPr marL="0" indent="0">
              <a:buNone/>
            </a:pPr>
            <a:r>
              <a:rPr lang="en-US" b="1" dirty="0"/>
              <a:t>  Edge(1L, 2L, "Friend"),</a:t>
            </a:r>
          </a:p>
          <a:p>
            <a:pPr marL="0" indent="0">
              <a:buNone/>
            </a:pPr>
            <a:r>
              <a:rPr lang="en-US" b="1" dirty="0"/>
              <a:t>  Edge(2L, 3L, "Colleague"),</a:t>
            </a:r>
          </a:p>
          <a:p>
            <a:pPr marL="0" indent="0">
              <a:buNone/>
            </a:pPr>
            <a:r>
              <a:rPr lang="en-US" b="1" dirty="0"/>
              <a:t>  Edge(3L, 1L, "Relative")</a:t>
            </a:r>
          </a:p>
          <a:p>
            <a:pPr marL="0" indent="0">
              <a:buNone/>
            </a:pPr>
            <a:r>
              <a:rPr lang="en-US" b="1" dirty="0"/>
              <a:t>))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6DEB3F-1D10-6F68-EC11-83741C27C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67159"/>
            <a:ext cx="5181600" cy="5609804"/>
          </a:xfrm>
        </p:spPr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// Graph</a:t>
            </a:r>
          </a:p>
          <a:p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// Output</a:t>
            </a:r>
          </a:p>
          <a:p>
            <a:r>
              <a:rPr lang="en-US" b="1" dirty="0" err="1"/>
              <a:t>graph.vertices.collect.foreach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r>
              <a:rPr lang="en-US" b="1" dirty="0" err="1"/>
              <a:t>graph.edges.collect.foreach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Output:</a:t>
            </a:r>
          </a:p>
          <a:p>
            <a:endParaRPr lang="en-US" b="1" dirty="0"/>
          </a:p>
          <a:p>
            <a:r>
              <a:rPr lang="en-US" b="1" dirty="0"/>
              <a:t>(1,(Naren Rao,Hyderabad,27))</a:t>
            </a:r>
            <a:br>
              <a:rPr lang="en-US" b="1" dirty="0"/>
            </a:br>
            <a:r>
              <a:rPr lang="en-US" b="1" dirty="0"/>
              <a:t>(2,(Rahul,Warangal,30))</a:t>
            </a:r>
            <a:br>
              <a:rPr lang="en-US" b="1" dirty="0"/>
            </a:br>
            <a:r>
              <a:rPr lang="en-US" b="1" dirty="0"/>
              <a:t>(3,(Ganesh,Nizamabad,28))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Edge(1,2,Friend)</a:t>
            </a:r>
            <a:br>
              <a:rPr lang="en-US" b="1" dirty="0"/>
            </a:br>
            <a:r>
              <a:rPr lang="en-US" b="1" dirty="0"/>
              <a:t>Edge(2,3,Colleague)</a:t>
            </a:r>
            <a:br>
              <a:rPr lang="en-US" b="1" dirty="0"/>
            </a:br>
            <a:r>
              <a:rPr lang="en-US" b="1" dirty="0"/>
              <a:t>Edge(3,1,Relative)</a:t>
            </a:r>
          </a:p>
        </p:txBody>
      </p:sp>
    </p:spTree>
    <p:extLst>
      <p:ext uri="{BB962C8B-B14F-4D97-AF65-F5344CB8AC3E}">
        <p14:creationId xmlns:p14="http://schemas.microsoft.com/office/powerpoint/2010/main" val="83557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36389-916B-CB7B-868E-5A8A08524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18" y="266218"/>
            <a:ext cx="11087582" cy="629662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Simple Graph</a:t>
            </a:r>
          </a:p>
          <a:p>
            <a:pPr>
              <a:buNone/>
            </a:pPr>
            <a:r>
              <a:rPr lang="en-US" dirty="0"/>
              <a:t>“You only know </a:t>
            </a:r>
            <a:r>
              <a:rPr lang="en-US" b="1" dirty="0"/>
              <a:t>who is connected to whom</a:t>
            </a:r>
            <a:r>
              <a:rPr lang="en-US" dirty="0"/>
              <a:t>”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Rahul knows Ganesh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Property Graph</a:t>
            </a:r>
          </a:p>
          <a:p>
            <a:pPr>
              <a:buNone/>
            </a:pPr>
            <a:r>
              <a:rPr lang="en-US" dirty="0"/>
              <a:t>“You know </a:t>
            </a:r>
            <a:r>
              <a:rPr lang="en-US" b="1" dirty="0"/>
              <a:t>who + details about them</a:t>
            </a:r>
            <a:r>
              <a:rPr lang="en-US" dirty="0"/>
              <a:t>”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Rahul (Age 30, Warangal) knows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Ganesh (Age 28, Nizamabad)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2020 </a:t>
            </a:r>
          </a:p>
          <a:p>
            <a:r>
              <a:rPr lang="en-US" b="1" dirty="0"/>
              <a:t>One-line Difference </a:t>
            </a:r>
          </a:p>
          <a:p>
            <a:r>
              <a:rPr lang="en-US" dirty="0"/>
              <a:t>👉 </a:t>
            </a:r>
            <a:r>
              <a:rPr lang="en-US" b="1" dirty="0"/>
              <a:t>Graph = Structure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Property Graph = Structure + Data</a:t>
            </a:r>
            <a:endParaRPr lang="en-US" dirty="0"/>
          </a:p>
          <a:p>
            <a:r>
              <a:rPr lang="en-US" b="1" dirty="0"/>
              <a:t>A simple graph contains only vertices and edges representing relationships, whereas a property graph includes additional attributes for both vertices and edges, making it suitable for real-world applications like social networks.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5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3BA2-B6B2-AF98-BE5B-0C93E869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9746"/>
          </a:xfrm>
        </p:spPr>
        <p:txBody>
          <a:bodyPr/>
          <a:lstStyle/>
          <a:p>
            <a:r>
              <a:rPr lang="en-US" b="1" dirty="0"/>
              <a:t>Graph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98633-FE68-B437-D65E-357CBAE3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491"/>
            <a:ext cx="10515600" cy="49384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b="1" dirty="0"/>
              <a:t>Graph Operators</a:t>
            </a:r>
            <a:r>
              <a:rPr lang="en-US" dirty="0"/>
              <a:t> are functions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 graph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graph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 metrics </a:t>
            </a:r>
          </a:p>
          <a:p>
            <a:pPr>
              <a:buNone/>
            </a:pPr>
            <a:r>
              <a:rPr lang="en-US" dirty="0"/>
              <a:t> They work on: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Graph[VD, ED]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VD</a:t>
            </a:r>
            <a:r>
              <a:rPr lang="en-US" dirty="0"/>
              <a:t> → Vertex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ED</a:t>
            </a:r>
            <a:r>
              <a:rPr lang="en-US" dirty="0"/>
              <a:t> → Edge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520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2919-E359-AB47-E8D5-9DA7D2D7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295677"/>
            <a:ext cx="6569597" cy="757619"/>
          </a:xfrm>
        </p:spPr>
        <p:txBody>
          <a:bodyPr/>
          <a:lstStyle/>
          <a:p>
            <a:r>
              <a:rPr lang="en-US" dirty="0"/>
              <a:t>Types of Graph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44CA2C-B4A8-CABD-1026-5D9ED62CB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884143"/>
              </p:ext>
            </p:extLst>
          </p:nvPr>
        </p:nvGraphicFramePr>
        <p:xfrm>
          <a:off x="636607" y="1551008"/>
          <a:ext cx="7338349" cy="3272090"/>
        </p:xfrm>
        <a:graphic>
          <a:graphicData uri="http://schemas.openxmlformats.org/drawingml/2006/table">
            <a:tbl>
              <a:tblPr/>
              <a:tblGrid>
                <a:gridCol w="3738623">
                  <a:extLst>
                    <a:ext uri="{9D8B030D-6E8A-4147-A177-3AD203B41FA5}">
                      <a16:colId xmlns:a16="http://schemas.microsoft.com/office/drawing/2014/main" val="4294165238"/>
                    </a:ext>
                  </a:extLst>
                </a:gridCol>
                <a:gridCol w="3599726">
                  <a:extLst>
                    <a:ext uri="{9D8B030D-6E8A-4147-A177-3AD203B41FA5}">
                      <a16:colId xmlns:a16="http://schemas.microsoft.com/office/drawing/2014/main" val="2182910044"/>
                    </a:ext>
                  </a:extLst>
                </a:gridCol>
              </a:tblGrid>
              <a:tr h="65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062399"/>
                  </a:ext>
                </a:extLst>
              </a:tr>
              <a:tr h="65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1. Map Operators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Modify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63488"/>
                  </a:ext>
                </a:extLst>
              </a:tr>
              <a:tr h="65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2. Structural Operators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Change graph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34012"/>
                  </a:ext>
                </a:extLst>
              </a:tr>
              <a:tr h="65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3. Join Operators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Combine external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769703"/>
                  </a:ext>
                </a:extLst>
              </a:tr>
              <a:tr h="65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4. Aggregation Operators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Compute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5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63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67D1-DDD2-AF5C-375F-286B31A23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214654"/>
            <a:ext cx="10515600" cy="583999"/>
          </a:xfrm>
        </p:spPr>
        <p:txBody>
          <a:bodyPr>
            <a:normAutofit fontScale="90000"/>
          </a:bodyPr>
          <a:lstStyle/>
          <a:p>
            <a:r>
              <a:rPr lang="en-US" dirty="0"/>
              <a:t>Base Graph (Used for All Examples)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9D48B-1B3B-27AC-498E-9A91E378C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638" y="1145894"/>
            <a:ext cx="5828818" cy="5497452"/>
          </a:xfrm>
        </p:spPr>
        <p:txBody>
          <a:bodyPr>
            <a:normAutofit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org.apache.spark.graphx</a:t>
            </a:r>
            <a:r>
              <a:rPr lang="en-US" b="1" dirty="0"/>
              <a:t>._</a:t>
            </a:r>
            <a:br>
              <a:rPr lang="en-US" b="1" dirty="0"/>
            </a:b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// Vertices</a:t>
            </a: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(1L, ("Naren Rao", "Hyderabad", 27)),</a:t>
            </a:r>
            <a:br>
              <a:rPr lang="en-US" b="1" dirty="0"/>
            </a:br>
            <a:r>
              <a:rPr lang="en-US" b="1" dirty="0"/>
              <a:t>(2L, ("Rahul", "Warangal", 30)),</a:t>
            </a:r>
            <a:br>
              <a:rPr lang="en-US" b="1" dirty="0"/>
            </a:br>
            <a:r>
              <a:rPr lang="en-US" b="1" dirty="0"/>
              <a:t>(3L, ("Ganesh", "Nizamabad", 28))</a:t>
            </a:r>
            <a:br>
              <a:rPr lang="en-US" b="1" dirty="0"/>
            </a:br>
            <a:r>
              <a:rPr lang="en-US" b="1" dirty="0"/>
              <a:t>))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E8622-9F39-32D2-E9FC-979558CFC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6762" y="1485759"/>
            <a:ext cx="5181600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// Edges</a:t>
            </a:r>
            <a:br>
              <a:rPr lang="en-US" dirty="0"/>
            </a:br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Edge(1L, 2L, "Friend"),</a:t>
            </a:r>
            <a:br>
              <a:rPr lang="en-US" b="1" dirty="0"/>
            </a:br>
            <a:r>
              <a:rPr lang="en-US" b="1" dirty="0"/>
              <a:t>Edge(2L, 3L, "Colleague"),</a:t>
            </a:r>
            <a:br>
              <a:rPr lang="en-US" b="1" dirty="0"/>
            </a:br>
            <a:r>
              <a:rPr lang="en-US" b="1" dirty="0"/>
              <a:t>Edge(3L, 1L, "Relative")</a:t>
            </a:r>
            <a:br>
              <a:rPr lang="en-US" b="1" dirty="0"/>
            </a:br>
            <a:r>
              <a:rPr lang="en-US" b="1" dirty="0"/>
              <a:t>))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</p:txBody>
      </p:sp>
    </p:spTree>
    <p:extLst>
      <p:ext uri="{BB962C8B-B14F-4D97-AF65-F5344CB8AC3E}">
        <p14:creationId xmlns:p14="http://schemas.microsoft.com/office/powerpoint/2010/main" val="85870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C0F1-572E-787C-8B54-0D658AC0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2976"/>
          </a:xfrm>
        </p:spPr>
        <p:txBody>
          <a:bodyPr>
            <a:normAutofit fontScale="90000"/>
          </a:bodyPr>
          <a:lstStyle/>
          <a:p>
            <a:r>
              <a:rPr lang="en-US" dirty="0"/>
              <a:t>1. MAP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55123-6290-77C3-B4AC-CC3A60B0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63" y="1134319"/>
            <a:ext cx="10925537" cy="504264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1.1 </a:t>
            </a:r>
            <a:r>
              <a:rPr lang="en-US" b="1" dirty="0" err="1"/>
              <a:t>mapVertices</a:t>
            </a:r>
            <a:r>
              <a:rPr lang="en-US" b="1" dirty="0"/>
              <a:t>()</a:t>
            </a:r>
          </a:p>
          <a:p>
            <a:r>
              <a:rPr lang="en-US" b="1" dirty="0">
                <a:solidFill>
                  <a:srgbClr val="FF0000"/>
                </a:solidFill>
              </a:rPr>
              <a:t>Modify vertex data</a:t>
            </a:r>
          </a:p>
          <a:p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updatedGraph</a:t>
            </a:r>
            <a:r>
              <a:rPr lang="en-US" b="1" dirty="0"/>
              <a:t> = </a:t>
            </a:r>
            <a:r>
              <a:rPr lang="en-US" b="1" dirty="0" err="1"/>
              <a:t>graph.mapVertices</a:t>
            </a:r>
            <a:r>
              <a:rPr lang="en-US" b="1" dirty="0"/>
              <a:t> {</a:t>
            </a:r>
            <a:br>
              <a:rPr lang="en-US" b="1" dirty="0"/>
            </a:br>
            <a:r>
              <a:rPr lang="en-US" b="1" dirty="0"/>
              <a:t>case (id, (name, city, age)) =&gt; (name, city, age + 5)</a:t>
            </a:r>
            <a:br>
              <a:rPr lang="en-US" b="1" dirty="0"/>
            </a:br>
            <a:r>
              <a:rPr lang="en-US" b="1" dirty="0"/>
              <a:t>}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updatedGraph.vertices.collect.foreach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US" b="1" dirty="0"/>
              <a:t>(1,(Naren Rao,Hyderabad,32))</a:t>
            </a:r>
          </a:p>
          <a:p>
            <a:r>
              <a:rPr lang="en-US" b="1" dirty="0"/>
              <a:t>(2,(Rahul,Warangal,35))</a:t>
            </a:r>
          </a:p>
          <a:p>
            <a:r>
              <a:rPr lang="en-US" b="1" dirty="0"/>
              <a:t>(3,(Ganesh,Nizamabad,33))</a:t>
            </a:r>
          </a:p>
        </p:txBody>
      </p:sp>
    </p:spTree>
    <p:extLst>
      <p:ext uri="{BB962C8B-B14F-4D97-AF65-F5344CB8AC3E}">
        <p14:creationId xmlns:p14="http://schemas.microsoft.com/office/powerpoint/2010/main" val="403143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2059-FE84-1939-E902-7895ECCFB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10" y="567158"/>
            <a:ext cx="10809790" cy="593781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1.2 </a:t>
            </a:r>
            <a:r>
              <a:rPr lang="en-US" b="1" dirty="0" err="1">
                <a:solidFill>
                  <a:srgbClr val="FF0000"/>
                </a:solidFill>
              </a:rPr>
              <a:t>mapEdges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</a:p>
          <a:p>
            <a:r>
              <a:rPr lang="en-US" b="1" dirty="0">
                <a:solidFill>
                  <a:srgbClr val="FF0000"/>
                </a:solidFill>
              </a:rPr>
              <a:t>Modify edge data</a:t>
            </a:r>
          </a:p>
          <a:p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newEdgesGraph</a:t>
            </a:r>
            <a:r>
              <a:rPr lang="en-US" b="1" dirty="0"/>
              <a:t> = </a:t>
            </a:r>
            <a:r>
              <a:rPr lang="en-US" b="1" dirty="0" err="1"/>
              <a:t>graph.mapEdges</a:t>
            </a:r>
            <a:r>
              <a:rPr lang="en-US" b="1" dirty="0"/>
              <a:t>(edge =&gt; </a:t>
            </a:r>
            <a:r>
              <a:rPr lang="en-US" b="1" dirty="0" err="1"/>
              <a:t>edge.attr</a:t>
            </a:r>
            <a:r>
              <a:rPr lang="en-US" b="1" dirty="0"/>
              <a:t> + "_Strong")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newEdgesGraph.edges.collect.foreach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b="1" dirty="0"/>
              <a:t>Edge(1,2,Friend_Strong)</a:t>
            </a:r>
            <a:br>
              <a:rPr lang="en-US" b="1" dirty="0"/>
            </a:br>
            <a:r>
              <a:rPr lang="en-US" b="1" dirty="0"/>
              <a:t>Edge(2,3,Colleague_Strong)</a:t>
            </a:r>
            <a:br>
              <a:rPr lang="en-US" b="1" dirty="0"/>
            </a:br>
            <a:r>
              <a:rPr lang="en-US" b="1" dirty="0"/>
              <a:t>Edge(3,1,Relative_Strong)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682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7CF0-D742-2C08-852E-B09D119B1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62" y="358816"/>
            <a:ext cx="10879238" cy="618088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1.3 </a:t>
            </a:r>
            <a:r>
              <a:rPr lang="en-US" b="1" dirty="0" err="1">
                <a:solidFill>
                  <a:srgbClr val="FF0000"/>
                </a:solidFill>
              </a:rPr>
              <a:t>mapTriplets</a:t>
            </a:r>
            <a:r>
              <a:rPr lang="en-US" b="1" dirty="0">
                <a:solidFill>
                  <a:srgbClr val="FF0000"/>
                </a:solidFill>
              </a:rPr>
              <a:t>() (Important)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Access both vertex + edge data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tripletGraph</a:t>
            </a:r>
            <a:r>
              <a:rPr lang="en-US" b="1" dirty="0"/>
              <a:t> = </a:t>
            </a:r>
            <a:r>
              <a:rPr lang="en-US" b="1" dirty="0" err="1"/>
              <a:t>graph.mapTriplets</a:t>
            </a:r>
            <a:r>
              <a:rPr lang="en-US" b="1" dirty="0"/>
              <a:t>(triplet =&gt;</a:t>
            </a:r>
            <a:br>
              <a:rPr lang="en-US" b="1" dirty="0"/>
            </a:br>
            <a:r>
              <a:rPr lang="en-US" b="1" dirty="0"/>
              <a:t>  triplet.srcAttr._1 + " knows " + triplet.dstAttr._1</a:t>
            </a:r>
            <a:br>
              <a:rPr lang="en-US" b="1" dirty="0"/>
            </a:br>
            <a:r>
              <a:rPr lang="en-US" b="1" dirty="0"/>
              <a:t>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tripletGraph.edges.collect.foreach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b="1" dirty="0"/>
              <a:t>Edge(1,2,Naren Rao knows Rahul)</a:t>
            </a:r>
            <a:br>
              <a:rPr lang="en-US" b="1" dirty="0"/>
            </a:br>
            <a:r>
              <a:rPr lang="en-US" b="1" dirty="0"/>
              <a:t>Edge(2,3,Rahul knows Ganesh)</a:t>
            </a:r>
            <a:br>
              <a:rPr lang="en-US" b="1" dirty="0"/>
            </a:br>
            <a:r>
              <a:rPr lang="en-US" b="1" dirty="0"/>
              <a:t>Edge(3,1,Ganesh knows Naren Rao)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682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2220-C121-5501-AACD-598D256D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93" y="131762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2. STRUCTURAL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7B901-D49C-2ECE-5A8A-F17940CE9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91" y="1076446"/>
            <a:ext cx="10515600" cy="510051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2.1 subgraph()</a:t>
            </a:r>
          </a:p>
          <a:p>
            <a:pPr marL="0" indent="0">
              <a:buNone/>
            </a:pPr>
            <a:r>
              <a:rPr lang="en-US" b="1" dirty="0"/>
              <a:t>Filter vertices</a:t>
            </a:r>
          </a:p>
          <a:p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subGraph</a:t>
            </a:r>
            <a:r>
              <a:rPr lang="en-US" b="1" dirty="0"/>
              <a:t> = </a:t>
            </a:r>
            <a:r>
              <a:rPr lang="en-US" b="1" dirty="0" err="1"/>
              <a:t>graph.subgraph</a:t>
            </a:r>
            <a:r>
              <a:rPr lang="en-US" b="1" dirty="0"/>
              <a:t>(</a:t>
            </a:r>
            <a:r>
              <a:rPr lang="en-US" b="1" dirty="0" err="1"/>
              <a:t>vpred</a:t>
            </a:r>
            <a:r>
              <a:rPr lang="en-US" b="1" dirty="0"/>
              <a:t> = (id, </a:t>
            </a:r>
            <a:r>
              <a:rPr lang="en-US" b="1" dirty="0" err="1"/>
              <a:t>attr</a:t>
            </a:r>
            <a:r>
              <a:rPr lang="en-US" b="1" dirty="0"/>
              <a:t>) =&gt; attr._3 &gt; 28)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subGraph.vertices.collect.foreach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Output</a:t>
            </a:r>
          </a:p>
          <a:p>
            <a:r>
              <a:rPr lang="en-US" b="1" dirty="0"/>
              <a:t>(2,(Rahul,Warangal,30))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69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86332-25E6-BC48-DCF7-EAE915952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342"/>
            <a:ext cx="10515600" cy="496162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2.2 reverse()</a:t>
            </a:r>
          </a:p>
          <a:p>
            <a:pPr marL="0" indent="0">
              <a:buNone/>
            </a:pPr>
            <a:r>
              <a:rPr lang="en-US" b="1" dirty="0"/>
              <a:t> Reverse edge direction</a:t>
            </a:r>
          </a:p>
          <a:p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reversedGraph</a:t>
            </a:r>
            <a:r>
              <a:rPr lang="en-US" b="1" dirty="0"/>
              <a:t> = </a:t>
            </a:r>
            <a:r>
              <a:rPr lang="en-US" b="1" dirty="0" err="1"/>
              <a:t>graph.reverse</a:t>
            </a:r>
            <a:br>
              <a:rPr lang="en-US" b="1" dirty="0"/>
            </a:br>
            <a:r>
              <a:rPr lang="en-US" b="1" dirty="0" err="1"/>
              <a:t>reversedGraph.edges.collect.foreach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b="1" dirty="0"/>
              <a:t>Edge(2,1,Friend)</a:t>
            </a:r>
            <a:br>
              <a:rPr lang="en-US" b="1" dirty="0"/>
            </a:br>
            <a:r>
              <a:rPr lang="en-US" b="1" dirty="0"/>
              <a:t>Edge(3,2,Colleague)</a:t>
            </a:r>
            <a:br>
              <a:rPr lang="en-US" b="1" dirty="0"/>
            </a:br>
            <a:r>
              <a:rPr lang="en-US" b="1" dirty="0"/>
              <a:t>Edge(1,3,Relative)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13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D918-0F8D-A8A6-265B-A2B0A183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38" y="833376"/>
            <a:ext cx="10913962" cy="54979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4.3 union()</a:t>
            </a:r>
          </a:p>
          <a:p>
            <a:r>
              <a:rPr lang="en-US" b="1" dirty="0">
                <a:solidFill>
                  <a:srgbClr val="FF0000"/>
                </a:solidFill>
              </a:rPr>
              <a:t>Combine two graphs</a:t>
            </a:r>
          </a:p>
          <a:p>
            <a:r>
              <a:rPr lang="en-US" b="1" dirty="0" err="1"/>
              <a:t>val</a:t>
            </a:r>
            <a:r>
              <a:rPr lang="en-US" b="1" dirty="0"/>
              <a:t> graph2 = </a:t>
            </a:r>
            <a:r>
              <a:rPr lang="en-US" b="1" dirty="0" err="1"/>
              <a:t>graph.mapVertices</a:t>
            </a:r>
            <a:r>
              <a:rPr lang="en-US" b="1" dirty="0"/>
              <a:t> {</a:t>
            </a:r>
            <a:br>
              <a:rPr lang="en-US" b="1" dirty="0"/>
            </a:br>
            <a:r>
              <a:rPr lang="en-US" b="1" dirty="0"/>
              <a:t>  case (id, (name, city, age)) =&gt; (name, city, age + 1)</a:t>
            </a:r>
            <a:br>
              <a:rPr lang="en-US" b="1" dirty="0"/>
            </a:br>
            <a:r>
              <a:rPr lang="en-US" b="1" dirty="0"/>
              <a:t>}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combined = </a:t>
            </a:r>
            <a:r>
              <a:rPr lang="en-US" b="1" dirty="0" err="1"/>
              <a:t>graph.union</a:t>
            </a:r>
            <a:r>
              <a:rPr lang="en-US" b="1" dirty="0"/>
              <a:t>(graph2)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println</a:t>
            </a:r>
            <a:r>
              <a:rPr lang="en-US" b="1" dirty="0"/>
              <a:t>("Vertices count: " + </a:t>
            </a:r>
            <a:r>
              <a:rPr lang="en-US" b="1" dirty="0" err="1"/>
              <a:t>combined.vertices.count</a:t>
            </a:r>
            <a:r>
              <a:rPr lang="en-US" b="1" dirty="0"/>
              <a:t>())</a:t>
            </a:r>
          </a:p>
          <a:p>
            <a:r>
              <a:rPr lang="en-US" b="1" dirty="0"/>
              <a:t>Output</a:t>
            </a:r>
          </a:p>
          <a:p>
            <a:r>
              <a:rPr lang="en-US" b="1" dirty="0"/>
              <a:t>Vertices count: 6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572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618C-1794-3CED-B59F-CB36E20A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7" y="191506"/>
            <a:ext cx="10515600" cy="48953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3. AGGREGATION OPERATORS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0275-96D9-5F73-3B5E-CAB32ED2B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451" y="891251"/>
            <a:ext cx="5181600" cy="3102015"/>
          </a:xfrm>
        </p:spPr>
        <p:txBody>
          <a:bodyPr>
            <a:normAutofit fontScale="77500" lnSpcReduction="20000"/>
          </a:bodyPr>
          <a:lstStyle/>
          <a:p>
            <a:r>
              <a:rPr lang="en-US" sz="3100" b="1" dirty="0"/>
              <a:t>3.1 degrees()</a:t>
            </a:r>
          </a:p>
          <a:p>
            <a:pPr marL="0" indent="0">
              <a:buNone/>
            </a:pPr>
            <a:endParaRPr lang="en-US" sz="3100" b="1" dirty="0"/>
          </a:p>
          <a:p>
            <a:r>
              <a:rPr lang="en-US" sz="3100" b="1" dirty="0" err="1"/>
              <a:t>val</a:t>
            </a:r>
            <a:r>
              <a:rPr lang="en-US" sz="3100" b="1" dirty="0"/>
              <a:t> degrees = </a:t>
            </a:r>
            <a:r>
              <a:rPr lang="en-US" sz="3100" b="1" dirty="0" err="1"/>
              <a:t>graph.degrees</a:t>
            </a:r>
            <a:br>
              <a:rPr lang="en-US" sz="3100" b="1" dirty="0"/>
            </a:br>
            <a:r>
              <a:rPr lang="en-US" sz="3100" b="1" dirty="0" err="1"/>
              <a:t>degrees.collect.foreach</a:t>
            </a:r>
            <a:r>
              <a:rPr lang="en-US" sz="3100" b="1" dirty="0"/>
              <a:t>(</a:t>
            </a:r>
            <a:r>
              <a:rPr lang="en-US" sz="3100" b="1" dirty="0" err="1"/>
              <a:t>println</a:t>
            </a:r>
            <a:r>
              <a:rPr lang="en-US" sz="3100" b="1" dirty="0"/>
              <a:t>)</a:t>
            </a:r>
          </a:p>
          <a:p>
            <a:pPr marL="0" indent="0">
              <a:buNone/>
            </a:pPr>
            <a:endParaRPr lang="en-US" sz="3100" b="1" dirty="0"/>
          </a:p>
          <a:p>
            <a:pPr marL="0" indent="0">
              <a:buNone/>
            </a:pPr>
            <a:r>
              <a:rPr lang="en-US" sz="3100" b="1" dirty="0"/>
              <a:t>Output</a:t>
            </a:r>
          </a:p>
          <a:p>
            <a:r>
              <a:rPr lang="en-US" sz="3100" dirty="0"/>
              <a:t>(1,2)</a:t>
            </a:r>
            <a:br>
              <a:rPr lang="en-US" sz="3100" dirty="0"/>
            </a:br>
            <a:r>
              <a:rPr lang="en-US" sz="3100" dirty="0"/>
              <a:t>(2,2)</a:t>
            </a:r>
            <a:br>
              <a:rPr lang="en-US" sz="3100" dirty="0"/>
            </a:br>
            <a:r>
              <a:rPr lang="en-US" sz="3100" dirty="0"/>
              <a:t>(3,2)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08877-67B7-1974-5FFF-87001FA1D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7423" y="798653"/>
            <a:ext cx="6227180" cy="5378310"/>
          </a:xfrm>
        </p:spPr>
        <p:txBody>
          <a:bodyPr>
            <a:normAutofit fontScale="77500" lnSpcReduction="20000"/>
          </a:bodyPr>
          <a:lstStyle/>
          <a:p>
            <a:r>
              <a:rPr lang="en-US" sz="3100" b="1" dirty="0">
                <a:solidFill>
                  <a:srgbClr val="FF0000"/>
                </a:solidFill>
              </a:rPr>
              <a:t>3.2 </a:t>
            </a:r>
            <a:r>
              <a:rPr lang="en-US" sz="3100" b="1" dirty="0" err="1">
                <a:solidFill>
                  <a:srgbClr val="FF0000"/>
                </a:solidFill>
              </a:rPr>
              <a:t>inDegrees</a:t>
            </a:r>
            <a:r>
              <a:rPr lang="en-US" sz="31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3100" b="1" dirty="0" err="1"/>
              <a:t>graph.inDegrees.collect.foreach</a:t>
            </a:r>
            <a:r>
              <a:rPr lang="en-US" sz="3100" b="1" dirty="0"/>
              <a:t>(</a:t>
            </a:r>
            <a:r>
              <a:rPr lang="en-US" sz="3100" b="1" dirty="0" err="1"/>
              <a:t>println</a:t>
            </a:r>
            <a:r>
              <a:rPr lang="en-US" sz="3100" b="1" dirty="0"/>
              <a:t>)</a:t>
            </a:r>
          </a:p>
          <a:p>
            <a:pPr marL="0" indent="0">
              <a:buNone/>
            </a:pPr>
            <a:r>
              <a:rPr lang="en-US" sz="3100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sz="3100" b="1" dirty="0"/>
              <a:t>(1,1)</a:t>
            </a:r>
            <a:br>
              <a:rPr lang="en-US" sz="3100" b="1" dirty="0"/>
            </a:br>
            <a:r>
              <a:rPr lang="en-US" sz="3100" b="1" dirty="0"/>
              <a:t>(2,1)</a:t>
            </a:r>
            <a:br>
              <a:rPr lang="en-US" sz="3100" b="1" dirty="0"/>
            </a:br>
            <a:r>
              <a:rPr lang="en-US" sz="3100" b="1" dirty="0"/>
              <a:t>(3,1)</a:t>
            </a:r>
          </a:p>
          <a:p>
            <a:pPr marL="0" indent="0">
              <a:buNone/>
            </a:pPr>
            <a:br>
              <a:rPr lang="en-US" sz="3100" b="1" dirty="0"/>
            </a:br>
            <a:endParaRPr lang="en-US" sz="3100" b="1" dirty="0"/>
          </a:p>
          <a:p>
            <a:r>
              <a:rPr lang="en-US" sz="3100" b="1" dirty="0">
                <a:solidFill>
                  <a:srgbClr val="FF0000"/>
                </a:solidFill>
              </a:rPr>
              <a:t>3.3 </a:t>
            </a:r>
            <a:r>
              <a:rPr lang="en-US" sz="3100" b="1" dirty="0" err="1">
                <a:solidFill>
                  <a:srgbClr val="FF0000"/>
                </a:solidFill>
              </a:rPr>
              <a:t>outDegrees</a:t>
            </a:r>
            <a:r>
              <a:rPr lang="en-US" sz="31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3100" b="1" dirty="0" err="1"/>
              <a:t>graph.outDegrees.collect.foreach</a:t>
            </a:r>
            <a:r>
              <a:rPr lang="en-US" sz="3100" b="1" dirty="0"/>
              <a:t>(</a:t>
            </a:r>
            <a:r>
              <a:rPr lang="en-US" sz="3100" b="1" dirty="0" err="1"/>
              <a:t>println</a:t>
            </a:r>
            <a:r>
              <a:rPr lang="en-US" sz="3100" b="1" dirty="0"/>
              <a:t>)</a:t>
            </a:r>
          </a:p>
          <a:p>
            <a:pPr marL="0" indent="0">
              <a:buNone/>
            </a:pPr>
            <a:r>
              <a:rPr lang="en-US" sz="3100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sz="3100" b="1" dirty="0"/>
              <a:t>(1,1)</a:t>
            </a:r>
            <a:br>
              <a:rPr lang="en-US" sz="3100" b="1" dirty="0"/>
            </a:br>
            <a:r>
              <a:rPr lang="en-US" sz="3100" b="1" dirty="0"/>
              <a:t>(2,1)</a:t>
            </a:r>
            <a:br>
              <a:rPr lang="en-US" sz="3100" b="1" dirty="0"/>
            </a:br>
            <a:r>
              <a:rPr lang="en-US" sz="3100" b="1" dirty="0"/>
              <a:t>(3,1)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42A65-AA60-3499-150E-4F8F82D7E904}"/>
              </a:ext>
            </a:extLst>
          </p:cNvPr>
          <p:cNvSpPr txBox="1"/>
          <p:nvPr/>
        </p:nvSpPr>
        <p:spPr>
          <a:xfrm>
            <a:off x="546904" y="3907552"/>
            <a:ext cx="42334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Base Graph output(for reference):</a:t>
            </a:r>
          </a:p>
          <a:p>
            <a:r>
              <a:rPr lang="en-US" b="1" dirty="0"/>
              <a:t>(1,(Naren Rao,Hyderabad,27))</a:t>
            </a:r>
            <a:br>
              <a:rPr lang="en-US" b="1" dirty="0"/>
            </a:br>
            <a:r>
              <a:rPr lang="en-US" b="1" dirty="0"/>
              <a:t>(2,(Rahul,Warangal,30))</a:t>
            </a:r>
            <a:br>
              <a:rPr lang="en-US" b="1" dirty="0"/>
            </a:br>
            <a:r>
              <a:rPr lang="en-US" b="1" dirty="0"/>
              <a:t>(3,(Ganesh,Nizamabad,28))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Edge(1,2,Friend)</a:t>
            </a:r>
            <a:br>
              <a:rPr lang="en-US" b="1" dirty="0"/>
            </a:br>
            <a:r>
              <a:rPr lang="en-US" b="1" dirty="0"/>
              <a:t>Edge(2,3,Colleague)</a:t>
            </a:r>
            <a:br>
              <a:rPr lang="en-US" b="1" dirty="0"/>
            </a:br>
            <a:r>
              <a:rPr lang="en-US" b="1" dirty="0"/>
              <a:t>Edge(3,1,Relative)</a:t>
            </a:r>
          </a:p>
        </p:txBody>
      </p:sp>
    </p:spTree>
    <p:extLst>
      <p:ext uri="{BB962C8B-B14F-4D97-AF65-F5344CB8AC3E}">
        <p14:creationId xmlns:p14="http://schemas.microsoft.com/office/powerpoint/2010/main" val="393125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B586E-6D86-FF52-31A5-DADB4E59E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241" y="219919"/>
            <a:ext cx="10706581" cy="59570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3.4 reduce (Influencer)</a:t>
            </a:r>
          </a:p>
          <a:p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maxDegree</a:t>
            </a:r>
            <a:r>
              <a:rPr lang="en-US" b="1" dirty="0"/>
              <a:t> = </a:t>
            </a:r>
            <a:r>
              <a:rPr lang="en-US" b="1" dirty="0" err="1"/>
              <a:t>graph.degrees.reduce</a:t>
            </a:r>
            <a:r>
              <a:rPr lang="en-US" b="1" dirty="0"/>
              <a:t>(</a:t>
            </a:r>
            <a:br>
              <a:rPr lang="en-US" b="1" dirty="0"/>
            </a:br>
            <a:r>
              <a:rPr lang="en-US" b="1" dirty="0"/>
              <a:t>  (a, b) =&gt; if (a._2 &gt; b._2) a else b</a:t>
            </a:r>
            <a:br>
              <a:rPr lang="en-US" b="1" dirty="0"/>
            </a:br>
            <a:r>
              <a:rPr lang="en-US" b="1" dirty="0"/>
              <a:t>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println</a:t>
            </a:r>
            <a:r>
              <a:rPr lang="en-US" b="1" dirty="0"/>
              <a:t>("Influential Person: " + </a:t>
            </a:r>
            <a:r>
              <a:rPr lang="en-US" b="1" dirty="0" err="1"/>
              <a:t>maxDegree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 Output</a:t>
            </a:r>
          </a:p>
          <a:p>
            <a:r>
              <a:rPr lang="en-US" b="1" dirty="0"/>
              <a:t>Influential Person: (1,2)</a:t>
            </a:r>
          </a:p>
          <a:p>
            <a:pPr lvl="8"/>
            <a:r>
              <a:rPr lang="en-US" b="1" dirty="0"/>
              <a:t>(1,(Naren Rao,Hyderabad,27))</a:t>
            </a:r>
            <a:br>
              <a:rPr lang="en-US" b="1" dirty="0"/>
            </a:br>
            <a:r>
              <a:rPr lang="en-US" b="1" dirty="0"/>
              <a:t>(2,(Rahul,Warangal,30))</a:t>
            </a:r>
            <a:br>
              <a:rPr lang="en-US" b="1" dirty="0"/>
            </a:br>
            <a:r>
              <a:rPr lang="en-US" b="1" dirty="0"/>
              <a:t>(3,(Ganesh,Nizamabad,28)) </a:t>
            </a:r>
          </a:p>
          <a:p>
            <a:pPr lvl="8"/>
            <a:r>
              <a:rPr lang="en-US" b="1" dirty="0"/>
              <a:t>Edge(1,2,Friend)</a:t>
            </a:r>
            <a:br>
              <a:rPr lang="en-US" b="1" dirty="0"/>
            </a:br>
            <a:r>
              <a:rPr lang="en-US" b="1" dirty="0"/>
              <a:t>Edge(2,3,Colleague)</a:t>
            </a:r>
            <a:br>
              <a:rPr lang="en-US" b="1" dirty="0"/>
            </a:br>
            <a:r>
              <a:rPr lang="en-US" b="1" dirty="0"/>
              <a:t>Edge(3,1,Relative)</a:t>
            </a:r>
          </a:p>
        </p:txBody>
      </p:sp>
    </p:spTree>
    <p:extLst>
      <p:ext uri="{BB962C8B-B14F-4D97-AF65-F5344CB8AC3E}">
        <p14:creationId xmlns:p14="http://schemas.microsoft.com/office/powerpoint/2010/main" val="2771860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E074-21F9-1DF6-44E7-6AB938F8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486"/>
            <a:ext cx="10515600" cy="514551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4. JOIN OPERATORS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D253-F79C-EE0A-443F-09D905F5D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218" y="681037"/>
            <a:ext cx="11458936" cy="54959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0000"/>
                </a:solidFill>
              </a:rPr>
              <a:t> </a:t>
            </a:r>
            <a:r>
              <a:rPr lang="en-US" sz="3100" b="1" dirty="0" err="1">
                <a:solidFill>
                  <a:srgbClr val="FF0000"/>
                </a:solidFill>
              </a:rPr>
              <a:t>outerJoinVertices</a:t>
            </a:r>
            <a:r>
              <a:rPr lang="en-US" sz="31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b="1" dirty="0"/>
              <a:t>Add external data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extraData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  (1L, "Engineer"),</a:t>
            </a:r>
            <a:br>
              <a:rPr lang="en-US" b="1" dirty="0"/>
            </a:br>
            <a:r>
              <a:rPr lang="en-US" b="1" dirty="0"/>
              <a:t>  (2L, "Manager"),</a:t>
            </a:r>
            <a:br>
              <a:rPr lang="en-US" b="1" dirty="0"/>
            </a:br>
            <a:r>
              <a:rPr lang="en-US" b="1" dirty="0"/>
              <a:t>  (3L, "Student")</a:t>
            </a:r>
            <a:br>
              <a:rPr lang="en-US" b="1" dirty="0"/>
            </a:br>
            <a:r>
              <a:rPr lang="en-US" b="1" dirty="0"/>
              <a:t>))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joinedGraph</a:t>
            </a:r>
            <a:r>
              <a:rPr lang="en-US" b="1" dirty="0"/>
              <a:t> = </a:t>
            </a:r>
            <a:r>
              <a:rPr lang="en-US" b="1" dirty="0" err="1"/>
              <a:t>graph.</a:t>
            </a:r>
            <a:r>
              <a:rPr lang="en-US" b="1" dirty="0" err="1">
                <a:solidFill>
                  <a:srgbClr val="FF0000"/>
                </a:solidFill>
              </a:rPr>
              <a:t>outerJoinVertices</a:t>
            </a:r>
            <a:r>
              <a:rPr lang="en-US" b="1" dirty="0"/>
              <a:t>(</a:t>
            </a:r>
            <a:r>
              <a:rPr lang="en-US" b="1" dirty="0" err="1"/>
              <a:t>extraData</a:t>
            </a:r>
            <a:r>
              <a:rPr lang="en-US" b="1" dirty="0"/>
              <a:t>) {</a:t>
            </a:r>
            <a:br>
              <a:rPr lang="en-US" b="1" dirty="0"/>
            </a:br>
            <a:r>
              <a:rPr lang="en-US" b="1" dirty="0"/>
              <a:t>  case (id, (name, city, age), job) =&gt;</a:t>
            </a:r>
            <a:br>
              <a:rPr lang="en-US" b="1" dirty="0"/>
            </a:br>
            <a:r>
              <a:rPr lang="en-US" b="1" dirty="0"/>
              <a:t>    (name, city, age, </a:t>
            </a:r>
            <a:r>
              <a:rPr lang="en-US" b="1" dirty="0" err="1"/>
              <a:t>job.getOrElse</a:t>
            </a:r>
            <a:r>
              <a:rPr lang="en-US" b="1" dirty="0"/>
              <a:t>("Unknown"))</a:t>
            </a:r>
            <a:br>
              <a:rPr lang="en-US" b="1" dirty="0"/>
            </a:br>
            <a:r>
              <a:rPr lang="en-US" b="1" dirty="0"/>
              <a:t>}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joinedGraph.vertices.collect.foreach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b="1" dirty="0"/>
              <a:t>(1,(NarenRao,Hyderabad,27,Engineer))</a:t>
            </a:r>
            <a:br>
              <a:rPr lang="en-US" b="1" dirty="0"/>
            </a:br>
            <a:r>
              <a:rPr lang="en-US" b="1" dirty="0"/>
              <a:t>(2,(Rahul,Warangal,30,Manager))</a:t>
            </a:r>
            <a:br>
              <a:rPr lang="en-US" b="1" dirty="0"/>
            </a:br>
            <a:r>
              <a:rPr lang="en-US" b="1" dirty="0"/>
              <a:t>(3,(Ganesh,Nizamabad,28,Student))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3661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DB7A73-22D5-9D45-FD74-B34B1B55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</a:t>
            </a:r>
            <a:r>
              <a:rPr lang="en-US" b="1" dirty="0"/>
              <a:t> Triplets (important)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9A32A-CDA1-A810-E984-B84116CCE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238"/>
            <a:ext cx="10515600" cy="4822725"/>
          </a:xfrm>
        </p:spPr>
        <p:txBody>
          <a:bodyPr/>
          <a:lstStyle/>
          <a:p>
            <a:r>
              <a:rPr lang="en-US" b="1" dirty="0"/>
              <a:t> Triplet = (Source Vertex + Edge + Destination Vertex)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b="1" dirty="0" err="1"/>
              <a:t>graph.triplets.collect.foreach</a:t>
            </a:r>
            <a:r>
              <a:rPr lang="en-US" b="1" dirty="0"/>
              <a:t>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b="1" dirty="0"/>
              <a:t>((1,(Naren Rao,Hyderabad,27)),2,(Rahul,Warangal,30),Friend)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8417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6379-02AC-3D43-7FF6-EADC68F5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3528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about graph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498DC7-12B6-96CC-012E-7C19406C0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262539"/>
              </p:ext>
            </p:extLst>
          </p:nvPr>
        </p:nvGraphicFramePr>
        <p:xfrm>
          <a:off x="1914645" y="1621649"/>
          <a:ext cx="8282651" cy="3691672"/>
        </p:xfrm>
        <a:graphic>
          <a:graphicData uri="http://schemas.openxmlformats.org/drawingml/2006/table">
            <a:tbl>
              <a:tblPr/>
              <a:tblGrid>
                <a:gridCol w="3988444">
                  <a:extLst>
                    <a:ext uri="{9D8B030D-6E8A-4147-A177-3AD203B41FA5}">
                      <a16:colId xmlns:a16="http://schemas.microsoft.com/office/drawing/2014/main" val="3954296710"/>
                    </a:ext>
                  </a:extLst>
                </a:gridCol>
                <a:gridCol w="4294207">
                  <a:extLst>
                    <a:ext uri="{9D8B030D-6E8A-4147-A177-3AD203B41FA5}">
                      <a16:colId xmlns:a16="http://schemas.microsoft.com/office/drawing/2014/main" val="2695553524"/>
                    </a:ext>
                  </a:extLst>
                </a:gridCol>
              </a:tblGrid>
              <a:tr h="51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Real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92119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</a:rPr>
                        <a:t>mapVertices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Update user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436383"/>
                  </a:ext>
                </a:extLst>
              </a:tr>
              <a:tr h="58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</a:rPr>
                        <a:t>mapEdges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Update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065591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subgraph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Filter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17928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degrees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Find influencers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508442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reverse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Reverse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04427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Add external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89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110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1509-B827-C850-5AFB-C407ED21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Distributed Graph (in </a:t>
            </a:r>
            <a:r>
              <a:rPr lang="en-US" b="1" dirty="0" err="1"/>
              <a:t>GraphX</a:t>
            </a:r>
            <a:r>
              <a:rPr lang="en-US" b="1" dirty="0"/>
              <a:t>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D084-281C-7D1C-9279-AC3B3C3E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Distributed Graph</a:t>
            </a:r>
            <a:r>
              <a:rPr lang="en-US" dirty="0"/>
              <a:t> is a graph whose </a:t>
            </a:r>
            <a:r>
              <a:rPr lang="en-US" b="1" dirty="0"/>
              <a:t>vertices and edges are partitioned and processed across multiple machines (cluster nodes)</a:t>
            </a:r>
            <a:r>
              <a:rPr lang="en-US" dirty="0"/>
              <a:t> using Apache Spark.</a:t>
            </a:r>
          </a:p>
          <a:p>
            <a:r>
              <a:rPr lang="en-US" b="1" dirty="0">
                <a:solidFill>
                  <a:srgbClr val="FF0000"/>
                </a:solidFill>
              </a:rPr>
              <a:t>Key Idea</a:t>
            </a:r>
          </a:p>
          <a:p>
            <a:pPr marL="0" indent="0">
              <a:buNone/>
            </a:pPr>
            <a:r>
              <a:rPr lang="en-US" dirty="0"/>
              <a:t> Instead of storing the graph in one system:</a:t>
            </a:r>
          </a:p>
          <a:p>
            <a:r>
              <a:rPr lang="en-US" dirty="0"/>
              <a:t>Data is split into parts </a:t>
            </a:r>
          </a:p>
          <a:p>
            <a:r>
              <a:rPr lang="en-US" dirty="0"/>
              <a:t>Each part runs on different machines </a:t>
            </a:r>
          </a:p>
          <a:p>
            <a:r>
              <a:rPr lang="en-US" dirty="0"/>
              <a:t>Computation happens </a:t>
            </a:r>
            <a:r>
              <a:rPr lang="en-US" b="1" dirty="0"/>
              <a:t>in parallel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1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09ACC-DFE3-5DBF-D7A4-8FAAF682D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08" y="555585"/>
            <a:ext cx="10717192" cy="56213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2. How </a:t>
            </a:r>
            <a:r>
              <a:rPr lang="en-US" b="1" dirty="0" err="1"/>
              <a:t>GraphX</a:t>
            </a:r>
            <a:r>
              <a:rPr lang="en-US" b="1" dirty="0"/>
              <a:t> Represents Distributed Graph</a:t>
            </a:r>
          </a:p>
          <a:p>
            <a:r>
              <a:rPr lang="en-US" dirty="0" err="1"/>
              <a:t>GraphX</a:t>
            </a:r>
            <a:r>
              <a:rPr lang="en-US" dirty="0"/>
              <a:t> internally stores graph as:</a:t>
            </a:r>
          </a:p>
          <a:p>
            <a:pPr marL="0" indent="0">
              <a:buNone/>
            </a:pPr>
            <a:r>
              <a:rPr lang="en-US" dirty="0"/>
              <a:t>              Graph[VD, ED]</a:t>
            </a:r>
          </a:p>
          <a:p>
            <a:pPr marL="0" indent="0">
              <a:buNone/>
            </a:pPr>
            <a:r>
              <a:rPr lang="en-US" dirty="0"/>
              <a:t>Which is actually:</a:t>
            </a:r>
          </a:p>
          <a:p>
            <a:r>
              <a:rPr lang="en-US" b="1" dirty="0" err="1"/>
              <a:t>VertexRDD</a:t>
            </a:r>
            <a:r>
              <a:rPr lang="en-US" b="1" dirty="0"/>
              <a:t>[VD]</a:t>
            </a:r>
            <a:r>
              <a:rPr lang="en-US" dirty="0"/>
              <a:t> → distributed vertices </a:t>
            </a:r>
          </a:p>
          <a:p>
            <a:r>
              <a:rPr lang="en-US" b="1" dirty="0" err="1"/>
              <a:t>EdgeRDD</a:t>
            </a:r>
            <a:r>
              <a:rPr lang="en-US" b="1" dirty="0"/>
              <a:t>[ED]</a:t>
            </a:r>
            <a:r>
              <a:rPr lang="en-US" dirty="0"/>
              <a:t> → distributed edges </a:t>
            </a:r>
          </a:p>
          <a:p>
            <a:r>
              <a:rPr lang="en-US" dirty="0"/>
              <a:t> Both are </a:t>
            </a:r>
            <a:r>
              <a:rPr lang="en-US" b="1" dirty="0"/>
              <a:t>RDDs (distributed datasets)</a:t>
            </a:r>
          </a:p>
          <a:p>
            <a:r>
              <a:rPr lang="en-US" dirty="0">
                <a:solidFill>
                  <a:srgbClr val="FF0000"/>
                </a:solidFill>
              </a:rPr>
              <a:t>Conclusion on Definition:</a:t>
            </a:r>
          </a:p>
          <a:p>
            <a:pPr marL="0" indent="0">
              <a:buNone/>
            </a:pPr>
            <a:r>
              <a:rPr lang="en-US" dirty="0"/>
              <a:t>Distributed Graph means:</a:t>
            </a:r>
          </a:p>
          <a:p>
            <a:r>
              <a:rPr lang="en-US" dirty="0"/>
              <a:t>Graph data is </a:t>
            </a:r>
            <a:r>
              <a:rPr lang="en-US" b="1" dirty="0"/>
              <a:t>partitioned across cluster</a:t>
            </a:r>
            <a:r>
              <a:rPr lang="en-US" dirty="0"/>
              <a:t> </a:t>
            </a:r>
          </a:p>
          <a:p>
            <a:r>
              <a:rPr lang="en-US" dirty="0"/>
              <a:t>Uses </a:t>
            </a:r>
            <a:r>
              <a:rPr lang="en-US" b="1" dirty="0"/>
              <a:t>RDDs</a:t>
            </a:r>
            <a:r>
              <a:rPr lang="en-US" dirty="0"/>
              <a:t> </a:t>
            </a:r>
          </a:p>
          <a:p>
            <a:r>
              <a:rPr lang="en-US" dirty="0"/>
              <a:t>Enables </a:t>
            </a:r>
            <a:r>
              <a:rPr lang="en-US" b="1" dirty="0"/>
              <a:t>parallel graph processing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64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F64A-6730-D2DB-3267-B9117025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880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A79C99-B0DE-1838-3985-681DEF392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502003"/>
              </p:ext>
            </p:extLst>
          </p:nvPr>
        </p:nvGraphicFramePr>
        <p:xfrm>
          <a:off x="653005" y="1117412"/>
          <a:ext cx="5095756" cy="1828800"/>
        </p:xfrm>
        <a:graphic>
          <a:graphicData uri="http://schemas.openxmlformats.org/drawingml/2006/table">
            <a:tbl>
              <a:tblPr/>
              <a:tblGrid>
                <a:gridCol w="2547878">
                  <a:extLst>
                    <a:ext uri="{9D8B030D-6E8A-4147-A177-3AD203B41FA5}">
                      <a16:colId xmlns:a16="http://schemas.microsoft.com/office/drawing/2014/main" val="44842145"/>
                    </a:ext>
                  </a:extLst>
                </a:gridCol>
                <a:gridCol w="2547878">
                  <a:extLst>
                    <a:ext uri="{9D8B030D-6E8A-4147-A177-3AD203B41FA5}">
                      <a16:colId xmlns:a16="http://schemas.microsoft.com/office/drawing/2014/main" val="3522941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34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Naren Rao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296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Warangal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487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Ganesh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Nizamabad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0573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A0DA3D-A939-021A-ECA6-014328C2763A}"/>
              </a:ext>
            </a:extLst>
          </p:cNvPr>
          <p:cNvSpPr txBox="1"/>
          <p:nvPr/>
        </p:nvSpPr>
        <p:spPr>
          <a:xfrm>
            <a:off x="6102753" y="1117412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Connections: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Naren Rao → Rahul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Rahul → Ganesh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27D0B3-ED3D-8517-3199-93B840AE4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370681"/>
              </p:ext>
            </p:extLst>
          </p:nvPr>
        </p:nvGraphicFramePr>
        <p:xfrm>
          <a:off x="1828801" y="4312948"/>
          <a:ext cx="6094070" cy="1554480"/>
        </p:xfrm>
        <a:graphic>
          <a:graphicData uri="http://schemas.openxmlformats.org/drawingml/2006/table">
            <a:tbl>
              <a:tblPr/>
              <a:tblGrid>
                <a:gridCol w="3026211">
                  <a:extLst>
                    <a:ext uri="{9D8B030D-6E8A-4147-A177-3AD203B41FA5}">
                      <a16:colId xmlns:a16="http://schemas.microsoft.com/office/drawing/2014/main" val="1167540324"/>
                    </a:ext>
                  </a:extLst>
                </a:gridCol>
                <a:gridCol w="3067859">
                  <a:extLst>
                    <a:ext uri="{9D8B030D-6E8A-4147-A177-3AD203B41FA5}">
                      <a16:colId xmlns:a16="http://schemas.microsoft.com/office/drawing/2014/main" val="3039622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Machine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Machine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70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Naren Rao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74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Edge(1→2)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Edge(2→3)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0196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E837C7-EA70-FBC3-749B-694CBDC2B62D}"/>
              </a:ext>
            </a:extLst>
          </p:cNvPr>
          <p:cNvSpPr txBox="1"/>
          <p:nvPr/>
        </p:nvSpPr>
        <p:spPr>
          <a:xfrm>
            <a:off x="653005" y="3289359"/>
            <a:ext cx="1031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Distributed View: </a:t>
            </a:r>
            <a:r>
              <a:rPr lang="en-US" sz="3600" dirty="0"/>
              <a:t>Graph is </a:t>
            </a:r>
            <a:r>
              <a:rPr lang="en-US" sz="3600" b="1" dirty="0"/>
              <a:t>split across machines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204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5E9112-A6CB-C220-6D41-9BB671D0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850"/>
          </a:xfrm>
        </p:spPr>
        <p:txBody>
          <a:bodyPr>
            <a:normAutofit fontScale="90000"/>
          </a:bodyPr>
          <a:lstStyle/>
          <a:p>
            <a:r>
              <a:rPr lang="en-US" dirty="0"/>
              <a:t>Scala Program (spark-shell)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811187-69E3-3E04-71EB-BFCAE66B4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342"/>
            <a:ext cx="5181600" cy="496162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org.apache.spark.graphx</a:t>
            </a:r>
            <a:r>
              <a:rPr lang="en-US" b="1" dirty="0"/>
              <a:t>._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Large distributed vertices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</a:t>
            </a:r>
          </a:p>
          <a:p>
            <a:pPr marL="0" indent="0">
              <a:buNone/>
            </a:pPr>
            <a:r>
              <a:rPr lang="en-US" b="1" dirty="0"/>
              <a:t>  (1L to 1000000L).map(id =&gt;</a:t>
            </a:r>
          </a:p>
          <a:p>
            <a:pPr marL="0" indent="0">
              <a:buNone/>
            </a:pPr>
            <a:r>
              <a:rPr lang="en-US" b="1" dirty="0"/>
              <a:t>    (id, ("User" + id, "Telangana", 25))</a:t>
            </a:r>
          </a:p>
          <a:p>
            <a:pPr marL="0" indent="0">
              <a:buNone/>
            </a:pPr>
            <a:r>
              <a:rPr lang="en-US" b="1" dirty="0"/>
              <a:t>  )</a:t>
            </a:r>
          </a:p>
          <a:p>
            <a:pPr marL="0" indent="0">
              <a:buNone/>
            </a:pP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Large distributed edges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</a:t>
            </a:r>
          </a:p>
          <a:p>
            <a:pPr marL="0" indent="0">
              <a:buNone/>
            </a:pPr>
            <a:r>
              <a:rPr lang="en-US" b="1" dirty="0"/>
              <a:t>  (1L to 999999L).map(id =&gt;</a:t>
            </a:r>
          </a:p>
          <a:p>
            <a:pPr marL="0" indent="0">
              <a:buNone/>
            </a:pPr>
            <a:r>
              <a:rPr lang="en-US" b="1" dirty="0"/>
              <a:t>    Edge(id, id + 1, "connected")</a:t>
            </a:r>
          </a:p>
          <a:p>
            <a:pPr marL="0" indent="0">
              <a:buNone/>
            </a:pPr>
            <a:r>
              <a:rPr lang="en-US" b="1" dirty="0"/>
              <a:t>  ) </a:t>
            </a:r>
          </a:p>
          <a:p>
            <a:pPr marL="0" indent="0">
              <a:buNone/>
            </a:pPr>
            <a:r>
              <a:rPr lang="en-US" b="1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79175-A135-CC5B-A3FB-7C164667E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41722"/>
            <a:ext cx="5181600" cy="51352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// Create graph</a:t>
            </a:r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graph = Graph(vertices, edges)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// Operations</a:t>
            </a:r>
          </a:p>
          <a:p>
            <a:pPr marL="0" indent="0">
              <a:buNone/>
            </a:pPr>
            <a:r>
              <a:rPr lang="en-US" dirty="0" err="1"/>
              <a:t>println</a:t>
            </a:r>
            <a:r>
              <a:rPr lang="en-US" dirty="0"/>
              <a:t>("Total Users: " + </a:t>
            </a:r>
            <a:r>
              <a:rPr lang="en-US" dirty="0" err="1"/>
              <a:t>graph.vertices.count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 err="1"/>
              <a:t>println</a:t>
            </a:r>
            <a:r>
              <a:rPr lang="en-US" dirty="0"/>
              <a:t>("Total Connections: " + </a:t>
            </a:r>
            <a:r>
              <a:rPr lang="en-US" dirty="0" err="1"/>
              <a:t>graph.edges.count</a:t>
            </a:r>
            <a:r>
              <a:rPr lang="en-US" dirty="0"/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pPr marL="0" indent="0">
              <a:buNone/>
            </a:pPr>
            <a:r>
              <a:rPr lang="en-US" dirty="0"/>
              <a:t>Total Users: 1000000</a:t>
            </a:r>
            <a:br>
              <a:rPr lang="en-US" dirty="0"/>
            </a:br>
            <a:r>
              <a:rPr lang="en-US" dirty="0"/>
              <a:t>Total Connections: 999999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50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9E16A-9871-8639-9E26-99521304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F7D4-099B-1328-30CF-A77458A837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Step 1: Create Vertices</a:t>
            </a:r>
          </a:p>
          <a:p>
            <a:r>
              <a:rPr lang="en-US" dirty="0"/>
              <a:t>(1L to 1000000L).map(...)</a:t>
            </a:r>
          </a:p>
          <a:p>
            <a:r>
              <a:rPr lang="en-US" dirty="0">
                <a:solidFill>
                  <a:srgbClr val="FF0000"/>
                </a:solidFill>
              </a:rPr>
              <a:t> Creates </a:t>
            </a:r>
            <a:r>
              <a:rPr lang="en-US" b="1" dirty="0">
                <a:solidFill>
                  <a:srgbClr val="FF0000"/>
                </a:solidFill>
              </a:rPr>
              <a:t>1 million users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/>
              <a:t>User1 </a:t>
            </a:r>
          </a:p>
          <a:p>
            <a:r>
              <a:rPr lang="en-US" dirty="0"/>
              <a:t>User2 </a:t>
            </a:r>
          </a:p>
          <a:p>
            <a:r>
              <a:rPr lang="en-US" dirty="0"/>
              <a:t>… 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Distributed across cluster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A2B36A-82E3-B1A4-550A-8D7AF13B6F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Step 2: Create Edges</a:t>
            </a:r>
          </a:p>
          <a:p>
            <a:r>
              <a:rPr lang="en-US" dirty="0"/>
              <a:t>Edge(id, id + 1, "connected")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Creates connections like:</a:t>
            </a:r>
          </a:p>
          <a:p>
            <a:r>
              <a:rPr lang="en-US" dirty="0"/>
              <a:t>User1 → User2 </a:t>
            </a:r>
          </a:p>
          <a:p>
            <a:r>
              <a:rPr lang="en-US" dirty="0"/>
              <a:t>User2 → User3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745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0AF6A5-59BC-1BAE-6A33-46E80A89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0DBF31-7D9A-309B-A1F6-B022145454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3: Graph Creation</a:t>
            </a:r>
          </a:p>
          <a:p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GraphX</a:t>
            </a:r>
            <a:r>
              <a:rPr lang="en-US" b="1" dirty="0">
                <a:solidFill>
                  <a:srgbClr val="FF0000"/>
                </a:solidFill>
              </a:rPr>
              <a:t> internally:</a:t>
            </a:r>
          </a:p>
          <a:p>
            <a:r>
              <a:rPr lang="en-US" b="1" dirty="0"/>
              <a:t>Splits vertices across nodes </a:t>
            </a:r>
          </a:p>
          <a:p>
            <a:r>
              <a:rPr lang="en-US" b="1" dirty="0"/>
              <a:t>Splits edges across nodes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87A85-273B-6B1B-FDCF-A0C0BB0C66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Step 4: Count</a:t>
            </a:r>
          </a:p>
          <a:p>
            <a:r>
              <a:rPr lang="en-US" b="1" dirty="0" err="1"/>
              <a:t>graph.vertices.count</a:t>
            </a:r>
            <a:r>
              <a:rPr lang="en-US" b="1" dirty="0"/>
              <a:t>()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 </a:t>
            </a:r>
            <a:r>
              <a:rPr lang="en-US" b="1" dirty="0"/>
              <a:t>Distributed computation happens</a:t>
            </a:r>
          </a:p>
          <a:p>
            <a:r>
              <a:rPr lang="en-US" b="1" dirty="0"/>
              <a:t>Each node counts its partition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40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5A38B6-0DB4-99A4-47C3-7F02D8D5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Distributed Graph is Needed?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2A5484-7642-04F7-CD92-A2006D1D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Problem (Single Machine)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handle: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Millions of users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Billions of connections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 Solution (Distributed Graph)</a:t>
            </a:r>
          </a:p>
          <a:p>
            <a:pPr>
              <a:buNone/>
            </a:pPr>
            <a:r>
              <a:rPr lang="en-US" dirty="0"/>
              <a:t>✔ Parallel processing</a:t>
            </a:r>
            <a:br>
              <a:rPr lang="en-US" dirty="0"/>
            </a:br>
            <a:r>
              <a:rPr lang="en-US" dirty="0"/>
              <a:t>✔ Scalable</a:t>
            </a:r>
            <a:br>
              <a:rPr lang="en-US" dirty="0"/>
            </a:br>
            <a:r>
              <a:rPr lang="en-US" dirty="0"/>
              <a:t>✔ Fault-tolerant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9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1946</Words>
  <Application>Microsoft Office PowerPoint</Application>
  <PresentationFormat>Widescreen</PresentationFormat>
  <Paragraphs>303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Courier New</vt:lpstr>
      <vt:lpstr>Office Theme</vt:lpstr>
      <vt:lpstr>Graph Analytics- Property Graph, Graph Operators, Distributed Graph</vt:lpstr>
      <vt:lpstr>Property Graphs</vt:lpstr>
      <vt:lpstr>PowerPoint Presentation</vt:lpstr>
      <vt:lpstr>PowerPoint Presentation</vt:lpstr>
      <vt:lpstr>Property Graph Example:</vt:lpstr>
      <vt:lpstr>PowerPoint Presentation</vt:lpstr>
      <vt:lpstr>Graph Operators</vt:lpstr>
      <vt:lpstr>Types of Graph Operators</vt:lpstr>
      <vt:lpstr>Base Graph (Used for All Examples)</vt:lpstr>
      <vt:lpstr>1. MAP OPERATORS</vt:lpstr>
      <vt:lpstr>PowerPoint Presentation</vt:lpstr>
      <vt:lpstr>PowerPoint Presentation</vt:lpstr>
      <vt:lpstr>2. STRUCTURAL OPERATORS</vt:lpstr>
      <vt:lpstr>PowerPoint Presentation</vt:lpstr>
      <vt:lpstr>PowerPoint Presentation</vt:lpstr>
      <vt:lpstr> 3. AGGREGATION OPERATORS </vt:lpstr>
      <vt:lpstr>PowerPoint Presentation</vt:lpstr>
      <vt:lpstr> 4. JOIN OPERATORS </vt:lpstr>
      <vt:lpstr>5. Triplets (important) </vt:lpstr>
      <vt:lpstr>Summary about graph operators</vt:lpstr>
      <vt:lpstr>Distributed Graph (in GraphX) </vt:lpstr>
      <vt:lpstr>PowerPoint Presentation</vt:lpstr>
      <vt:lpstr>Example</vt:lpstr>
      <vt:lpstr>Scala Program (spark-shell)</vt:lpstr>
      <vt:lpstr>PowerPoint Presentation</vt:lpstr>
      <vt:lpstr>PowerPoint Presentation</vt:lpstr>
      <vt:lpstr>Why Distributed Graph is Needed?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N.Sudhakar Yadav</dc:creator>
  <cp:lastModifiedBy>Dr. N.Sudhakar Yadav</cp:lastModifiedBy>
  <cp:revision>6</cp:revision>
  <dcterms:created xsi:type="dcterms:W3CDTF">2026-04-17T04:26:58Z</dcterms:created>
  <dcterms:modified xsi:type="dcterms:W3CDTF">2026-04-17T05:13:57Z</dcterms:modified>
</cp:coreProperties>
</file>