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81" r:id="rId5"/>
    <p:sldId id="258" r:id="rId6"/>
    <p:sldId id="259" r:id="rId7"/>
    <p:sldId id="260" r:id="rId8"/>
    <p:sldId id="277" r:id="rId9"/>
    <p:sldId id="278" r:id="rId10"/>
    <p:sldId id="279" r:id="rId11"/>
    <p:sldId id="280" r:id="rId12"/>
    <p:sldId id="261" r:id="rId13"/>
    <p:sldId id="262" r:id="rId14"/>
    <p:sldId id="292" r:id="rId15"/>
    <p:sldId id="282" r:id="rId16"/>
    <p:sldId id="283" r:id="rId17"/>
    <p:sldId id="294" r:id="rId18"/>
    <p:sldId id="293" r:id="rId19"/>
    <p:sldId id="284" r:id="rId20"/>
    <p:sldId id="295" r:id="rId21"/>
    <p:sldId id="275" r:id="rId22"/>
    <p:sldId id="296" r:id="rId23"/>
    <p:sldId id="285" r:id="rId24"/>
    <p:sldId id="297" r:id="rId25"/>
    <p:sldId id="286" r:id="rId26"/>
    <p:sldId id="287" r:id="rId27"/>
    <p:sldId id="288" r:id="rId28"/>
    <p:sldId id="298" r:id="rId29"/>
    <p:sldId id="289" r:id="rId30"/>
    <p:sldId id="290" r:id="rId31"/>
    <p:sldId id="299" r:id="rId32"/>
    <p:sldId id="291" r:id="rId33"/>
    <p:sldId id="300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9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5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3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5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6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6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9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5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4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60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44B9-043C-12E5-E0A3-CFF435C5F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9B3F9-A89C-9F02-EE04-61D811E88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43368-6781-DCD6-D731-C3AACD0E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A7A50-2D16-D611-DD5C-CD9674B0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DB78-66FC-85A4-8633-35C53786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81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F2EE-B2BC-CF95-774F-B341AD51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3571-A25E-8DD9-DE48-F3446B529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34C5F-5E0F-3DC9-72B3-F5EAE230A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D4A42-24FD-5AB9-E143-25A607E6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2D62-7016-A178-710B-B94F4E76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69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E398-A3FF-BB8E-60D6-1412EADC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677FE-5A4B-0C47-3E3B-26916B68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6DE9F-3F22-3469-F992-6D66D622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540BB-D9F7-C28F-B6CB-CD99465D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55E29-0DE2-F65A-BC5B-BCF312C3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5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AC70-C5D4-C515-BC6C-D94B8032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ECD36-6BB1-0AA5-608B-76BD883B9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8856-E8C5-64AE-4EC8-D1722D74E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534E7-5164-23CD-4FCD-D2E7A513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F81E-32D1-B127-4DD1-D5D160D0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C3DE5-C5C6-8680-B1C8-D326F7E3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57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84B2-21C7-6BD1-BC33-E8527A05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FFAB9-70DD-9D49-6772-B449DC5F5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75597-6B15-9F4D-E172-8E70214F6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60BDF-CB82-19DC-016A-6764F9699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EE64F-BDCD-32BF-9182-B317DB47E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9EF33-9953-B203-4D53-9F7B8252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F5BC99-CC8C-1CDA-0978-6B5B950E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5F384-64A1-218A-EE2D-64B3F21B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45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19C95-75FD-4ED5-3F19-D254C169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1F718-E3C7-BE42-87F0-53AE40D9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220A6-FBF3-55D0-E6DC-CFF230C2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35ED1-E177-9516-4A42-C719FCB1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82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9959A-2493-30DF-194B-90F6C003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08FB8-A14A-5544-0E2A-A7B2FD04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C4432-E09E-46E3-F236-EE0BE53B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922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52D07-83BC-E635-AB53-5E6EAC74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DFC5-86FB-FB5F-EE59-6DBF5E2B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D4CB0-453D-2216-81A2-2830D241F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37701-BF71-7C7F-06AD-76AEE6C3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9A823-4B23-189B-06C2-C9F6D3F1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4ADBF-03AF-FE88-99AE-A7B4173E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70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E950-DD3D-0C60-36A3-9C054AD4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5EE1C-CCD0-2FD8-6FAC-A35732D29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C021D-A18B-E55B-DB1D-04C729B14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C3705-851B-9BBD-CCEC-8592674E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F14F0-F4C5-BBA9-65D2-7C81B2B5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25DB0-3C66-2118-6019-085A0E8D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97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12DC-1C79-A741-F0DD-D810240C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862BD-1ABC-B753-4088-4B2148555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BC295-60D8-3951-D8E0-6B422812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0ABF-5463-A341-746A-FE316248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22CEF-3E72-49DD-D52C-57FC1BED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338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BF58B-26E5-773E-8B3A-6BADA17DB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19B9A-DECA-3C75-53E8-730F59766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124D-EEBF-15A1-553D-670EFAA0C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0E4F1-4323-092C-177E-D14B083B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03959-A50F-C151-B21A-5FA0459A1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3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7D022-85E2-417F-BD0D-E287F3A1434D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F509E5-5C7B-5AC3-52B6-CAF672EB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B3C8-AD4C-F5D6-9608-27EA1C89F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9166C-B6DA-97C2-4533-AC7C05885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1044F-3BC5-4B1E-AAB2-7064927703F4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CF4EE-2578-3237-2FB4-449A4ED08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F65F4-4835-A7DA-2550-B94A4EA99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6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Spark GraphX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0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09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What is </a:t>
            </a:r>
            <a:r>
              <a:rPr lang="en-US" b="1" dirty="0" err="1"/>
              <a:t>GraphX</a:t>
            </a:r>
            <a:r>
              <a:rPr lang="en-US" b="1" dirty="0"/>
              <a:t>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5834"/>
            <a:ext cx="10515600" cy="4821129"/>
          </a:xfrm>
        </p:spPr>
        <p:txBody>
          <a:bodyPr>
            <a:normAutofit/>
          </a:bodyPr>
          <a:lstStyle/>
          <a:p>
            <a:r>
              <a:rPr lang="en-US" b="1" dirty="0" err="1"/>
              <a:t>GraphX</a:t>
            </a:r>
            <a:r>
              <a:rPr lang="en-US" dirty="0"/>
              <a:t> is a component of </a:t>
            </a:r>
            <a:r>
              <a:rPr lang="en-US" b="1" dirty="0"/>
              <a:t>Apache Spark</a:t>
            </a:r>
            <a:r>
              <a:rPr lang="en-US" dirty="0"/>
              <a:t> for </a:t>
            </a:r>
            <a:r>
              <a:rPr lang="en-US" b="1" dirty="0"/>
              <a:t>graph-parallel computations</a:t>
            </a:r>
            <a:r>
              <a:rPr lang="en-US" dirty="0"/>
              <a:t>. It lets you model and analyze relationships between entities (nodes) using </a:t>
            </a:r>
            <a:r>
              <a:rPr lang="en-US" b="1" dirty="0"/>
              <a:t>graphs</a:t>
            </a:r>
            <a:r>
              <a:rPr lang="en-US" dirty="0"/>
              <a:t>, combining the power of:</a:t>
            </a:r>
          </a:p>
          <a:p>
            <a:pPr lvl="1"/>
            <a:r>
              <a:rPr lang="en-US" b="1" dirty="0"/>
              <a:t>Graph processing</a:t>
            </a:r>
            <a:endParaRPr lang="en-US" dirty="0"/>
          </a:p>
          <a:p>
            <a:pPr lvl="1"/>
            <a:r>
              <a:rPr lang="en-US" b="1" dirty="0"/>
              <a:t>Data-parallel processing (RDDs)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Example Graph:</a:t>
            </a:r>
          </a:p>
          <a:p>
            <a:pPr marL="0" indent="0">
              <a:buNone/>
            </a:pPr>
            <a:r>
              <a:rPr lang="en-US" dirty="0"/>
              <a:t>Think of a </a:t>
            </a:r>
            <a:r>
              <a:rPr lang="en-US" b="1" dirty="0"/>
              <a:t>social network</a:t>
            </a:r>
            <a:r>
              <a:rPr lang="en-US" dirty="0"/>
              <a:t>:</a:t>
            </a:r>
          </a:p>
          <a:p>
            <a:r>
              <a:rPr lang="en-US" dirty="0"/>
              <a:t>People = </a:t>
            </a:r>
            <a:r>
              <a:rPr lang="en-US" b="1" dirty="0"/>
              <a:t>Vertices (nodes)</a:t>
            </a:r>
            <a:endParaRPr lang="en-US" dirty="0"/>
          </a:p>
          <a:p>
            <a:r>
              <a:rPr lang="en-US" dirty="0"/>
              <a:t>Friendships = </a:t>
            </a:r>
            <a:r>
              <a:rPr lang="en-US" b="1" dirty="0"/>
              <a:t>Edges (connections)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54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A5D1-5CE5-7910-5E63-958B417C5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1012"/>
            <a:ext cx="10515600" cy="55159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GraphX</a:t>
            </a:r>
            <a:r>
              <a:rPr lang="en-US" dirty="0"/>
              <a:t> is a component of </a:t>
            </a:r>
            <a:r>
              <a:rPr lang="en-US" b="1" dirty="0"/>
              <a:t>Apache Spark</a:t>
            </a:r>
            <a:r>
              <a:rPr lang="en-US" dirty="0"/>
              <a:t> that lets you work with </a:t>
            </a:r>
            <a:r>
              <a:rPr lang="en-US" b="1" dirty="0"/>
              <a:t>graphs</a:t>
            </a:r>
            <a:r>
              <a:rPr lang="en-US" dirty="0"/>
              <a:t> (data with relationships) in a distributed way.</a:t>
            </a:r>
          </a:p>
          <a:p>
            <a:pPr>
              <a:buNone/>
            </a:pPr>
            <a:r>
              <a:rPr lang="en-US" dirty="0"/>
              <a:t> A graph has:</a:t>
            </a:r>
          </a:p>
          <a:p>
            <a:r>
              <a:rPr lang="en-US" b="1" dirty="0"/>
              <a:t>Vertices (nodes)</a:t>
            </a:r>
            <a:r>
              <a:rPr lang="en-US" dirty="0"/>
              <a:t> → entities (e.g., users, web pages) </a:t>
            </a:r>
          </a:p>
          <a:p>
            <a:r>
              <a:rPr lang="en-US" b="1" dirty="0"/>
              <a:t>Edges</a:t>
            </a:r>
            <a:r>
              <a:rPr lang="en-US" dirty="0"/>
              <a:t> → relationships (e.g., friendships, links)</a:t>
            </a:r>
          </a:p>
          <a:p>
            <a:r>
              <a:rPr lang="en-US" b="1" dirty="0">
                <a:solidFill>
                  <a:srgbClr val="FF0000"/>
                </a:solidFill>
              </a:rPr>
              <a:t>Why use </a:t>
            </a:r>
            <a:r>
              <a:rPr lang="en-US" b="1" dirty="0" err="1">
                <a:solidFill>
                  <a:srgbClr val="FF0000"/>
                </a:solidFill>
              </a:rPr>
              <a:t>GraphX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  <a:p>
            <a:r>
              <a:rPr lang="en-US" dirty="0"/>
              <a:t>Handles </a:t>
            </a:r>
            <a:r>
              <a:rPr lang="en-US" b="1" dirty="0"/>
              <a:t>large-scale graph data</a:t>
            </a:r>
            <a:r>
              <a:rPr lang="en-US" dirty="0"/>
              <a:t> </a:t>
            </a:r>
          </a:p>
          <a:p>
            <a:r>
              <a:rPr lang="en-US" dirty="0"/>
              <a:t>Integrates with Spark (you can mix graph + SQL + ML) </a:t>
            </a:r>
          </a:p>
          <a:p>
            <a:r>
              <a:rPr lang="en-US" dirty="0"/>
              <a:t>Supports </a:t>
            </a:r>
            <a:r>
              <a:rPr lang="en-US" b="1" dirty="0"/>
              <a:t>parallel processing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7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</a:t>
            </a:r>
            <a:r>
              <a:rPr lang="en-US" b="1" dirty="0" err="1"/>
              <a:t>GraphX</a:t>
            </a:r>
            <a:r>
              <a:rPr lang="en-US" b="1" dirty="0"/>
              <a:t>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3200" dirty="0"/>
              <a:t>With GraphX, you can: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	</a:t>
            </a:r>
            <a:r>
              <a:rPr lang="en-US" sz="3200" dirty="0"/>
              <a:t>Analyze </a:t>
            </a:r>
            <a:r>
              <a:rPr lang="en-US" sz="3200" b="1" dirty="0"/>
              <a:t>social networks</a:t>
            </a:r>
            <a:endParaRPr lang="en-US" sz="3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	Model </a:t>
            </a:r>
            <a:r>
              <a:rPr lang="en-US" sz="3200" b="1" dirty="0"/>
              <a:t>recommendation systems</a:t>
            </a:r>
            <a:endParaRPr lang="en-US" sz="3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	Detect </a:t>
            </a:r>
            <a:r>
              <a:rPr lang="en-US" sz="3200" b="1" dirty="0"/>
              <a:t>fraud or anomalies</a:t>
            </a:r>
            <a:endParaRPr lang="en-US" sz="3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	Analyze </a:t>
            </a:r>
            <a:r>
              <a:rPr lang="en-US" sz="3200" b="1" dirty="0"/>
              <a:t>web links or traffic flow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7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GraphX Core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345" y="1580352"/>
            <a:ext cx="8965324" cy="427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1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97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Graph Algorithms in GraphX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648" y="1376855"/>
            <a:ext cx="9427780" cy="438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7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28F3-9CCE-8617-4364-DD72782E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68" y="138896"/>
            <a:ext cx="11110732" cy="54214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Core Concepts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19C0-FADF-1BAF-7938-AF85E6FC8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3068" y="775504"/>
            <a:ext cx="5776732" cy="57989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Graph</a:t>
            </a:r>
          </a:p>
          <a:p>
            <a:r>
              <a:rPr lang="en-US" dirty="0"/>
              <a:t>A graph = vertices + edges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Programs in scala</a:t>
            </a:r>
          </a:p>
          <a:p>
            <a:r>
              <a:rPr lang="en-US" dirty="0">
                <a:solidFill>
                  <a:srgbClr val="FF0000"/>
                </a:solidFill>
              </a:rPr>
              <a:t>Graph(</a:t>
            </a:r>
            <a:r>
              <a:rPr lang="en-US" dirty="0" err="1">
                <a:solidFill>
                  <a:srgbClr val="FF0000"/>
                </a:solidFill>
              </a:rPr>
              <a:t>verticesRDD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edgesRDD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b="1" dirty="0"/>
              <a:t>2. Vertices (Nodes)</a:t>
            </a:r>
          </a:p>
          <a:p>
            <a:r>
              <a:rPr lang="en-US" dirty="0"/>
              <a:t>Each vertex has:</a:t>
            </a:r>
          </a:p>
          <a:p>
            <a:r>
              <a:rPr lang="en-US" dirty="0"/>
              <a:t>ID (Long) </a:t>
            </a:r>
          </a:p>
          <a:p>
            <a:r>
              <a:rPr lang="en-US" dirty="0"/>
              <a:t>Property (data)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(1L, "Alice"),</a:t>
            </a:r>
            <a:br>
              <a:rPr lang="en-US" b="1" dirty="0"/>
            </a:br>
            <a:r>
              <a:rPr lang="en-US" b="1" dirty="0"/>
              <a:t>(2L, "Bob"),</a:t>
            </a:r>
            <a:br>
              <a:rPr lang="en-US" b="1" dirty="0"/>
            </a:br>
            <a:r>
              <a:rPr lang="en-US" b="1" dirty="0"/>
              <a:t>(3L, "Charlie")</a:t>
            </a:r>
            <a:br>
              <a:rPr lang="en-US" b="1" dirty="0"/>
            </a:br>
            <a:r>
              <a:rPr lang="en-US" b="1" dirty="0"/>
              <a:t>))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9313E-821A-423E-D08F-C2806BAD0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75504"/>
            <a:ext cx="5181600" cy="54014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3. Edges</a:t>
            </a:r>
          </a:p>
          <a:p>
            <a:pPr marL="0" indent="0">
              <a:buNone/>
            </a:pPr>
            <a:r>
              <a:rPr lang="en-US" dirty="0"/>
              <a:t>Each edge has:</a:t>
            </a:r>
          </a:p>
          <a:p>
            <a:pPr lvl="1"/>
            <a:r>
              <a:rPr lang="en-US" sz="2600" b="1" dirty="0"/>
              <a:t>Source ID </a:t>
            </a:r>
          </a:p>
          <a:p>
            <a:pPr lvl="1"/>
            <a:r>
              <a:rPr lang="en-US" sz="2600" b="1" dirty="0"/>
              <a:t>Destination ID </a:t>
            </a:r>
          </a:p>
          <a:p>
            <a:pPr lvl="1"/>
            <a:r>
              <a:rPr lang="en-US" sz="2600" b="1" dirty="0"/>
              <a:t>Property 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dirty="0" err="1"/>
              <a:t>val</a:t>
            </a:r>
            <a:r>
              <a:rPr lang="en-US" dirty="0"/>
              <a:t> edges = </a:t>
            </a:r>
            <a:r>
              <a:rPr lang="en-US" dirty="0" err="1"/>
              <a:t>sc.parallelize</a:t>
            </a:r>
            <a:r>
              <a:rPr lang="en-US" dirty="0"/>
              <a:t>(Array(</a:t>
            </a:r>
            <a:br>
              <a:rPr lang="en-US" dirty="0"/>
            </a:br>
            <a:r>
              <a:rPr lang="en-US" dirty="0"/>
              <a:t>Edge(1L, 2L, "friend"),</a:t>
            </a:r>
            <a:br>
              <a:rPr lang="en-US" dirty="0"/>
            </a:br>
            <a:r>
              <a:rPr lang="en-US" dirty="0"/>
              <a:t>Edge(2L, 3L, "follow")</a:t>
            </a:r>
            <a:br>
              <a:rPr lang="en-US" dirty="0"/>
            </a:br>
            <a:r>
              <a:rPr lang="en-US" dirty="0"/>
              <a:t>))</a:t>
            </a:r>
          </a:p>
          <a:p>
            <a:r>
              <a:rPr lang="en-US" b="1" dirty="0">
                <a:solidFill>
                  <a:srgbClr val="FF0000"/>
                </a:solidFill>
              </a:rPr>
              <a:t>4. Create Graph</a:t>
            </a:r>
          </a:p>
          <a:p>
            <a:r>
              <a:rPr lang="en-US" dirty="0" err="1"/>
              <a:t>val</a:t>
            </a:r>
            <a:r>
              <a:rPr lang="en-US" dirty="0"/>
              <a:t> graph = Graph(vertices, edges)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21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8E6F-E11B-1F66-DD33-9772E5BC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91" y="169118"/>
            <a:ext cx="10515600" cy="676597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Basic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96D1-CF14-D20D-E018-4512E67BA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172" y="995422"/>
            <a:ext cx="5915628" cy="5540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1. View Vertices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graph.vertices.collect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2. View Edges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graph.edges.collect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3. Map Operations</a:t>
            </a:r>
          </a:p>
          <a:p>
            <a:pPr>
              <a:buNone/>
            </a:pPr>
            <a:r>
              <a:rPr lang="en-US" b="1" dirty="0"/>
              <a:t>Modify vertex data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newGraph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graph.mapVertices</a:t>
            </a:r>
            <a:r>
              <a:rPr lang="en-US" dirty="0">
                <a:latin typeface="Courier New" panose="02070309020205020404" pitchFamily="49" charset="0"/>
              </a:rPr>
              <a:t>((id, name) =&gt; </a:t>
            </a:r>
            <a:r>
              <a:rPr lang="en-US" dirty="0" err="1">
                <a:latin typeface="Courier New" panose="02070309020205020404" pitchFamily="49" charset="0"/>
              </a:rPr>
              <a:t>name.toUpperCase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69819-3500-1D95-C79C-ABF1316F5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636608"/>
            <a:ext cx="5589608" cy="5540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4. Filter</a:t>
            </a:r>
          </a:p>
          <a:p>
            <a:pPr>
              <a:buNone/>
            </a:pPr>
            <a:r>
              <a:rPr lang="en-US" b="1" dirty="0"/>
              <a:t>Filter vertices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graph.vertices.filter</a:t>
            </a:r>
            <a:r>
              <a:rPr lang="en-US" dirty="0">
                <a:latin typeface="Courier New" panose="02070309020205020404" pitchFamily="49" charset="0"/>
              </a:rPr>
              <a:t> { case (id, name) =&gt; name != "Bob" }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5. Triplets</a:t>
            </a:r>
          </a:p>
          <a:p>
            <a:pPr>
              <a:buNone/>
            </a:pPr>
            <a:r>
              <a:rPr lang="en-US" dirty="0"/>
              <a:t>Triplets = (source vertex, edge, destination vertex)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graph.triplets.collect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dirty="0"/>
              <a:t>Useful for analyzing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0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748516-B3A1-BAD5-5151-E8CC1467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18" y="226229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Common Algorithms in </a:t>
            </a:r>
            <a:r>
              <a:rPr lang="en-US" b="1" dirty="0" err="1"/>
              <a:t>GraphX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41C7F-6555-2641-6DF3-045FBD060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4" y="925975"/>
            <a:ext cx="10948686" cy="525098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 err="1"/>
              <a:t>GraphX</a:t>
            </a:r>
            <a:r>
              <a:rPr lang="en-US" b="1" dirty="0"/>
              <a:t> includes built-in graph algorithms: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1. PageRank</a:t>
            </a:r>
          </a:p>
          <a:p>
            <a:pPr>
              <a:buNone/>
            </a:pPr>
            <a:r>
              <a:rPr lang="en-US" b="1" dirty="0"/>
              <a:t>Measures importance of nodes</a:t>
            </a:r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 ranks = </a:t>
            </a:r>
            <a:r>
              <a:rPr lang="en-US" b="1" dirty="0" err="1">
                <a:latin typeface="Courier New" panose="02070309020205020404" pitchFamily="49" charset="0"/>
              </a:rPr>
              <a:t>graph.pageRank</a:t>
            </a:r>
            <a:r>
              <a:rPr lang="en-US" b="1" dirty="0">
                <a:latin typeface="Courier New" panose="02070309020205020404" pitchFamily="49" charset="0"/>
              </a:rPr>
              <a:t>(0.0001).vertices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2. Connected Components</a:t>
            </a:r>
          </a:p>
          <a:p>
            <a:pPr>
              <a:buNone/>
            </a:pPr>
            <a:r>
              <a:rPr lang="en-US" b="1" dirty="0"/>
              <a:t>Find clusters in graph</a:t>
            </a:r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 cc = </a:t>
            </a:r>
            <a:r>
              <a:rPr lang="en-US" b="1" dirty="0" err="1">
                <a:latin typeface="Courier New" panose="02070309020205020404" pitchFamily="49" charset="0"/>
              </a:rPr>
              <a:t>graph.connectedComponents</a:t>
            </a:r>
            <a:r>
              <a:rPr lang="en-US" b="1" dirty="0">
                <a:latin typeface="Courier New" panose="02070309020205020404" pitchFamily="49" charset="0"/>
              </a:rPr>
              <a:t>().vertices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3. Triangle Count</a:t>
            </a:r>
          </a:p>
          <a:p>
            <a:pPr>
              <a:buNone/>
            </a:pPr>
            <a:r>
              <a:rPr lang="en-US" b="1" dirty="0"/>
              <a:t>Counts triangles in graph</a:t>
            </a:r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</a:rPr>
              <a:t>tc</a:t>
            </a:r>
            <a:r>
              <a:rPr lang="en-US" b="1" dirty="0">
                <a:latin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</a:rPr>
              <a:t>graph.triangleCount</a:t>
            </a:r>
            <a:r>
              <a:rPr lang="en-US" b="1" dirty="0">
                <a:latin typeface="Courier New" panose="02070309020205020404" pitchFamily="49" charset="0"/>
              </a:rPr>
              <a:t>().vertices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46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8C4E-A15A-0B6C-E113-5649A44A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Use Cases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9665C-EA85-E778-5576-CB3189CE5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networks (friends, followers)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Recommendation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Fraud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page ranking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1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157"/>
          </a:xfrm>
        </p:spPr>
        <p:txBody>
          <a:bodyPr>
            <a:normAutofit fontScale="90000"/>
          </a:bodyPr>
          <a:lstStyle/>
          <a:p>
            <a:pPr marL="228600" lvl="0" indent="-228600">
              <a:spcBef>
                <a:spcPts val="1000"/>
              </a:spcBef>
            </a:pP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40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Sample Use Case: Influencer Detection</a:t>
            </a: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0428"/>
            <a:ext cx="10515600" cy="491884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</a:t>
            </a:r>
            <a:r>
              <a:rPr lang="en-US" b="1" dirty="0"/>
              <a:t>Twitter-like graph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Vertices = Users</a:t>
            </a:r>
          </a:p>
          <a:p>
            <a:pPr lvl="1"/>
            <a:r>
              <a:rPr lang="en-US" dirty="0"/>
              <a:t>Edges = Follows</a:t>
            </a:r>
          </a:p>
          <a:p>
            <a:r>
              <a:rPr lang="en-US" dirty="0"/>
              <a:t>Using </a:t>
            </a:r>
            <a:r>
              <a:rPr lang="en-US" b="1" dirty="0"/>
              <a:t>PageRank</a:t>
            </a:r>
            <a:r>
              <a:rPr lang="en-US" dirty="0"/>
              <a:t>, you can:</a:t>
            </a:r>
          </a:p>
          <a:p>
            <a:pPr lvl="1"/>
            <a:r>
              <a:rPr lang="en-US" dirty="0"/>
              <a:t>Identify top influencers</a:t>
            </a:r>
          </a:p>
          <a:p>
            <a:pPr lvl="1"/>
            <a:r>
              <a:rPr lang="en-US" dirty="0"/>
              <a:t>Understand information flow</a:t>
            </a:r>
          </a:p>
          <a:p>
            <a:pPr lvl="1"/>
            <a:r>
              <a:rPr lang="en-US" dirty="0"/>
              <a:t>Optimize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4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173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GraphX vs Alternatives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998" y="1690687"/>
            <a:ext cx="10187477" cy="444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42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6AEC-D9F1-2098-2AD4-7778F6C5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740C-F43D-E5A7-1D8A-EF41CD94E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The following programs are written in Scala</a:t>
            </a:r>
          </a:p>
        </p:txBody>
      </p:sp>
    </p:spTree>
    <p:extLst>
      <p:ext uri="{BB962C8B-B14F-4D97-AF65-F5344CB8AC3E}">
        <p14:creationId xmlns:p14="http://schemas.microsoft.com/office/powerpoint/2010/main" val="1238421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1671-7899-FAFF-DA5F-39CE999E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83581"/>
            <a:ext cx="10515600" cy="560850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 1: Create Graph &amp; Display Vertices and Edges.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24115-3E9D-9ADD-42A7-BD2B55CA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10" y="844432"/>
            <a:ext cx="10885990" cy="5729988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 Problem Statement: </a:t>
            </a:r>
            <a:r>
              <a:rPr lang="en-US" dirty="0"/>
              <a:t>Create a small graph of users and their relationships, then display all vertices and edges.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Program Description</a:t>
            </a:r>
          </a:p>
          <a:p>
            <a:pPr lvl="1"/>
            <a:r>
              <a:rPr lang="en-US" sz="2600" dirty="0"/>
              <a:t>Creates 3 people: Amit, Priya, Rahul </a:t>
            </a:r>
          </a:p>
          <a:p>
            <a:pPr lvl="1"/>
            <a:r>
              <a:rPr lang="en-US" sz="2600" dirty="0"/>
              <a:t>Defines relationships (friend, colleague) </a:t>
            </a:r>
          </a:p>
          <a:p>
            <a:pPr lvl="1"/>
            <a:r>
              <a:rPr lang="en-US" sz="2600" dirty="0"/>
              <a:t>Builds graph </a:t>
            </a:r>
          </a:p>
          <a:p>
            <a:pPr lvl="1"/>
            <a:r>
              <a:rPr lang="en-US" sz="2600" dirty="0"/>
              <a:t>Prints all vertices and edges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Output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each person with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relationships between them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(1,Amit)</a:t>
            </a:r>
            <a:br>
              <a:rPr lang="en-US" dirty="0"/>
            </a:br>
            <a:r>
              <a:rPr lang="en-US" dirty="0"/>
              <a:t>(2,Priya)</a:t>
            </a:r>
            <a:br>
              <a:rPr lang="en-US" dirty="0"/>
            </a:br>
            <a:r>
              <a:rPr lang="en-US" dirty="0"/>
              <a:t>(3,Rahul)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Edge(1,2,friend)</a:t>
            </a:r>
            <a:br>
              <a:rPr lang="en-US" dirty="0"/>
            </a:br>
            <a:r>
              <a:rPr lang="en-US" dirty="0"/>
              <a:t>Edge(2,3,colleague)</a:t>
            </a:r>
          </a:p>
        </p:txBody>
      </p:sp>
    </p:spTree>
    <p:extLst>
      <p:ext uri="{BB962C8B-B14F-4D97-AF65-F5344CB8AC3E}">
        <p14:creationId xmlns:p14="http://schemas.microsoft.com/office/powerpoint/2010/main" val="331381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B43C0A-6C72-5617-6A65-62B7B24E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15" y="168355"/>
            <a:ext cx="10515600" cy="421953"/>
          </a:xfrm>
        </p:spPr>
        <p:txBody>
          <a:bodyPr>
            <a:noAutofit/>
          </a:bodyPr>
          <a:lstStyle/>
          <a:p>
            <a:r>
              <a:rPr lang="en-US" sz="2800" dirty="0"/>
              <a:t>Program 1:</a:t>
            </a:r>
            <a:r>
              <a:rPr lang="en-US" sz="2800" b="1" dirty="0">
                <a:solidFill>
                  <a:srgbClr val="FF0000"/>
                </a:solidFill>
              </a:rPr>
              <a:t> Create Graph &amp; Display Vertices and Edges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9C04-E702-AD9A-DAA9-83DC68102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615" y="798653"/>
            <a:ext cx="5737185" cy="53783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org.apache.spark.graphx</a:t>
            </a:r>
            <a:r>
              <a:rPr lang="en-US" b="1" dirty="0"/>
              <a:t>._</a:t>
            </a:r>
          </a:p>
          <a:p>
            <a:pPr marL="0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org.apache.spark.rdd.RDD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val</a:t>
            </a:r>
            <a:r>
              <a:rPr lang="en-US" b="1" dirty="0">
                <a:solidFill>
                  <a:srgbClr val="FF0000"/>
                </a:solidFill>
              </a:rPr>
              <a:t> vertices : </a:t>
            </a:r>
            <a:r>
              <a:rPr lang="en-US" b="1" dirty="0"/>
              <a:t>RDD[(</a:t>
            </a:r>
            <a:r>
              <a:rPr lang="en-US" b="1" dirty="0" err="1"/>
              <a:t>VertexId</a:t>
            </a:r>
            <a:r>
              <a:rPr lang="en-US" b="1" dirty="0"/>
              <a:t>, String)]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pPr marL="0" indent="0">
              <a:buNone/>
            </a:pPr>
            <a:r>
              <a:rPr lang="en-US" b="1" dirty="0"/>
              <a:t>  (1L, "Amit"),</a:t>
            </a:r>
          </a:p>
          <a:p>
            <a:pPr marL="0" indent="0">
              <a:buNone/>
            </a:pPr>
            <a:r>
              <a:rPr lang="en-US" b="1" dirty="0"/>
              <a:t>  (2L, "Priya"),</a:t>
            </a:r>
          </a:p>
          <a:p>
            <a:pPr marL="0" indent="0">
              <a:buNone/>
            </a:pPr>
            <a:r>
              <a:rPr lang="en-US" b="1" dirty="0"/>
              <a:t>  (3L, "Rahul")</a:t>
            </a:r>
          </a:p>
          <a:p>
            <a:pPr marL="0" indent="0">
              <a:buNone/>
            </a:pPr>
            <a:r>
              <a:rPr lang="en-US" b="1" dirty="0"/>
              <a:t>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val</a:t>
            </a:r>
            <a:r>
              <a:rPr lang="en-US" b="1" dirty="0">
                <a:solidFill>
                  <a:srgbClr val="FF0000"/>
                </a:solidFill>
              </a:rPr>
              <a:t> edges : </a:t>
            </a:r>
            <a:r>
              <a:rPr lang="en-US" b="1" dirty="0"/>
              <a:t>RDD[Edge[String]]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pPr marL="0" indent="0">
              <a:buNone/>
            </a:pPr>
            <a:r>
              <a:rPr lang="en-US" b="1" dirty="0"/>
              <a:t>  Edge(1L, 2L, "friend"),</a:t>
            </a:r>
          </a:p>
          <a:p>
            <a:pPr marL="0" indent="0">
              <a:buNone/>
            </a:pPr>
            <a:r>
              <a:rPr lang="en-US" b="1" dirty="0"/>
              <a:t>  Edge(2L, 3L, "colleague")</a:t>
            </a:r>
          </a:p>
          <a:p>
            <a:pPr marL="0" indent="0">
              <a:buNone/>
            </a:pPr>
            <a:r>
              <a:rPr lang="en-US" b="1" dirty="0"/>
              <a:t>))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560589-A523-E3AD-63AA-5EDF0439C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4972" y="1018572"/>
            <a:ext cx="4848828" cy="51583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Display vertices</a:t>
            </a:r>
          </a:p>
          <a:p>
            <a:pPr marL="0" indent="0">
              <a:buNone/>
            </a:pPr>
            <a:r>
              <a:rPr lang="en-US" b="1" dirty="0" err="1"/>
              <a:t>graph.vertices.collect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Display edges</a:t>
            </a:r>
          </a:p>
          <a:p>
            <a:pPr marL="0" indent="0">
              <a:buNone/>
            </a:pPr>
            <a:r>
              <a:rPr lang="en-US" b="1" dirty="0" err="1"/>
              <a:t>graph.edges.collect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(1,Amit)</a:t>
            </a:r>
            <a:br>
              <a:rPr lang="en-US" dirty="0"/>
            </a:br>
            <a:r>
              <a:rPr lang="en-US" dirty="0"/>
              <a:t>(2,Priya)</a:t>
            </a:r>
            <a:br>
              <a:rPr lang="en-US" dirty="0"/>
            </a:br>
            <a:r>
              <a:rPr lang="en-US" dirty="0"/>
              <a:t>(3,Rahul)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Edge(1,2,friend)</a:t>
            </a:r>
            <a:br>
              <a:rPr lang="en-US" dirty="0"/>
            </a:br>
            <a:r>
              <a:rPr lang="en-US" dirty="0"/>
              <a:t>Edge(2,3,colleague)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939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CC78C9-ECBE-A5BC-C779-16F29AFB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CA9673-92F3-7491-B2FC-D3DEE2A04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630" y="2555914"/>
            <a:ext cx="10723170" cy="351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76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CFF27B6-391D-7CD6-2140-774F8633EDB9}"/>
              </a:ext>
            </a:extLst>
          </p:cNvPr>
          <p:cNvSpPr txBox="1"/>
          <p:nvPr/>
        </p:nvSpPr>
        <p:spPr>
          <a:xfrm>
            <a:off x="289819" y="311705"/>
            <a:ext cx="10242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 Create Graph (Vertices + Edges)                            </a:t>
            </a:r>
            <a:r>
              <a:rPr lang="en-US" b="1" dirty="0"/>
              <a:t>2. Display Vertices and Edges</a:t>
            </a:r>
            <a:endParaRPr lang="en-US" dirty="0"/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5ABA29-3EE7-C872-DB64-D632F40A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11" y="667920"/>
            <a:ext cx="10508658" cy="35405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C8A06E-D112-2DFB-472D-433F40B1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29" y="4425547"/>
            <a:ext cx="10431540" cy="212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5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A50E-586E-5599-1CA7-5F9C0A62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D6B7-F589-2F05-5396-BF3FEDA8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9" y="249380"/>
            <a:ext cx="10515600" cy="572424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 2: Find Number of Connections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D8AF-9396-B841-45D6-8F732C3FA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4562" y="1064871"/>
            <a:ext cx="5545238" cy="511209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Problem Statement</a:t>
            </a:r>
          </a:p>
          <a:p>
            <a:r>
              <a:rPr lang="en-US" b="1" dirty="0"/>
              <a:t>Calculate how many connections each person has in the graph.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Program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degrees = </a:t>
            </a:r>
            <a:r>
              <a:rPr lang="en-US" b="1" dirty="0" err="1"/>
              <a:t>graph.degrees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degrees.collect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Program Description</a:t>
            </a:r>
          </a:p>
          <a:p>
            <a:r>
              <a:rPr lang="en-US" b="1" dirty="0"/>
              <a:t>Uses degrees function </a:t>
            </a:r>
          </a:p>
          <a:p>
            <a:r>
              <a:rPr lang="en-US" b="1" dirty="0"/>
              <a:t>Counts total connections per person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52435-940C-7066-7283-C319CF68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64871"/>
            <a:ext cx="5181600" cy="511209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US" dirty="0"/>
              <a:t>(1,1)</a:t>
            </a:r>
          </a:p>
          <a:p>
            <a:r>
              <a:rPr lang="en-US" dirty="0"/>
              <a:t>(2,2)</a:t>
            </a:r>
          </a:p>
          <a:p>
            <a:r>
              <a:rPr lang="en-US" dirty="0"/>
              <a:t>(3,1)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 Description</a:t>
            </a:r>
          </a:p>
          <a:p>
            <a:r>
              <a:rPr lang="en-US" dirty="0"/>
              <a:t>Amit → 1 connection </a:t>
            </a:r>
          </a:p>
          <a:p>
            <a:r>
              <a:rPr lang="en-US" dirty="0"/>
              <a:t>Priya → 2 connections </a:t>
            </a:r>
          </a:p>
          <a:p>
            <a:r>
              <a:rPr lang="en-US" dirty="0"/>
              <a:t>Rahul → 1 connection </a:t>
            </a:r>
          </a:p>
          <a:p>
            <a:r>
              <a:rPr lang="en-US" dirty="0"/>
              <a:t>Priya is most connected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89256-F383-0545-4BD8-6BD22BCC563A}"/>
              </a:ext>
            </a:extLst>
          </p:cNvPr>
          <p:cNvSpPr txBox="1"/>
          <p:nvPr/>
        </p:nvSpPr>
        <p:spPr>
          <a:xfrm>
            <a:off x="9005104" y="1280721"/>
            <a:ext cx="27123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(1,Amit)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</p:txBody>
      </p:sp>
    </p:spTree>
    <p:extLst>
      <p:ext uri="{BB962C8B-B14F-4D97-AF65-F5344CB8AC3E}">
        <p14:creationId xmlns:p14="http://schemas.microsoft.com/office/powerpoint/2010/main" val="2654400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7E700B-24B6-77E1-4BEC-3E910A4D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05" y="310041"/>
            <a:ext cx="8845626" cy="758595"/>
          </a:xfrm>
        </p:spPr>
        <p:txBody>
          <a:bodyPr>
            <a:normAutofit fontScale="90000"/>
          </a:bodyPr>
          <a:lstStyle/>
          <a:p>
            <a:br>
              <a:rPr lang="en-US" sz="2700" b="1" dirty="0">
                <a:solidFill>
                  <a:srgbClr val="FF0000"/>
                </a:solidFill>
              </a:rPr>
            </a:br>
            <a:br>
              <a:rPr lang="en-US" sz="2700" b="1" dirty="0">
                <a:solidFill>
                  <a:srgbClr val="FF0000"/>
                </a:solidFill>
              </a:rPr>
            </a:br>
            <a:r>
              <a:rPr lang="en-US" sz="2700" b="1" dirty="0">
                <a:solidFill>
                  <a:srgbClr val="FF0000"/>
                </a:solidFill>
              </a:rPr>
              <a:t>Program 2: Find Number of Connections</a:t>
            </a:r>
            <a:r>
              <a:rPr lang="en-US" sz="2700" b="1" dirty="0"/>
              <a:t>  </a:t>
            </a:r>
            <a:br>
              <a:rPr lang="en-US" sz="2700" b="1" dirty="0"/>
            </a:br>
            <a:r>
              <a:rPr lang="en-US" sz="2700" b="1" dirty="0"/>
              <a:t>Degree (Number of Connections)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4A2EC0-9A7A-13AA-BFFE-59F1304BC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608" y="1597446"/>
            <a:ext cx="11280355" cy="39220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59E501-979D-1F55-DD1A-E06B733A8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424" y="166822"/>
            <a:ext cx="2638371" cy="15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34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6574-40C3-2CDF-478E-196D293C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FEB5-58EF-2FFB-738D-ABA40C29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9" y="249380"/>
            <a:ext cx="10515600" cy="572424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 3: Find Important Person (PageRank)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ECDC-D7BD-AB08-648C-CC090D7EE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792" y="821804"/>
            <a:ext cx="5742008" cy="535515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b="1" dirty="0"/>
              <a:t>Identify the most important person using PageRank.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Program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ranks = </a:t>
            </a:r>
            <a:r>
              <a:rPr lang="en-US" b="1" dirty="0" err="1"/>
              <a:t>graph.pageRank</a:t>
            </a:r>
            <a:r>
              <a:rPr lang="en-US" b="1" dirty="0"/>
              <a:t>(0.0001).vertices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ranks.collect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Program Description</a:t>
            </a:r>
          </a:p>
          <a:p>
            <a:r>
              <a:rPr lang="en-US" b="1" dirty="0"/>
              <a:t>Applies PageRank algorithm </a:t>
            </a:r>
          </a:p>
          <a:p>
            <a:r>
              <a:rPr lang="en-US" b="1" dirty="0"/>
              <a:t>Assigns importance score to each person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Note:</a:t>
            </a:r>
            <a:r>
              <a:rPr lang="en-US" b="1" dirty="0" err="1"/>
              <a:t>The</a:t>
            </a:r>
            <a:r>
              <a:rPr lang="en-US" b="1" dirty="0"/>
              <a:t> value 0.0001 is called the tolerance (or convergence threshold).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US" dirty="0"/>
              <a:t>(1,0.82)                             </a:t>
            </a:r>
            <a:br>
              <a:rPr lang="en-US" dirty="0"/>
            </a:br>
            <a:r>
              <a:rPr lang="en-US" dirty="0"/>
              <a:t>(2,1.30)</a:t>
            </a:r>
            <a:br>
              <a:rPr lang="en-US" dirty="0"/>
            </a:br>
            <a:r>
              <a:rPr lang="en-US" dirty="0"/>
              <a:t>(3,0.88)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AE9E0-B91A-4A7A-875F-59A22A6C5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1270" y="249380"/>
            <a:ext cx="5162309" cy="592758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 Description</a:t>
            </a:r>
          </a:p>
          <a:p>
            <a:r>
              <a:rPr lang="en-US" dirty="0"/>
              <a:t>Higher value = more important </a:t>
            </a:r>
          </a:p>
          <a:p>
            <a:r>
              <a:rPr lang="en-US" dirty="0"/>
              <a:t>Priya has highest rank → most influential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What does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0.0001</a:t>
            </a:r>
            <a:r>
              <a:rPr lang="en-US" b="1" dirty="0">
                <a:solidFill>
                  <a:srgbClr val="FF0000"/>
                </a:solidFill>
              </a:rPr>
              <a:t> mean?</a:t>
            </a:r>
          </a:p>
          <a:p>
            <a:pPr>
              <a:buNone/>
            </a:pPr>
            <a:r>
              <a:rPr lang="en-US" b="1" dirty="0"/>
              <a:t>PageRank is an iterative algorithm (it runs multiple times until results stabilize).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After each iteration, </a:t>
            </a:r>
            <a:r>
              <a:rPr lang="en-US" b="1" dirty="0" err="1"/>
              <a:t>GraphX</a:t>
            </a:r>
            <a:r>
              <a:rPr lang="en-US" b="1" dirty="0"/>
              <a:t> checks:</a:t>
            </a:r>
            <a:br>
              <a:rPr lang="en-US" b="1" dirty="0"/>
            </a:br>
            <a:r>
              <a:rPr lang="en-US" b="1" dirty="0"/>
              <a:t>👉 “How much did the PageRank values change?”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If the change is less than </a:t>
            </a:r>
            <a:r>
              <a:rPr lang="en-US" b="1" dirty="0">
                <a:latin typeface="Courier New" panose="02070309020205020404" pitchFamily="49" charset="0"/>
              </a:rPr>
              <a:t>0.0001</a:t>
            </a:r>
            <a:r>
              <a:rPr lang="en-US" b="1" dirty="0"/>
              <a:t>, it stops the algorithm.</a:t>
            </a:r>
          </a:p>
          <a:p>
            <a:r>
              <a:rPr lang="en-US" b="1" dirty="0">
                <a:solidFill>
                  <a:srgbClr val="FF0000"/>
                </a:solidFill>
              </a:rPr>
              <a:t>Alternative Version (Fixed Iterations)</a:t>
            </a:r>
          </a:p>
          <a:p>
            <a:r>
              <a:rPr lang="en-US" b="1" dirty="0"/>
              <a:t>You can also run PageRank with fixed iterations:</a:t>
            </a:r>
          </a:p>
          <a:p>
            <a:r>
              <a:rPr lang="en-US" b="1" dirty="0" err="1"/>
              <a:t>graph.pageRank</a:t>
            </a:r>
            <a:r>
              <a:rPr lang="en-US" b="1" dirty="0"/>
              <a:t>(10)</a:t>
            </a:r>
          </a:p>
          <a:p>
            <a:r>
              <a:rPr lang="en-US" b="1" dirty="0"/>
              <a:t> Here, 10 = number of iterations (not tolerance)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F2256-0160-DB93-FEE5-30EF84A3F129}"/>
              </a:ext>
            </a:extLst>
          </p:cNvPr>
          <p:cNvSpPr txBox="1"/>
          <p:nvPr/>
        </p:nvSpPr>
        <p:spPr>
          <a:xfrm>
            <a:off x="2963119" y="4953964"/>
            <a:ext cx="2696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1,Amit)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</p:txBody>
      </p:sp>
    </p:spTree>
    <p:extLst>
      <p:ext uri="{BB962C8B-B14F-4D97-AF65-F5344CB8AC3E}">
        <p14:creationId xmlns:p14="http://schemas.microsoft.com/office/powerpoint/2010/main" val="2341945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8133-ED24-6A91-0F32-044639E7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0" y="155806"/>
            <a:ext cx="10515600" cy="60410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Program 3: Find Important Person (PageRank)</a:t>
            </a:r>
            <a:endParaRPr lang="en-US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80CFD4-5D89-5CBB-18BD-A7BD01538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508" y="725545"/>
            <a:ext cx="11155765" cy="2952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77C50A-7D1C-7385-6917-21F3DB5DE4E4}"/>
              </a:ext>
            </a:extLst>
          </p:cNvPr>
          <p:cNvSpPr txBox="1"/>
          <p:nvPr/>
        </p:nvSpPr>
        <p:spPr>
          <a:xfrm>
            <a:off x="9011798" y="5079030"/>
            <a:ext cx="2794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Previous Program Output</a:t>
            </a:r>
          </a:p>
          <a:p>
            <a:r>
              <a:rPr lang="en-US" b="1" dirty="0"/>
              <a:t>(1,Amit)</a:t>
            </a:r>
            <a:br>
              <a:rPr lang="en-US" b="1" dirty="0"/>
            </a:br>
            <a:r>
              <a:rPr lang="en-US" b="1" dirty="0"/>
              <a:t>(2,Priya)</a:t>
            </a:r>
            <a:br>
              <a:rPr lang="en-US" b="1" dirty="0"/>
            </a:br>
            <a:r>
              <a:rPr lang="en-US" b="1" dirty="0"/>
              <a:t>(3,Rahul)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0F6C75-8C6C-29FA-3DED-E90D4085F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05" y="4247804"/>
            <a:ext cx="8518793" cy="22141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C871DB-7683-246D-85D1-3487D0E4A7AF}"/>
              </a:ext>
            </a:extLst>
          </p:cNvPr>
          <p:cNvSpPr txBox="1"/>
          <p:nvPr/>
        </p:nvSpPr>
        <p:spPr>
          <a:xfrm>
            <a:off x="493005" y="382364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Alternative Version (Fixed Iterations)</a:t>
            </a:r>
          </a:p>
        </p:txBody>
      </p:sp>
    </p:spTree>
    <p:extLst>
      <p:ext uri="{BB962C8B-B14F-4D97-AF65-F5344CB8AC3E}">
        <p14:creationId xmlns:p14="http://schemas.microsoft.com/office/powerpoint/2010/main" val="3237469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F30B-9083-294A-4C5F-8BF160B9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25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Program 4: Find Connected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4200E-C02A-FA31-F7AA-8B58D3F3A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0618"/>
            <a:ext cx="5181600" cy="499634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Identify groups of people who are connected to each other in a network.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Program Description</a:t>
            </a:r>
          </a:p>
          <a:p>
            <a:r>
              <a:rPr lang="en-US" dirty="0"/>
              <a:t>Creates 4 people </a:t>
            </a:r>
          </a:p>
          <a:p>
            <a:r>
              <a:rPr lang="en-US" dirty="0"/>
              <a:t>Connects Amit–Priya–Rahul </a:t>
            </a:r>
          </a:p>
          <a:p>
            <a:r>
              <a:rPr lang="en-US" dirty="0"/>
              <a:t>Sneha is separate </a:t>
            </a:r>
          </a:p>
          <a:p>
            <a:r>
              <a:rPr lang="en-US" dirty="0"/>
              <a:t>Finds connected groups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8C3FD-24D0-05CD-81F8-7A2B988C2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0618"/>
            <a:ext cx="5181600" cy="499634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Output</a:t>
            </a:r>
          </a:p>
          <a:p>
            <a:r>
              <a:rPr lang="en-US" dirty="0"/>
              <a:t>(1,1)</a:t>
            </a:r>
            <a:br>
              <a:rPr lang="en-US" dirty="0"/>
            </a:br>
            <a:r>
              <a:rPr lang="en-US" dirty="0"/>
              <a:t>(2,1)</a:t>
            </a:r>
            <a:br>
              <a:rPr lang="en-US" dirty="0"/>
            </a:br>
            <a:r>
              <a:rPr lang="en-US" dirty="0"/>
              <a:t>(3,1)</a:t>
            </a:r>
            <a:br>
              <a:rPr lang="en-US" dirty="0"/>
            </a:br>
            <a:r>
              <a:rPr lang="en-US" dirty="0"/>
              <a:t>(4,4)</a:t>
            </a:r>
          </a:p>
          <a:p>
            <a:r>
              <a:rPr lang="en-US" b="1" dirty="0"/>
              <a:t>Output Description</a:t>
            </a:r>
          </a:p>
          <a:p>
            <a:r>
              <a:rPr lang="en-US" dirty="0"/>
              <a:t>(1,2,3) belong to same group → component ID = 1 </a:t>
            </a:r>
          </a:p>
          <a:p>
            <a:r>
              <a:rPr lang="en-US" dirty="0"/>
              <a:t>Sneha is separate → component ID =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46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EB629E-1CE0-4598-399B-589B8F96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0" y="144788"/>
            <a:ext cx="10515600" cy="670461"/>
          </a:xfrm>
        </p:spPr>
        <p:txBody>
          <a:bodyPr>
            <a:normAutofit/>
          </a:bodyPr>
          <a:lstStyle/>
          <a:p>
            <a:r>
              <a:rPr lang="en-US" sz="2800" b="1" dirty="0"/>
              <a:t>Program 4: Find Connected Components</a:t>
            </a:r>
            <a:endParaRPr lang="en-US" sz="2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83CE9B-3A77-8BC1-A6EC-3E2172F33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998" y="716096"/>
            <a:ext cx="10515600" cy="58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10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C4CA-92FC-17D4-1584-ECCAD97D1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64" y="156782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Program 4: Find Connected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E5629-E3D1-41BA-CED8-FF08E1D5E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764" y="833378"/>
            <a:ext cx="5714036" cy="5343586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b="1" dirty="0"/>
              <a:t>Identify groups of people who are connected to each other in a network.</a:t>
            </a:r>
          </a:p>
          <a:p>
            <a:r>
              <a:rPr lang="en-US" b="1" dirty="0">
                <a:solidFill>
                  <a:srgbClr val="FF0000"/>
                </a:solidFill>
              </a:rPr>
              <a:t>Program:</a:t>
            </a:r>
          </a:p>
          <a:p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(1L, "Amit"),</a:t>
            </a:r>
            <a:br>
              <a:rPr lang="en-US" b="1" dirty="0"/>
            </a:br>
            <a:r>
              <a:rPr lang="en-US" b="1" dirty="0"/>
              <a:t>(2L, "Priya"),</a:t>
            </a:r>
            <a:br>
              <a:rPr lang="en-US" b="1" dirty="0"/>
            </a:br>
            <a:r>
              <a:rPr lang="en-US" b="1" dirty="0"/>
              <a:t>(3L, "Rahul"),</a:t>
            </a:r>
            <a:br>
              <a:rPr lang="en-US" b="1" dirty="0"/>
            </a:br>
            <a:r>
              <a:rPr lang="en-US" b="1" dirty="0"/>
              <a:t>(4L, "Sneha")</a:t>
            </a:r>
            <a:br>
              <a:rPr lang="en-US" b="1" dirty="0"/>
            </a:br>
            <a:r>
              <a:rPr lang="en-US" b="1" dirty="0"/>
              <a:t>))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1F48-B3B1-98B9-3EAD-6F6E7C56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18572"/>
            <a:ext cx="5181600" cy="5158391"/>
          </a:xfrm>
        </p:spPr>
        <p:txBody>
          <a:bodyPr>
            <a:normAutofit fontScale="92500"/>
          </a:bodyPr>
          <a:lstStyle/>
          <a:p>
            <a:r>
              <a:rPr lang="en-US" b="1" dirty="0" err="1"/>
              <a:t>val</a:t>
            </a:r>
            <a:r>
              <a:rPr lang="en-US" b="1" dirty="0"/>
              <a:t> edges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Edge(1L, 2L, "friend"),</a:t>
            </a:r>
            <a:br>
              <a:rPr lang="en-US" b="1" dirty="0"/>
            </a:br>
            <a:r>
              <a:rPr lang="en-US" b="1" dirty="0"/>
              <a:t>Edge(2L, 3L, "friend")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// Sneha is not connected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/>
              <a:t>))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cc = </a:t>
            </a:r>
            <a:r>
              <a:rPr lang="en-US" b="1" dirty="0" err="1"/>
              <a:t>graph.connectedComponents</a:t>
            </a:r>
            <a:r>
              <a:rPr lang="en-US" b="1" dirty="0"/>
              <a:t>().vertices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cc.collect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2210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C8A0-B47F-3C30-FC55-B19EE5F5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42" y="178061"/>
            <a:ext cx="10515600" cy="50297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Program 5: Count Total Number of Edges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FD0D-98B9-C988-BC33-BDFA20A70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38" y="681037"/>
            <a:ext cx="5579962" cy="549592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Find the total number of relationships in the graph.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Program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Uses built-in </a:t>
            </a:r>
            <a:r>
              <a:rPr lang="en-US" b="1" dirty="0" err="1">
                <a:latin typeface="Courier New" panose="02070309020205020404" pitchFamily="49" charset="0"/>
              </a:rPr>
              <a:t>numEdges</a:t>
            </a:r>
            <a:r>
              <a:rPr lang="en-US" b="1" dirty="0"/>
              <a:t> property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Counts total connections in graph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1FFA2-7B11-8DEB-FDB2-7188DD3C0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8040" y="1019316"/>
            <a:ext cx="4605759" cy="515764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Output</a:t>
            </a:r>
          </a:p>
          <a:p>
            <a:r>
              <a:rPr lang="en-US" dirty="0"/>
              <a:t>Total Edges: 2</a:t>
            </a:r>
          </a:p>
          <a:p>
            <a:r>
              <a:rPr lang="en-US" b="1" dirty="0"/>
              <a:t>Output Description</a:t>
            </a:r>
          </a:p>
          <a:p>
            <a:r>
              <a:rPr lang="en-US" dirty="0"/>
              <a:t>Graph has 2 relationships </a:t>
            </a:r>
          </a:p>
          <a:p>
            <a:r>
              <a:rPr lang="en-US" dirty="0"/>
              <a:t>Simple metric to understand graph size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4D09-2F46-7F52-CA56-1E956F26C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12" y="2129685"/>
            <a:ext cx="5944115" cy="22460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F2E2CA-D062-D9BE-848F-70ACC9A4662D}"/>
              </a:ext>
            </a:extLst>
          </p:cNvPr>
          <p:cNvSpPr txBox="1"/>
          <p:nvPr/>
        </p:nvSpPr>
        <p:spPr>
          <a:xfrm>
            <a:off x="6748040" y="4070720"/>
            <a:ext cx="51744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</a:t>
            </a:r>
          </a:p>
          <a:p>
            <a:r>
              <a:rPr lang="en-US" sz="2400" b="1" dirty="0" err="1"/>
              <a:t>val</a:t>
            </a:r>
            <a:r>
              <a:rPr lang="en-US" sz="2400" b="1" dirty="0"/>
              <a:t> </a:t>
            </a:r>
            <a:r>
              <a:rPr lang="en-US" sz="2400" b="1" dirty="0" err="1"/>
              <a:t>edgeCount</a:t>
            </a:r>
            <a:r>
              <a:rPr lang="en-US" sz="2400" b="1" dirty="0"/>
              <a:t> = </a:t>
            </a:r>
            <a:r>
              <a:rPr lang="en-US" sz="2400" b="1" dirty="0" err="1"/>
              <a:t>graph.numEdges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 err="1"/>
              <a:t>println</a:t>
            </a:r>
            <a:r>
              <a:rPr lang="en-US" sz="2400" b="1" dirty="0"/>
              <a:t>("Total Edges: " + </a:t>
            </a:r>
            <a:r>
              <a:rPr lang="en-US" sz="2400" b="1" dirty="0" err="1"/>
              <a:t>edgeCount</a:t>
            </a:r>
            <a:r>
              <a:rPr lang="en-US" sz="2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1097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E328-1AB3-7702-314A-A5A1CE21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E391-9F9C-8322-545F-50772C59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42" y="178061"/>
            <a:ext cx="10515600" cy="50297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Program 6: </a:t>
            </a:r>
            <a:r>
              <a:rPr lang="en-US" dirty="0"/>
              <a:t>Find Mutual Friends (triangle count)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20A35-FC8E-EE5D-299F-E50593C65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38" y="1099595"/>
            <a:ext cx="5579962" cy="5077368"/>
          </a:xfrm>
        </p:spPr>
        <p:txBody>
          <a:bodyPr>
            <a:normAutofit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Find people who have mutual (common) friends in a social network.</a:t>
            </a:r>
          </a:p>
          <a:p>
            <a:r>
              <a:rPr lang="en-US" b="1" dirty="0"/>
              <a:t>Program Description</a:t>
            </a:r>
          </a:p>
          <a:p>
            <a:r>
              <a:rPr lang="en-US" dirty="0"/>
              <a:t>Uses </a:t>
            </a:r>
            <a:r>
              <a:rPr lang="en-US" b="1" dirty="0" err="1"/>
              <a:t>triangleCount</a:t>
            </a:r>
            <a:r>
              <a:rPr lang="en-US" b="1" dirty="0"/>
              <a:t>()</a:t>
            </a:r>
            <a:r>
              <a:rPr lang="en-US" dirty="0"/>
              <a:t> </a:t>
            </a:r>
          </a:p>
          <a:p>
            <a:r>
              <a:rPr lang="en-US" dirty="0"/>
              <a:t>Detects mutual friendships (3 people all connected)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F0483-88CD-C3A0-4EB2-C2ACCBB8C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8040" y="1284790"/>
            <a:ext cx="4605759" cy="4892173"/>
          </a:xfrm>
        </p:spPr>
        <p:txBody>
          <a:bodyPr>
            <a:normAutofit/>
          </a:bodyPr>
          <a:lstStyle/>
          <a:p>
            <a:r>
              <a:rPr lang="en-US" b="1" dirty="0"/>
              <a:t>Output</a:t>
            </a:r>
          </a:p>
          <a:p>
            <a:r>
              <a:rPr lang="en-US" dirty="0"/>
              <a:t>(1,1)</a:t>
            </a:r>
            <a:br>
              <a:rPr lang="en-US" dirty="0"/>
            </a:br>
            <a:r>
              <a:rPr lang="en-US" dirty="0"/>
              <a:t>(2,1)</a:t>
            </a:r>
            <a:br>
              <a:rPr lang="en-US" dirty="0"/>
            </a:br>
            <a:r>
              <a:rPr lang="en-US" dirty="0"/>
              <a:t>(3,1)</a:t>
            </a:r>
            <a:br>
              <a:rPr lang="en-US" dirty="0"/>
            </a:br>
            <a:r>
              <a:rPr lang="en-US" dirty="0"/>
              <a:t>(4,0)</a:t>
            </a:r>
          </a:p>
          <a:p>
            <a:r>
              <a:rPr lang="en-US" b="1" dirty="0"/>
              <a:t>Output Description</a:t>
            </a:r>
          </a:p>
          <a:p>
            <a:r>
              <a:rPr lang="en-US" dirty="0"/>
              <a:t>Amit, Priya, Rahul form a triangle → mutual friends </a:t>
            </a:r>
          </a:p>
          <a:p>
            <a:r>
              <a:rPr lang="en-US" dirty="0"/>
              <a:t>Sneha has no mutual group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57AB5-FE73-A3C4-8595-CB661EC1FBCF}"/>
              </a:ext>
            </a:extLst>
          </p:cNvPr>
          <p:cNvSpPr txBox="1"/>
          <p:nvPr/>
        </p:nvSpPr>
        <p:spPr>
          <a:xfrm>
            <a:off x="9158469" y="1284790"/>
            <a:ext cx="23699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Output(reference)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(1,Amit)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(4,Sneha)</a:t>
            </a:r>
          </a:p>
        </p:txBody>
      </p:sp>
    </p:spTree>
    <p:extLst>
      <p:ext uri="{BB962C8B-B14F-4D97-AF65-F5344CB8AC3E}">
        <p14:creationId xmlns:p14="http://schemas.microsoft.com/office/powerpoint/2010/main" val="3709786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E4CD4B-D09E-9DF2-015B-FC7A1965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72" y="110169"/>
            <a:ext cx="11045328" cy="616945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Program 6: </a:t>
            </a:r>
            <a:r>
              <a:rPr lang="en-US" dirty="0"/>
              <a:t>Find Mutual Friends (triangle count)</a:t>
            </a:r>
            <a:br>
              <a:rPr lang="en-US" b="1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E1E12D-E2D3-4A83-0347-D85883CF6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928" y="859317"/>
            <a:ext cx="10747872" cy="576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87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622E-78AB-30E1-8C80-5EBB4D62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133" y="143337"/>
            <a:ext cx="10515600" cy="537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Program 6: </a:t>
            </a:r>
            <a:r>
              <a:rPr lang="en-US" dirty="0"/>
              <a:t>Find Mutual Friends (triangle count)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8CAA-6BA5-10D7-BB61-39F783A4F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965" y="1226916"/>
            <a:ext cx="5637835" cy="495004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r>
              <a:rPr lang="en-US" b="1" dirty="0"/>
              <a:t>  (1L, "Amit"),</a:t>
            </a:r>
          </a:p>
          <a:p>
            <a:r>
              <a:rPr lang="en-US" b="1" dirty="0"/>
              <a:t>  (2L, "Priya"),</a:t>
            </a:r>
          </a:p>
          <a:p>
            <a:r>
              <a:rPr lang="en-US" b="1" dirty="0"/>
              <a:t>  (3L, "Rahul"),</a:t>
            </a:r>
          </a:p>
          <a:p>
            <a:r>
              <a:rPr lang="en-US" b="1" dirty="0"/>
              <a:t>  (4L, "Sneha")</a:t>
            </a:r>
          </a:p>
          <a:p>
            <a:r>
              <a:rPr lang="en-US" b="1" dirty="0"/>
              <a:t>))</a:t>
            </a:r>
          </a:p>
          <a:p>
            <a:endParaRPr lang="en-US" b="1" dirty="0"/>
          </a:p>
          <a:p>
            <a:r>
              <a:rPr lang="en-US" b="1" dirty="0" err="1"/>
              <a:t>val</a:t>
            </a:r>
            <a:r>
              <a:rPr lang="en-US" b="1" dirty="0"/>
              <a:t> edges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r>
              <a:rPr lang="en-US" b="1" dirty="0"/>
              <a:t>  Edge(1L, 2L, "friend"),</a:t>
            </a:r>
          </a:p>
          <a:p>
            <a:r>
              <a:rPr lang="en-US" b="1" dirty="0"/>
              <a:t>  Edge(2L, 3L, "friend"),</a:t>
            </a:r>
          </a:p>
          <a:p>
            <a:r>
              <a:rPr lang="en-US" b="1" dirty="0"/>
              <a:t>  Edge(1L, 3L, "friend"),</a:t>
            </a:r>
          </a:p>
          <a:p>
            <a:r>
              <a:rPr lang="en-US" b="1" dirty="0"/>
              <a:t>  Edge(3L, 4L, "friend")</a:t>
            </a:r>
          </a:p>
          <a:p>
            <a:r>
              <a:rPr lang="en-US" b="1" dirty="0"/>
              <a:t>))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CAA54-9987-652F-47CE-12D12D66B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26916"/>
            <a:ext cx="5181600" cy="495004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</a:p>
          <a:p>
            <a:endParaRPr lang="en-US" b="1" dirty="0"/>
          </a:p>
          <a:p>
            <a:r>
              <a:rPr lang="en-US" b="1" dirty="0"/>
              <a:t>// Find triangles (mutual friendships)</a:t>
            </a:r>
          </a:p>
          <a:p>
            <a:r>
              <a:rPr lang="en-US" b="1" dirty="0" err="1"/>
              <a:t>val</a:t>
            </a:r>
            <a:r>
              <a:rPr lang="en-US" b="1" dirty="0"/>
              <a:t> triangles = </a:t>
            </a:r>
            <a:r>
              <a:rPr lang="en-US" b="1" dirty="0" err="1"/>
              <a:t>graph.triangleCount</a:t>
            </a:r>
            <a:r>
              <a:rPr lang="en-US" b="1" dirty="0"/>
              <a:t>().vertices</a:t>
            </a:r>
          </a:p>
          <a:p>
            <a:endParaRPr lang="en-US" b="1" dirty="0"/>
          </a:p>
          <a:p>
            <a:r>
              <a:rPr lang="en-US" b="1" dirty="0" err="1"/>
              <a:t>triangles.collect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(1,1)</a:t>
            </a:r>
            <a:br>
              <a:rPr lang="en-US" dirty="0"/>
            </a:br>
            <a:r>
              <a:rPr lang="en-US" dirty="0"/>
              <a:t>(2,1)</a:t>
            </a:r>
            <a:br>
              <a:rPr lang="en-US" dirty="0"/>
            </a:br>
            <a:r>
              <a:rPr lang="en-US" dirty="0"/>
              <a:t>(3,1)</a:t>
            </a:r>
            <a:br>
              <a:rPr lang="en-US" dirty="0"/>
            </a:br>
            <a:r>
              <a:rPr lang="en-US" dirty="0"/>
              <a:t>(4,0)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EF8FB-D0AE-CCAE-C374-B046B6F02026}"/>
              </a:ext>
            </a:extLst>
          </p:cNvPr>
          <p:cNvSpPr txBox="1"/>
          <p:nvPr/>
        </p:nvSpPr>
        <p:spPr>
          <a:xfrm>
            <a:off x="8646288" y="4422637"/>
            <a:ext cx="22194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Output(reference)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(1,Amit)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(4,Sneha)</a:t>
            </a:r>
          </a:p>
        </p:txBody>
      </p:sp>
    </p:spTree>
    <p:extLst>
      <p:ext uri="{BB962C8B-B14F-4D97-AF65-F5344CB8AC3E}">
        <p14:creationId xmlns:p14="http://schemas.microsoft.com/office/powerpoint/2010/main" val="4258131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DEF4AB-9E80-BF8B-CB4A-5616926E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7: Find Influencer (Highest Degree)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66E8E-DA80-3DD3-518E-7AB265DB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91" y="1226916"/>
            <a:ext cx="5695709" cy="495004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 Problem Statement: Find the person with the highest number of connections (most popular).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Program:</a:t>
            </a:r>
          </a:p>
          <a:p>
            <a:r>
              <a:rPr lang="en-US" b="1" dirty="0" err="1"/>
              <a:t>val</a:t>
            </a:r>
            <a:r>
              <a:rPr lang="en-US" b="1" dirty="0"/>
              <a:t> degrees = </a:t>
            </a:r>
            <a:r>
              <a:rPr lang="en-US" b="1" dirty="0" err="1"/>
              <a:t>graph.degrees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maxDegree</a:t>
            </a:r>
            <a:r>
              <a:rPr lang="en-US" b="1" dirty="0"/>
              <a:t> = </a:t>
            </a:r>
            <a:r>
              <a:rPr lang="en-US" b="1" dirty="0" err="1"/>
              <a:t>degrees.reduce</a:t>
            </a:r>
            <a:r>
              <a:rPr lang="en-US" b="1" dirty="0"/>
              <a:t>((a, b) =&gt; if (a._2 &gt; b._2) a else b)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println</a:t>
            </a:r>
            <a:r>
              <a:rPr lang="en-US" b="1" dirty="0"/>
              <a:t>("Most Influential User: " + </a:t>
            </a:r>
            <a:r>
              <a:rPr lang="en-US" b="1" dirty="0" err="1"/>
              <a:t>maxDegree</a:t>
            </a:r>
            <a:r>
              <a:rPr lang="en-US" b="1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EAA35-BB5E-53A3-903C-18F1CF399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26916"/>
            <a:ext cx="5181600" cy="4950047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Program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Calculates degree of each node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Finds max value using reduce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Most Influential User: (3,3)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 Output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Rahul has 3 connections → most influential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in social network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71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C83C2C-496A-3754-0C69-A73CD36B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208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7: Find Influencer (Highest Degree)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2EFBF5-3457-0C99-28BA-60DA770C5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99114"/>
            <a:ext cx="10273708" cy="40431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357D90-D5F5-6345-A1BB-D11666286876}"/>
              </a:ext>
            </a:extLst>
          </p:cNvPr>
          <p:cNvSpPr txBox="1"/>
          <p:nvPr/>
        </p:nvSpPr>
        <p:spPr>
          <a:xfrm>
            <a:off x="6298894" y="5272213"/>
            <a:ext cx="4916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 Description</a:t>
            </a:r>
          </a:p>
          <a:p>
            <a:r>
              <a:rPr lang="en-US" b="1" dirty="0"/>
              <a:t>Rahul has 3 connections → most influential </a:t>
            </a:r>
          </a:p>
          <a:p>
            <a:r>
              <a:rPr lang="en-US" b="1" dirty="0"/>
              <a:t>Useful in social network analysis</a:t>
            </a:r>
          </a:p>
        </p:txBody>
      </p:sp>
    </p:spTree>
    <p:extLst>
      <p:ext uri="{BB962C8B-B14F-4D97-AF65-F5344CB8AC3E}">
        <p14:creationId xmlns:p14="http://schemas.microsoft.com/office/powerpoint/2010/main" val="2826989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4F79-D1CD-FF1D-C62E-C88576D9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92" y="143337"/>
            <a:ext cx="10515600" cy="537700"/>
          </a:xfrm>
        </p:spPr>
        <p:txBody>
          <a:bodyPr>
            <a:normAutofit fontScale="90000"/>
          </a:bodyPr>
          <a:lstStyle/>
          <a:p>
            <a:br>
              <a:rPr lang="en-US" sz="3100" b="1" dirty="0"/>
            </a:br>
            <a:r>
              <a:rPr lang="en-US" sz="3100" b="1" dirty="0"/>
              <a:t>Program 8: Suggest Friends (2-Hop Connections)(using triplets)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F4671-4613-81DF-898D-0FA58BF27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241" y="1122744"/>
            <a:ext cx="5672559" cy="505421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4000" b="1" dirty="0"/>
              <a:t>Problem Statement</a:t>
            </a:r>
          </a:p>
          <a:p>
            <a:pPr>
              <a:buNone/>
            </a:pPr>
            <a:r>
              <a:rPr lang="en-US" sz="4000" dirty="0"/>
              <a:t>Suggest new friends based on friends-of-friends.</a:t>
            </a:r>
          </a:p>
          <a:p>
            <a:r>
              <a:rPr lang="en-US" sz="4000" b="1" dirty="0"/>
              <a:t>Program</a:t>
            </a:r>
          </a:p>
          <a:p>
            <a:r>
              <a:rPr lang="en-US" sz="4000" b="1" dirty="0" err="1"/>
              <a:t>val</a:t>
            </a:r>
            <a:r>
              <a:rPr lang="en-US" sz="4000" b="1" dirty="0"/>
              <a:t> triplets = </a:t>
            </a:r>
            <a:r>
              <a:rPr lang="en-US" sz="4000" b="1" dirty="0" err="1"/>
              <a:t>graph.triplets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 err="1"/>
              <a:t>val</a:t>
            </a:r>
            <a:r>
              <a:rPr lang="en-US" sz="4000" b="1" dirty="0"/>
              <a:t> suggestions = </a:t>
            </a:r>
            <a:r>
              <a:rPr lang="en-US" sz="4000" b="1" dirty="0" err="1"/>
              <a:t>triplets.map</a:t>
            </a:r>
            <a:r>
              <a:rPr lang="en-US" sz="4000" b="1" dirty="0"/>
              <a:t>(t =&gt; (</a:t>
            </a:r>
            <a:r>
              <a:rPr lang="en-US" sz="4000" b="1" dirty="0" err="1"/>
              <a:t>t.srcAttr</a:t>
            </a:r>
            <a:r>
              <a:rPr lang="en-US" sz="4000" b="1" dirty="0"/>
              <a:t>, </a:t>
            </a:r>
            <a:r>
              <a:rPr lang="en-US" sz="4000" b="1" dirty="0" err="1"/>
              <a:t>t.dstAttr</a:t>
            </a:r>
            <a:r>
              <a:rPr lang="en-US" sz="4000" b="1" dirty="0"/>
              <a:t>))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 err="1"/>
              <a:t>suggestions.collect</a:t>
            </a:r>
            <a:r>
              <a:rPr lang="en-US" sz="4000" b="1" dirty="0"/>
              <a:t>().foreach(</a:t>
            </a:r>
            <a:r>
              <a:rPr lang="en-US" sz="4000" b="1" dirty="0" err="1"/>
              <a:t>println</a:t>
            </a:r>
            <a:r>
              <a:rPr lang="en-US" sz="4000" b="1" dirty="0"/>
              <a:t>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67465-9238-B460-CF5D-E04D6BB72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56527"/>
            <a:ext cx="5181600" cy="532043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Program Description</a:t>
            </a:r>
          </a:p>
          <a:p>
            <a:r>
              <a:rPr lang="en-US" b="1" dirty="0"/>
              <a:t>Uses triplets (source, edge, destination) </a:t>
            </a:r>
          </a:p>
          <a:p>
            <a:r>
              <a:rPr lang="en-US" b="1" dirty="0"/>
              <a:t>Helps analyze indirect relationships </a:t>
            </a:r>
          </a:p>
          <a:p>
            <a:r>
              <a:rPr lang="en-US" b="1" dirty="0"/>
              <a:t>Can be extended to build recommendation systems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Output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Amit,Priya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Priya,Rahul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Amit,Rahul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Rahul,Sneha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 Output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Shows direct connections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 be extended to suggest new friends (e.g., Amit ↔ Sneha via Rahul)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42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F6488A-5AF6-E06C-F830-3413D3BF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73" y="166822"/>
            <a:ext cx="10515600" cy="450123"/>
          </a:xfrm>
        </p:spPr>
        <p:txBody>
          <a:bodyPr>
            <a:noAutofit/>
          </a:bodyPr>
          <a:lstStyle/>
          <a:p>
            <a:br>
              <a:rPr lang="en-US" sz="2800" b="1" dirty="0"/>
            </a:br>
            <a:r>
              <a:rPr lang="en-US" sz="2800" b="1" dirty="0"/>
              <a:t>Program 8: Suggest Friends (2-Hop Connections)(using triplets)</a:t>
            </a:r>
            <a:br>
              <a:rPr lang="en-US" sz="2800" b="1" dirty="0"/>
            </a:br>
            <a:endParaRPr lang="en-US" sz="2800" dirty="0"/>
          </a:p>
        </p:txBody>
      </p:sp>
      <p:pic>
        <p:nvPicPr>
          <p:cNvPr id="7" name="image6.png">
            <a:extLst>
              <a:ext uri="{FF2B5EF4-FFF2-40B4-BE49-F238E27FC236}">
                <a16:creationId xmlns:a16="http://schemas.microsoft.com/office/drawing/2014/main" id="{4E8698C0-8CA3-5A48-D6D8-EA389016B16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82906" y="804231"/>
            <a:ext cx="11424492" cy="4957591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EF6B6E-295E-8F52-1E70-43F530928549}"/>
              </a:ext>
            </a:extLst>
          </p:cNvPr>
          <p:cNvSpPr txBox="1"/>
          <p:nvPr/>
        </p:nvSpPr>
        <p:spPr>
          <a:xfrm>
            <a:off x="4811617" y="5767848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Shows direct connections </a:t>
            </a:r>
          </a:p>
          <a:p>
            <a:r>
              <a:rPr lang="en-US" b="1" dirty="0"/>
              <a:t>Can be extended to suggest new friends (e.g., Amit ↔ Sneha via Rahul)</a:t>
            </a:r>
          </a:p>
        </p:txBody>
      </p:sp>
    </p:spTree>
    <p:extLst>
      <p:ext uri="{BB962C8B-B14F-4D97-AF65-F5344CB8AC3E}">
        <p14:creationId xmlns:p14="http://schemas.microsoft.com/office/powerpoint/2010/main" val="2921850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544"/>
          </a:xfrm>
        </p:spPr>
        <p:txBody>
          <a:bodyPr>
            <a:normAutofit fontScale="90000"/>
          </a:bodyPr>
          <a:lstStyle/>
          <a:p>
            <a:pPr marL="228600" lvl="0" indent="-228600">
              <a:spcBef>
                <a:spcPts val="1000"/>
              </a:spcBef>
            </a:pP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Best Practice Tips</a:t>
            </a: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triplets</a:t>
            </a:r>
            <a:r>
              <a:rPr lang="en-US" dirty="0"/>
              <a:t> to access both edge and vertex data.</a:t>
            </a:r>
          </a:p>
          <a:p>
            <a:r>
              <a:rPr lang="en-US" dirty="0"/>
              <a:t>Always </a:t>
            </a:r>
            <a:r>
              <a:rPr lang="en-US" b="1" dirty="0"/>
              <a:t>cache</a:t>
            </a:r>
            <a:r>
              <a:rPr lang="en-US" dirty="0"/>
              <a:t> your graph if reused.</a:t>
            </a:r>
          </a:p>
          <a:p>
            <a:r>
              <a:rPr lang="en-US" dirty="0"/>
              <a:t>Use </a:t>
            </a:r>
            <a:r>
              <a:rPr lang="en-US" b="1" dirty="0"/>
              <a:t>partitioning strategies</a:t>
            </a:r>
            <a:r>
              <a:rPr lang="en-US" dirty="0"/>
              <a:t> to scale.</a:t>
            </a:r>
          </a:p>
          <a:p>
            <a:r>
              <a:rPr lang="en-US" dirty="0"/>
              <a:t>Combine GraphX with </a:t>
            </a:r>
            <a:r>
              <a:rPr lang="en-US" b="1" dirty="0"/>
              <a:t>Spark SQL</a:t>
            </a:r>
            <a:r>
              <a:rPr lang="en-US" dirty="0"/>
              <a:t> and </a:t>
            </a:r>
            <a:r>
              <a:rPr lang="en-US" b="1" dirty="0" err="1"/>
              <a:t>DataFrames</a:t>
            </a:r>
            <a:r>
              <a:rPr lang="en-US" dirty="0"/>
              <a:t> for hybrid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0392"/>
          </a:xfrm>
        </p:spPr>
        <p:txBody>
          <a:bodyPr>
            <a:normAutofit fontScale="90000"/>
          </a:bodyPr>
          <a:lstStyle/>
          <a:p>
            <a:r>
              <a:rPr lang="en-US" dirty="0"/>
              <a:t>GraphX vs </a:t>
            </a:r>
            <a:r>
              <a:rPr lang="en-US" dirty="0" err="1"/>
              <a:t>GraphFrames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704" y="790354"/>
            <a:ext cx="10639096" cy="565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95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When to Use What?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9710"/>
            <a:ext cx="10515600" cy="4947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✔️ Use GraphX if:</a:t>
            </a:r>
          </a:p>
          <a:p>
            <a:r>
              <a:rPr lang="en-US" dirty="0"/>
              <a:t>You're working in </a:t>
            </a:r>
            <a:r>
              <a:rPr lang="en-US" b="1" dirty="0"/>
              <a:t>Scala</a:t>
            </a:r>
            <a:r>
              <a:rPr lang="en-US" dirty="0"/>
              <a:t> only</a:t>
            </a:r>
          </a:p>
          <a:p>
            <a:r>
              <a:rPr lang="en-US" dirty="0"/>
              <a:t>You need </a:t>
            </a:r>
            <a:r>
              <a:rPr lang="en-US" b="1" dirty="0"/>
              <a:t>lower-level control</a:t>
            </a:r>
            <a:r>
              <a:rPr lang="en-US" dirty="0"/>
              <a:t> over partitioning and RDD transformations</a:t>
            </a:r>
          </a:p>
          <a:p>
            <a:r>
              <a:rPr lang="en-US" dirty="0"/>
              <a:t>You're working on </a:t>
            </a:r>
            <a:r>
              <a:rPr lang="en-US" b="1" dirty="0"/>
              <a:t>legacy Spark 1.x/2.x projects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✔️ Use </a:t>
            </a:r>
            <a:r>
              <a:rPr lang="en-US" b="1" dirty="0" err="1">
                <a:solidFill>
                  <a:srgbClr val="FF0000"/>
                </a:solidFill>
              </a:rPr>
              <a:t>GraphFrames</a:t>
            </a:r>
            <a:r>
              <a:rPr lang="en-US" b="1" dirty="0">
                <a:solidFill>
                  <a:srgbClr val="FF0000"/>
                </a:solidFill>
              </a:rPr>
              <a:t> if:</a:t>
            </a:r>
          </a:p>
          <a:p>
            <a:r>
              <a:rPr lang="en-US" dirty="0"/>
              <a:t>You prefer working in </a:t>
            </a:r>
            <a:r>
              <a:rPr lang="en-US" b="1" dirty="0"/>
              <a:t>Python or </a:t>
            </a:r>
            <a:r>
              <a:rPr lang="en-US" b="1" dirty="0" err="1"/>
              <a:t>PySpark</a:t>
            </a:r>
            <a:endParaRPr lang="en-US" dirty="0"/>
          </a:p>
          <a:p>
            <a:r>
              <a:rPr lang="en-US" dirty="0"/>
              <a:t>You need </a:t>
            </a:r>
            <a:r>
              <a:rPr lang="en-US" b="1" dirty="0"/>
              <a:t>SQL + graph</a:t>
            </a:r>
            <a:r>
              <a:rPr lang="en-US" dirty="0"/>
              <a:t> hybrid queries</a:t>
            </a:r>
          </a:p>
          <a:p>
            <a:r>
              <a:rPr lang="en-US" dirty="0"/>
              <a:t>You want </a:t>
            </a:r>
            <a:r>
              <a:rPr lang="en-US" b="1" dirty="0"/>
              <a:t>easier syntax</a:t>
            </a:r>
            <a:r>
              <a:rPr lang="en-US" dirty="0"/>
              <a:t> and </a:t>
            </a:r>
            <a:r>
              <a:rPr lang="en-US" b="1" dirty="0"/>
              <a:t>Catalyst optimization</a:t>
            </a:r>
            <a:endParaRPr lang="en-US" dirty="0"/>
          </a:p>
          <a:p>
            <a:r>
              <a:rPr lang="en-US" dirty="0"/>
              <a:t>You're working on a </a:t>
            </a:r>
            <a:r>
              <a:rPr lang="en-US" b="1" dirty="0"/>
              <a:t>modern data pipeline</a:t>
            </a:r>
            <a:r>
              <a:rPr lang="en-US" dirty="0"/>
              <a:t> (with Spark SQL, </a:t>
            </a:r>
            <a:r>
              <a:rPr lang="en-US" dirty="0" err="1"/>
              <a:t>MLlib</a:t>
            </a:r>
            <a:r>
              <a:rPr lang="en-US" dirty="0"/>
              <a:t>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43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Final Recommendation </a:t>
            </a:r>
            <a:r>
              <a:rPr lang="en-US" sz="3100" b="1" dirty="0">
                <a:solidFill>
                  <a:srgbClr val="FF0000"/>
                </a:solidFill>
              </a:rPr>
              <a:t>(But our syllabus has GraphX)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b="1" dirty="0"/>
              <a:t>modern Spark applications</a:t>
            </a:r>
            <a:r>
              <a:rPr lang="en-US" dirty="0"/>
              <a:t>, especially those using </a:t>
            </a:r>
            <a:r>
              <a:rPr lang="en-US" b="1" dirty="0"/>
              <a:t>Python</a:t>
            </a:r>
            <a:r>
              <a:rPr lang="en-US" dirty="0"/>
              <a:t>, </a:t>
            </a:r>
            <a:r>
              <a:rPr lang="en-US" b="1" dirty="0" err="1"/>
              <a:t>DataFrames</a:t>
            </a:r>
            <a:r>
              <a:rPr lang="en-US" dirty="0"/>
              <a:t>, or </a:t>
            </a:r>
            <a:r>
              <a:rPr lang="en-US" b="1" dirty="0" err="1"/>
              <a:t>MLlib</a:t>
            </a:r>
            <a:r>
              <a:rPr lang="en-US" dirty="0"/>
              <a:t>, go with </a:t>
            </a:r>
            <a:r>
              <a:rPr lang="en-US" b="1" dirty="0" err="1"/>
              <a:t>GraphFrames</a:t>
            </a:r>
            <a:r>
              <a:rPr lang="en-US"/>
              <a:t>.</a:t>
            </a:r>
          </a:p>
          <a:p>
            <a:br>
              <a:rPr lang="en-US" dirty="0"/>
            </a:br>
            <a:r>
              <a:rPr lang="en-US" dirty="0"/>
              <a:t>If you're working in </a:t>
            </a:r>
            <a:r>
              <a:rPr lang="en-US" b="1" dirty="0"/>
              <a:t>Scala</a:t>
            </a:r>
            <a:r>
              <a:rPr lang="en-US" dirty="0"/>
              <a:t>, need fine-grained control, or maintaining an older system — stick with </a:t>
            </a:r>
            <a:r>
              <a:rPr lang="en-US" b="1" dirty="0"/>
              <a:t>GraphX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38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992"/>
          </a:xfrm>
        </p:spPr>
        <p:txBody>
          <a:bodyPr/>
          <a:lstStyle/>
          <a:p>
            <a:r>
              <a:rPr lang="en-US" b="1" dirty="0" err="1"/>
              <a:t>GraphX</a:t>
            </a:r>
            <a:r>
              <a:rPr lang="en-US" b="1" dirty="0"/>
              <a:t> and Structured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Spark's </a:t>
            </a:r>
            <a:r>
              <a:rPr lang="en-US" b="1" dirty="0" err="1"/>
              <a:t>GraphX</a:t>
            </a:r>
            <a:r>
              <a:rPr lang="en-US" dirty="0"/>
              <a:t> is a graph computation engine built on top of </a:t>
            </a:r>
            <a:r>
              <a:rPr lang="en-US" b="1" dirty="0"/>
              <a:t>RDDs (Resilient Distributed Datasets)</a:t>
            </a:r>
            <a:r>
              <a:rPr lang="en-US" dirty="0"/>
              <a:t> — which means </a:t>
            </a:r>
            <a:r>
              <a:rPr lang="en-US" b="1" dirty="0" err="1"/>
              <a:t>GraphX</a:t>
            </a:r>
            <a:r>
              <a:rPr lang="en-US" b="1" dirty="0"/>
              <a:t> is not natively structured</a:t>
            </a:r>
            <a:r>
              <a:rPr lang="en-US" dirty="0"/>
              <a:t>. </a:t>
            </a:r>
          </a:p>
          <a:p>
            <a:r>
              <a:rPr lang="en-US" dirty="0"/>
              <a:t>However, it </a:t>
            </a:r>
            <a:r>
              <a:rPr lang="en-US" b="1" dirty="0"/>
              <a:t>does support structured-like concepts</a:t>
            </a:r>
            <a:r>
              <a:rPr lang="en-US" dirty="0"/>
              <a:t> using case classes and RDD schemas.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576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What does "structured data" mean in Spark?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6"/>
            <a:ext cx="95075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data means data that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table with columns: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SQL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Something you can query with SQL or apply columnar operations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GraphX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does not use Spark SQL or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RDDs of vertices and edges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this:</a:t>
            </a:r>
          </a:p>
        </p:txBody>
      </p:sp>
    </p:spTree>
    <p:extLst>
      <p:ext uri="{BB962C8B-B14F-4D97-AF65-F5344CB8AC3E}">
        <p14:creationId xmlns:p14="http://schemas.microsoft.com/office/powerpoint/2010/main" val="1177820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GraphX</a:t>
            </a:r>
            <a:r>
              <a:rPr lang="en-US" dirty="0"/>
              <a:t> with Structured Data (in Scala)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// Import</a:t>
            </a:r>
          </a:p>
          <a:p>
            <a:r>
              <a:rPr lang="en-US" dirty="0"/>
              <a:t>import </a:t>
            </a:r>
            <a:r>
              <a:rPr lang="en-US" dirty="0" err="1"/>
              <a:t>org.apache.spark.graphx</a:t>
            </a:r>
            <a:r>
              <a:rPr lang="en-US" dirty="0"/>
              <a:t>._</a:t>
            </a:r>
          </a:p>
          <a:p>
            <a:r>
              <a:rPr lang="en-US" dirty="0"/>
              <a:t>import </a:t>
            </a:r>
            <a:r>
              <a:rPr lang="en-US" dirty="0" err="1"/>
              <a:t>org.apache.spark.rdd.RDD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Create vertices RDD with schema: (id, name)</a:t>
            </a:r>
          </a:p>
          <a:p>
            <a:r>
              <a:rPr lang="en-US" dirty="0" err="1"/>
              <a:t>val</a:t>
            </a:r>
            <a:r>
              <a:rPr lang="en-US" dirty="0"/>
              <a:t> vertices: RDD[(</a:t>
            </a:r>
            <a:r>
              <a:rPr lang="en-US" dirty="0" err="1"/>
              <a:t>VertexId</a:t>
            </a:r>
            <a:r>
              <a:rPr lang="en-US" dirty="0"/>
              <a:t>, (String, String))] = </a:t>
            </a:r>
            <a:r>
              <a:rPr lang="en-US" dirty="0" err="1"/>
              <a:t>sc.parallelize</a:t>
            </a:r>
            <a:r>
              <a:rPr lang="en-US" dirty="0"/>
              <a:t>(</a:t>
            </a:r>
            <a:r>
              <a:rPr lang="en-US" dirty="0" err="1"/>
              <a:t>Seq</a:t>
            </a:r>
            <a:r>
              <a:rPr lang="en-US" dirty="0"/>
              <a:t>(</a:t>
            </a:r>
          </a:p>
          <a:p>
            <a:r>
              <a:rPr lang="en-US" dirty="0"/>
              <a:t>  (1L, ("Alice", "Student")),</a:t>
            </a:r>
          </a:p>
          <a:p>
            <a:r>
              <a:rPr lang="en-US" dirty="0"/>
              <a:t>  (2L, ("Bob", "Engineer")),</a:t>
            </a:r>
          </a:p>
          <a:p>
            <a:r>
              <a:rPr lang="en-US" dirty="0"/>
              <a:t>  (3L, ("Charlie", "Scientist"))</a:t>
            </a:r>
          </a:p>
          <a:p>
            <a:r>
              <a:rPr lang="en-US" dirty="0"/>
              <a:t>))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2772"/>
            <a:ext cx="5181600" cy="48841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// Create edges RDD: source -&gt; destination</a:t>
            </a:r>
          </a:p>
          <a:p>
            <a:r>
              <a:rPr lang="en-US" dirty="0" err="1"/>
              <a:t>val</a:t>
            </a:r>
            <a:r>
              <a:rPr lang="en-US" dirty="0"/>
              <a:t> edges: RDD[Edge[String]] = </a:t>
            </a:r>
            <a:r>
              <a:rPr lang="en-US" dirty="0" err="1"/>
              <a:t>sc.parallelize</a:t>
            </a:r>
            <a:r>
              <a:rPr lang="en-US" dirty="0"/>
              <a:t>(</a:t>
            </a:r>
            <a:r>
              <a:rPr lang="en-US" dirty="0" err="1"/>
              <a:t>Seq</a:t>
            </a:r>
            <a:r>
              <a:rPr lang="en-US" dirty="0"/>
              <a:t>(</a:t>
            </a:r>
          </a:p>
          <a:p>
            <a:r>
              <a:rPr lang="en-US" dirty="0"/>
              <a:t>  Edge(1L, 2L, "friend"),</a:t>
            </a:r>
          </a:p>
          <a:p>
            <a:r>
              <a:rPr lang="en-US" dirty="0"/>
              <a:t>  Edge(2L, 3L, "colleague")</a:t>
            </a:r>
          </a:p>
          <a:p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// Build the graph</a:t>
            </a:r>
          </a:p>
          <a:p>
            <a:r>
              <a:rPr lang="en-US" dirty="0" err="1"/>
              <a:t>val</a:t>
            </a:r>
            <a:r>
              <a:rPr lang="en-US" dirty="0"/>
              <a:t> graph = Graph(vertices, edges)</a:t>
            </a:r>
          </a:p>
          <a:p>
            <a:endParaRPr lang="en-US" dirty="0"/>
          </a:p>
          <a:p>
            <a:r>
              <a:rPr lang="en-US" dirty="0"/>
              <a:t>// Print structure</a:t>
            </a:r>
          </a:p>
          <a:p>
            <a:r>
              <a:rPr lang="en-US" dirty="0" err="1"/>
              <a:t>graph.vertices.collect.foreach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r>
              <a:rPr lang="en-US" dirty="0" err="1"/>
              <a:t>graph.edges.collect.foreach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5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org.apache.spark.graphx</a:t>
            </a:r>
            <a:r>
              <a:rPr lang="en-US" dirty="0"/>
              <a:t>._</a:t>
            </a:r>
          </a:p>
          <a:p>
            <a:r>
              <a:rPr lang="en-US" dirty="0"/>
              <a:t>import </a:t>
            </a:r>
            <a:r>
              <a:rPr lang="en-US" dirty="0" err="1"/>
              <a:t>org.apache.spark.rdd.RDD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These imports allow us </a:t>
            </a:r>
            <a:r>
              <a:rPr lang="en-US" dirty="0" err="1"/>
              <a:t>to:Use</a:t>
            </a:r>
            <a:r>
              <a:rPr lang="en-US" dirty="0"/>
              <a:t> </a:t>
            </a:r>
            <a:r>
              <a:rPr lang="en-US" dirty="0" err="1"/>
              <a:t>GraphX</a:t>
            </a:r>
            <a:r>
              <a:rPr lang="en-US" dirty="0"/>
              <a:t> APIs like Graph, Edge, </a:t>
            </a:r>
            <a:r>
              <a:rPr lang="en-US" dirty="0" err="1"/>
              <a:t>VertexId</a:t>
            </a:r>
            <a:r>
              <a:rPr lang="en-US" dirty="0"/>
              <a:t>, </a:t>
            </a:r>
            <a:r>
              <a:rPr lang="en-US" dirty="0" err="1"/>
              <a:t>etc.Use</a:t>
            </a:r>
            <a:r>
              <a:rPr lang="en-US" dirty="0"/>
              <a:t> RDDs, which are the core of how </a:t>
            </a:r>
            <a:r>
              <a:rPr lang="en-US" dirty="0" err="1"/>
              <a:t>GraphX</a:t>
            </a:r>
            <a:r>
              <a:rPr lang="en-US" dirty="0"/>
              <a:t> stores graph data.</a:t>
            </a:r>
          </a:p>
          <a:p>
            <a:pPr marL="0" indent="0">
              <a:buNone/>
            </a:pPr>
            <a:r>
              <a:rPr lang="en-US" b="1" dirty="0"/>
              <a:t>2. Define the Vertices</a:t>
            </a:r>
          </a:p>
          <a:p>
            <a:pPr marL="0" indent="0">
              <a:buNone/>
            </a:pPr>
            <a:r>
              <a:rPr lang="en-US" dirty="0"/>
              <a:t>We are creating a list of vertices using a tuple </a:t>
            </a:r>
            <a:r>
              <a:rPr lang="en-US" dirty="0" err="1"/>
              <a:t>format:scala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(</a:t>
            </a:r>
            <a:r>
              <a:rPr lang="en-US" dirty="0" err="1"/>
              <a:t>VertexId</a:t>
            </a:r>
            <a:r>
              <a:rPr lang="en-US" dirty="0"/>
              <a:t>, (name, role))</a:t>
            </a:r>
          </a:p>
          <a:p>
            <a:pPr marL="0" indent="0">
              <a:buNone/>
            </a:pPr>
            <a:r>
              <a:rPr lang="en-US" dirty="0"/>
              <a:t>Example:1L is the unique ID for vertex </a:t>
            </a:r>
            <a:r>
              <a:rPr lang="en-US" dirty="0" err="1"/>
              <a:t>Alice"Alice</a:t>
            </a:r>
            <a:r>
              <a:rPr lang="en-US" dirty="0"/>
              <a:t>" is the </a:t>
            </a:r>
            <a:r>
              <a:rPr lang="en-US" dirty="0" err="1"/>
              <a:t>name"Student</a:t>
            </a:r>
            <a:r>
              <a:rPr lang="en-US" dirty="0"/>
              <a:t>" is her role</a:t>
            </a:r>
          </a:p>
          <a:p>
            <a:pPr marL="0" indent="0">
              <a:buNone/>
            </a:pPr>
            <a:r>
              <a:rPr lang="en-US" dirty="0"/>
              <a:t>This list is converted into an RDD using </a:t>
            </a:r>
            <a:r>
              <a:rPr lang="en-US" dirty="0" err="1"/>
              <a:t>sc.parallelize</a:t>
            </a:r>
            <a:r>
              <a:rPr lang="en-US" dirty="0"/>
              <a:t>(), which makes it distributed and usable by Spark.</a:t>
            </a:r>
          </a:p>
        </p:txBody>
      </p:sp>
    </p:spTree>
    <p:extLst>
      <p:ext uri="{BB962C8B-B14F-4D97-AF65-F5344CB8AC3E}">
        <p14:creationId xmlns:p14="http://schemas.microsoft.com/office/powerpoint/2010/main" val="226117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an Edge?</a:t>
            </a:r>
          </a:p>
          <a:p>
            <a:r>
              <a:rPr lang="en-US" dirty="0"/>
              <a:t>An edge in </a:t>
            </a:r>
            <a:r>
              <a:rPr lang="en-US" dirty="0" err="1"/>
              <a:t>GraphX</a:t>
            </a:r>
            <a:r>
              <a:rPr lang="en-US" dirty="0"/>
              <a:t> connects two vertices: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Edge(</a:t>
            </a:r>
            <a:r>
              <a:rPr lang="en-US" dirty="0" err="1">
                <a:solidFill>
                  <a:srgbClr val="FF0000"/>
                </a:solidFill>
              </a:rPr>
              <a:t>sourceVertexId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destinationVertexId</a:t>
            </a:r>
            <a:r>
              <a:rPr lang="en-US" dirty="0">
                <a:solidFill>
                  <a:srgbClr val="FF0000"/>
                </a:solidFill>
              </a:rPr>
              <a:t>, relationship)</a:t>
            </a:r>
          </a:p>
          <a:p>
            <a:r>
              <a:rPr lang="en-US" dirty="0"/>
              <a:t>Edge(1L, 2L, "friend") means Alice is a friend of Bob.</a:t>
            </a:r>
          </a:p>
          <a:p>
            <a:r>
              <a:rPr lang="en-US" dirty="0"/>
              <a:t>Edge(2L, 3L, "colleague") means Bob is a colleague of Charlie.</a:t>
            </a:r>
          </a:p>
        </p:txBody>
      </p:sp>
    </p:spTree>
    <p:extLst>
      <p:ext uri="{BB962C8B-B14F-4D97-AF65-F5344CB8AC3E}">
        <p14:creationId xmlns:p14="http://schemas.microsoft.com/office/powerpoint/2010/main" val="1215653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val</a:t>
            </a:r>
            <a:r>
              <a:rPr lang="en-US" dirty="0"/>
              <a:t> graph = Graph(vertices, edges)</a:t>
            </a:r>
          </a:p>
          <a:p>
            <a:r>
              <a:rPr lang="en-US" dirty="0"/>
              <a:t>This creates a Graph object using the vertices and edges defined </a:t>
            </a:r>
            <a:r>
              <a:rPr lang="en-US" dirty="0" err="1"/>
              <a:t>earlier.Now</a:t>
            </a:r>
            <a:r>
              <a:rPr lang="en-US" dirty="0"/>
              <a:t> graph is a directed graph, meaning:</a:t>
            </a:r>
          </a:p>
          <a:p>
            <a:r>
              <a:rPr lang="en-US" dirty="0"/>
              <a:t>From Alice → Bob (friend)</a:t>
            </a:r>
          </a:p>
          <a:p>
            <a:r>
              <a:rPr lang="en-US" dirty="0"/>
              <a:t>From Bob → Charlie (colleague)</a:t>
            </a:r>
          </a:p>
        </p:txBody>
      </p:sp>
    </p:spTree>
    <p:extLst>
      <p:ext uri="{BB962C8B-B14F-4D97-AF65-F5344CB8AC3E}">
        <p14:creationId xmlns:p14="http://schemas.microsoft.com/office/powerpoint/2010/main" val="33983710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the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graph.vertices.collect.foreach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(1,(</a:t>
            </a:r>
            <a:r>
              <a:rPr lang="en-US" dirty="0" err="1"/>
              <a:t>Alice,Student</a:t>
            </a:r>
            <a:r>
              <a:rPr lang="en-US" dirty="0"/>
              <a:t>))</a:t>
            </a:r>
          </a:p>
          <a:p>
            <a:r>
              <a:rPr lang="en-US" dirty="0"/>
              <a:t>(2,(</a:t>
            </a:r>
            <a:r>
              <a:rPr lang="en-US" dirty="0" err="1"/>
              <a:t>Bob,Engineer</a:t>
            </a:r>
            <a:r>
              <a:rPr lang="en-US" dirty="0"/>
              <a:t>))</a:t>
            </a:r>
          </a:p>
          <a:p>
            <a:r>
              <a:rPr lang="en-US" dirty="0"/>
              <a:t>(3,(</a:t>
            </a:r>
            <a:r>
              <a:rPr lang="en-US" dirty="0" err="1"/>
              <a:t>Charlie,Scientist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Print all edges: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graph.edges.collect.foreach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println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/>
              <a:t>Edge(1,2,friend)</a:t>
            </a:r>
          </a:p>
          <a:p>
            <a:r>
              <a:rPr lang="en-US" dirty="0"/>
              <a:t>Edge(2,3,colleague)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158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E6071D-D93F-52B7-2477-4DDE73EB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04" y="123538"/>
            <a:ext cx="3171940" cy="483173"/>
          </a:xfrm>
        </p:spPr>
        <p:txBody>
          <a:bodyPr>
            <a:normAutofit fontScale="90000"/>
          </a:bodyPr>
          <a:lstStyle/>
          <a:p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>
                <a:solidFill>
                  <a:srgbClr val="FF0000"/>
                </a:solidFill>
              </a:rPr>
              <a:t>11. Structured Data Graph 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FCA2F4-280D-271D-B5D7-4C0C3B761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029" y="517794"/>
            <a:ext cx="10201619" cy="609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2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2800</Words>
  <Application>Microsoft Office PowerPoint</Application>
  <PresentationFormat>Widescreen</PresentationFormat>
  <Paragraphs>384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Aptos</vt:lpstr>
      <vt:lpstr>Aptos Display</vt:lpstr>
      <vt:lpstr>Arial</vt:lpstr>
      <vt:lpstr>Arial Unicode MS</vt:lpstr>
      <vt:lpstr>Calibri</vt:lpstr>
      <vt:lpstr>Calibri Light</vt:lpstr>
      <vt:lpstr>Courier New</vt:lpstr>
      <vt:lpstr>Wingdings</vt:lpstr>
      <vt:lpstr>Office Theme</vt:lpstr>
      <vt:lpstr>1_Office Theme</vt:lpstr>
      <vt:lpstr>Spark GraphX </vt:lpstr>
      <vt:lpstr> What is GraphX? </vt:lpstr>
      <vt:lpstr>PowerPoint Presentation</vt:lpstr>
      <vt:lpstr>Why Use GraphX? </vt:lpstr>
      <vt:lpstr>GraphX Core Concepts </vt:lpstr>
      <vt:lpstr>Graph Algorithms in GraphX</vt:lpstr>
      <vt:lpstr> Core Concepts </vt:lpstr>
      <vt:lpstr> Basic Operations </vt:lpstr>
      <vt:lpstr>Common Algorithms in GraphX</vt:lpstr>
      <vt:lpstr>Example Use Cases </vt:lpstr>
      <vt:lpstr> Sample Use Case: Influencer Detection </vt:lpstr>
      <vt:lpstr>GraphX vs Alternatives</vt:lpstr>
      <vt:lpstr>PowerPoint Presentation</vt:lpstr>
      <vt:lpstr>Program 1: Create Graph &amp; Display Vertices and Edges. </vt:lpstr>
      <vt:lpstr>Program 1: Create Graph &amp; Display Vertices and Edges</vt:lpstr>
      <vt:lpstr>PowerPoint Presentation</vt:lpstr>
      <vt:lpstr>PowerPoint Presentation</vt:lpstr>
      <vt:lpstr>Program 2: Find Number of Connections </vt:lpstr>
      <vt:lpstr>  Program 2: Find Number of Connections   Degree (Number of Connections) </vt:lpstr>
      <vt:lpstr>Program 3: Find Important Person (PageRank) </vt:lpstr>
      <vt:lpstr>Program 3: Find Important Person (PageRank)</vt:lpstr>
      <vt:lpstr>Program 4: Find Connected Components</vt:lpstr>
      <vt:lpstr>Program 4: Find Connected Components</vt:lpstr>
      <vt:lpstr>Program 4: Find Connected Components</vt:lpstr>
      <vt:lpstr> Program 5: Count Total Number of Edges </vt:lpstr>
      <vt:lpstr> Program 6: Find Mutual Friends (triangle count) </vt:lpstr>
      <vt:lpstr> Program 6: Find Mutual Friends (triangle count) </vt:lpstr>
      <vt:lpstr>Program 6: Find Mutual Friends (triangle count)</vt:lpstr>
      <vt:lpstr>Program 7: Find Influencer (Highest Degree)</vt:lpstr>
      <vt:lpstr>Program 7: Find Influencer (Highest Degree)</vt:lpstr>
      <vt:lpstr> Program 8: Suggest Friends (2-Hop Connections)(using triplets) </vt:lpstr>
      <vt:lpstr> Program 8: Suggest Friends (2-Hop Connections)(using triplets) </vt:lpstr>
      <vt:lpstr> Best Practice Tips </vt:lpstr>
      <vt:lpstr>GraphX vs GraphFrames</vt:lpstr>
      <vt:lpstr>When to Use What? </vt:lpstr>
      <vt:lpstr>Final Recommendation (But our syllabus has GraphX) </vt:lpstr>
      <vt:lpstr>GraphX and Structured Data</vt:lpstr>
      <vt:lpstr>What does "structured data" mean in Spark? </vt:lpstr>
      <vt:lpstr>Example: GraphX with Structured Data (in Scala)</vt:lpstr>
      <vt:lpstr>PowerPoint Presentation</vt:lpstr>
      <vt:lpstr>PowerPoint Presentation</vt:lpstr>
      <vt:lpstr>Build the Graph</vt:lpstr>
      <vt:lpstr>Explore the Graph</vt:lpstr>
      <vt:lpstr>  11. Structured Data Graph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Dr. N.Sudhakar Yadav</cp:lastModifiedBy>
  <cp:revision>20</cp:revision>
  <dcterms:created xsi:type="dcterms:W3CDTF">2025-04-19T10:26:27Z</dcterms:created>
  <dcterms:modified xsi:type="dcterms:W3CDTF">2026-04-16T07:30:30Z</dcterms:modified>
</cp:coreProperties>
</file>